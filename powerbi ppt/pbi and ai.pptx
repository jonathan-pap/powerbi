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C39A"/>
          </a:solidFill>
          <a:ln w="12700">
            <a:solidFill>
              <a:srgbClr val="02C39A"/>
            </a:solidFill>
            <a:prstDash val="solid"/>
          </a:ln>
        </p:spPr>
      </p:sp>
      <p:sp>
        <p:nvSpPr>
          <p:cNvPr id="3" name="Shape 1"/>
          <p:cNvSpPr/>
          <p:nvPr/>
        </p:nvSpPr>
        <p:spPr>
          <a:xfrm>
            <a:off x="0" y="0"/>
            <a:ext cx="9144000" cy="73152"/>
          </a:xfrm>
          <a:prstGeom prst="rect">
            <a:avLst/>
          </a:prstGeom>
          <a:solidFill>
            <a:srgbClr val="065A82"/>
          </a:solidFill>
          <a:ln w="12700">
            <a:solidFill>
              <a:srgbClr val="065A82"/>
            </a:solidFill>
            <a:prstDash val="solid"/>
          </a:ln>
        </p:spPr>
      </p:sp>
      <p:sp>
        <p:nvSpPr>
          <p:cNvPr id="4" name="Shape 2"/>
          <p:cNvSpPr/>
          <p:nvPr/>
        </p:nvSpPr>
        <p:spPr>
          <a:xfrm>
            <a:off x="0" y="4892040"/>
            <a:ext cx="9144000" cy="251460"/>
          </a:xfrm>
          <a:prstGeom prst="rect">
            <a:avLst/>
          </a:prstGeom>
          <a:solidFill>
            <a:srgbClr val="065A82"/>
          </a:solidFill>
          <a:ln w="12700">
            <a:solidFill>
              <a:srgbClr val="065A82"/>
            </a:solidFill>
            <a:prstDash val="solid"/>
          </a:ln>
        </p:spPr>
      </p:sp>
      <p:sp>
        <p:nvSpPr>
          <p:cNvPr id="5" name="Text 3"/>
          <p:cNvSpPr/>
          <p:nvPr/>
        </p:nvSpPr>
        <p:spPr>
          <a:xfrm>
            <a:off x="594360" y="777240"/>
            <a:ext cx="7772400" cy="100584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Power BI AI Workflow</a:t>
            </a:r>
            <a:endParaRPr lang="en-US" sz="4600" dirty="0"/>
          </a:p>
        </p:txBody>
      </p:sp>
      <p:sp>
        <p:nvSpPr>
          <p:cNvPr id="6" name="Text 4"/>
          <p:cNvSpPr/>
          <p:nvPr/>
        </p:nvSpPr>
        <p:spPr>
          <a:xfrm>
            <a:off x="594360" y="1828800"/>
            <a:ext cx="7772400" cy="502920"/>
          </a:xfrm>
          <a:prstGeom prst="rect">
            <a:avLst/>
          </a:prstGeom>
          <a:noFill/>
          <a:ln/>
        </p:spPr>
        <p:txBody>
          <a:bodyPr wrap="square" lIns="0" tIns="0" rIns="0" bIns="0" rtlCol="0" anchor="ctr"/>
          <a:lstStyle/>
          <a:p>
            <a:pPr algn="l" indent="0" marL="0">
              <a:buNone/>
            </a:pPr>
            <a:r>
              <a:rPr lang="en-US" sz="2200" dirty="0">
                <a:solidFill>
                  <a:srgbClr val="02C39A"/>
                </a:solidFill>
                <a:latin typeface="Calibri" pitchFamily="34" charset="0"/>
                <a:ea typeface="Calibri" pitchFamily="34" charset="-122"/>
                <a:cs typeface="Calibri" pitchFamily="34" charset="-120"/>
              </a:rPr>
              <a:t>A 4-Week Training Programme</a:t>
            </a:r>
            <a:endParaRPr lang="en-US" sz="2200" dirty="0"/>
          </a:p>
        </p:txBody>
      </p:sp>
      <p:sp>
        <p:nvSpPr>
          <p:cNvPr id="7" name="Text 5"/>
          <p:cNvSpPr/>
          <p:nvPr/>
        </p:nvSpPr>
        <p:spPr>
          <a:xfrm>
            <a:off x="594360" y="2423160"/>
            <a:ext cx="7772400" cy="411480"/>
          </a:xfrm>
          <a:prstGeom prst="rect">
            <a:avLst/>
          </a:prstGeom>
          <a:noFill/>
          <a:ln/>
        </p:spPr>
        <p:txBody>
          <a:bodyPr wrap="square" lIns="0" tIns="0" rIns="0" bIns="0" rtlCol="0" anchor="ctr"/>
          <a:lstStyle/>
          <a:p>
            <a:pPr algn="l" indent="0" marL="0">
              <a:buNone/>
            </a:pPr>
            <a:r>
              <a:rPr lang="en-US" sz="1400" dirty="0">
                <a:solidFill>
                  <a:srgbClr val="8BAFC2"/>
                </a:solidFill>
                <a:latin typeface="Calibri" pitchFamily="34" charset="0"/>
                <a:ea typeface="Calibri" pitchFamily="34" charset="-122"/>
                <a:cs typeface="Calibri" pitchFamily="34" charset="-120"/>
              </a:rPr>
              <a:t>Copilot · MCP · Semantic Model Design · AI-Assisted Development</a:t>
            </a:r>
            <a:endParaRPr lang="en-US" sz="1400" dirty="0"/>
          </a:p>
        </p:txBody>
      </p:sp>
      <p:sp>
        <p:nvSpPr>
          <p:cNvPr id="8" name="Shape 6"/>
          <p:cNvSpPr/>
          <p:nvPr/>
        </p:nvSpPr>
        <p:spPr>
          <a:xfrm>
            <a:off x="594360" y="2944368"/>
            <a:ext cx="4572000" cy="36576"/>
          </a:xfrm>
          <a:prstGeom prst="rect">
            <a:avLst/>
          </a:prstGeom>
          <a:solidFill>
            <a:srgbClr val="1C7293"/>
          </a:solidFill>
          <a:ln w="12700">
            <a:solidFill>
              <a:srgbClr val="1C7293"/>
            </a:solidFill>
            <a:prstDash val="solid"/>
          </a:ln>
        </p:spPr>
      </p:sp>
      <p:sp>
        <p:nvSpPr>
          <p:cNvPr id="9" name="Text 7"/>
          <p:cNvSpPr/>
          <p:nvPr/>
        </p:nvSpPr>
        <p:spPr>
          <a:xfrm>
            <a:off x="594360" y="3090672"/>
            <a:ext cx="7315200" cy="777240"/>
          </a:xfrm>
          <a:prstGeom prst="rect">
            <a:avLst/>
          </a:prstGeom>
          <a:noFill/>
          <a:ln/>
        </p:spPr>
        <p:txBody>
          <a:bodyPr wrap="square" lIns="0" tIns="0" rIns="0" bIns="0" rtlCol="0" anchor="t"/>
          <a:lstStyle/>
          <a:p>
            <a:pPr algn="l" indent="0" marL="0">
              <a:buNone/>
            </a:pPr>
            <a:r>
              <a:rPr lang="en-US" sz="1300" dirty="0">
                <a:solidFill>
                  <a:srgbClr val="8BAFC2"/>
                </a:solidFill>
                <a:latin typeface="Calibri" pitchFamily="34" charset="0"/>
                <a:ea typeface="Calibri" pitchFamily="34" charset="-122"/>
                <a:cs typeface="Calibri" pitchFamily="34" charset="-120"/>
              </a:rPr>
              <a:t>Integrating AI into every layer of your Power BI workflow —</a:t>
            </a:r>
            <a:endParaRPr lang="en-US" sz="1300" dirty="0"/>
          </a:p>
          <a:p>
            <a:pPr algn="l" indent="0" marL="0">
              <a:buNone/>
            </a:pPr>
            <a:r>
              <a:rPr lang="en-US" sz="1300" dirty="0">
                <a:solidFill>
                  <a:srgbClr val="8BAFC2"/>
                </a:solidFill>
                <a:latin typeface="Calibri" pitchFamily="34" charset="0"/>
                <a:ea typeface="Calibri" pitchFamily="34" charset="-122"/>
                <a:cs typeface="Calibri" pitchFamily="34" charset="-120"/>
              </a:rPr>
              <a:t>from model design to live MCP-powered development.</a:t>
            </a:r>
            <a:endParaRPr lang="en-US" sz="1300" dirty="0"/>
          </a:p>
        </p:txBody>
      </p:sp>
      <p:sp>
        <p:nvSpPr>
          <p:cNvPr id="10" name="Text 8"/>
          <p:cNvSpPr/>
          <p:nvPr/>
        </p:nvSpPr>
        <p:spPr>
          <a:xfrm>
            <a:off x="594360" y="4892040"/>
            <a:ext cx="8229600" cy="251460"/>
          </a:xfrm>
          <a:prstGeom prst="rect">
            <a:avLst/>
          </a:prstGeom>
          <a:noFill/>
          <a:ln/>
        </p:spPr>
        <p:txBody>
          <a:bodyPr wrap="square" lIns="0" tIns="0" rIns="0" bIns="0" rtlCol="0" anchor="ctr"/>
          <a:lstStyle/>
          <a:p>
            <a:pPr algn="l" indent="0" marL="0">
              <a:buNone/>
            </a:pPr>
            <a:r>
              <a:rPr lang="en-US" sz="900" dirty="0">
                <a:solidFill>
                  <a:srgbClr val="6A8DA0"/>
                </a:solidFill>
                <a:latin typeface="Calibri" pitchFamily="34" charset="0"/>
                <a:ea typeface="Calibri" pitchFamily="34" charset="-122"/>
                <a:cs typeface="Calibri" pitchFamily="34" charset="-120"/>
              </a:rPr>
              <a:t>Power BI AI Workflow — 4-Week Training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w="12700">
            <a:solidFill>
              <a:srgbClr val="065A82"/>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Course Overview — 4 Weeks</a:t>
            </a:r>
            <a:endParaRPr lang="en-US" sz="3000" dirty="0"/>
          </a:p>
        </p:txBody>
      </p:sp>
      <p:sp>
        <p:nvSpPr>
          <p:cNvPr id="4" name="Text 2"/>
          <p:cNvSpPr/>
          <p:nvPr/>
        </p:nvSpPr>
        <p:spPr>
          <a:xfrm>
            <a:off x="457200" y="777240"/>
            <a:ext cx="8229600" cy="274320"/>
          </a:xfrm>
          <a:prstGeom prst="rect">
            <a:avLst/>
          </a:prstGeom>
          <a:noFill/>
          <a:ln/>
        </p:spPr>
        <p:txBody>
          <a:bodyPr wrap="square" lIns="0" tIns="0" rIns="0" bIns="0" rtlCol="0" anchor="ctr"/>
          <a:lstStyle/>
          <a:p>
            <a:pPr algn="l" indent="0" marL="0">
              <a:buNone/>
            </a:pPr>
            <a:r>
              <a:rPr lang="en-US" sz="1300" dirty="0">
                <a:solidFill>
                  <a:srgbClr val="6A8DA0"/>
                </a:solidFill>
                <a:latin typeface="Calibri" pitchFamily="34" charset="0"/>
                <a:ea typeface="Calibri" pitchFamily="34" charset="-122"/>
                <a:cs typeface="Calibri" pitchFamily="34" charset="-120"/>
              </a:rPr>
              <a:t>From AI concepts to live MCP-powered development</a:t>
            </a:r>
            <a:endParaRPr lang="en-US" sz="1300" dirty="0"/>
          </a:p>
        </p:txBody>
      </p:sp>
      <p:sp>
        <p:nvSpPr>
          <p:cNvPr id="5" name="Shape 3"/>
          <p:cNvSpPr/>
          <p:nvPr/>
        </p:nvSpPr>
        <p:spPr>
          <a:xfrm>
            <a:off x="320040" y="1188720"/>
            <a:ext cx="1965960" cy="3474720"/>
          </a:xfrm>
          <a:prstGeom prst="rect">
            <a:avLst/>
          </a:prstGeom>
          <a:solidFill>
            <a:srgbClr val="FFFFFF"/>
          </a:solidFill>
          <a:ln w="12700">
            <a:solidFill>
              <a:srgbClr val="C8DFE8"/>
            </a:solidFill>
            <a:prstDash val="solid"/>
          </a:ln>
          <a:effectLst>
            <a:outerShdw sx="100000" sy="100000" kx="0" ky="0" algn="bl" rotWithShape="0" blurRad="127000" dist="50800" dir="8100000">
              <a:srgbClr val="000000">
                <a:alpha val="10000"/>
              </a:srgbClr>
            </a:outerShdw>
          </a:effectLst>
        </p:spPr>
      </p:sp>
      <p:sp>
        <p:nvSpPr>
          <p:cNvPr id="6" name="Shape 4"/>
          <p:cNvSpPr/>
          <p:nvPr/>
        </p:nvSpPr>
        <p:spPr>
          <a:xfrm>
            <a:off x="320040" y="1188720"/>
            <a:ext cx="1965960" cy="1005840"/>
          </a:xfrm>
          <a:prstGeom prst="rect">
            <a:avLst/>
          </a:prstGeom>
          <a:solidFill>
            <a:srgbClr val="065A82"/>
          </a:solidFill>
          <a:ln w="12700">
            <a:solidFill>
              <a:srgbClr val="065A82"/>
            </a:solidFill>
            <a:prstDash val="solid"/>
          </a:ln>
        </p:spPr>
      </p:sp>
      <p:sp>
        <p:nvSpPr>
          <p:cNvPr id="7" name="Text 5"/>
          <p:cNvSpPr/>
          <p:nvPr/>
        </p:nvSpPr>
        <p:spPr>
          <a:xfrm>
            <a:off x="320040" y="1261872"/>
            <a:ext cx="1965960" cy="502920"/>
          </a:xfrm>
          <a:prstGeom prst="rect">
            <a:avLst/>
          </a:prstGeom>
          <a:noFill/>
          <a:ln/>
        </p:spPr>
        <p:txBody>
          <a:bodyPr wrap="square" lIns="0" tIns="0" rIns="0" bIns="0" rtlCol="0" anchor="ctr"/>
          <a:lstStyle/>
          <a:p>
            <a:pPr algn="ctr" indent="0" marL="0">
              <a:buNone/>
            </a:pPr>
            <a:r>
              <a:rPr lang="en-US" sz="4000" b="1" dirty="0">
                <a:solidFill>
                  <a:srgbClr val="FFFFFF">
                    <a:alpha val="70000"/>
                  </a:srgbClr>
                </a:solidFill>
                <a:latin typeface="Calibri" pitchFamily="34" charset="0"/>
                <a:ea typeface="Calibri" pitchFamily="34" charset="-122"/>
                <a:cs typeface="Calibri" pitchFamily="34" charset="-120"/>
              </a:rPr>
              <a:t>01</a:t>
            </a:r>
            <a:endParaRPr lang="en-US" sz="4000" dirty="0"/>
          </a:p>
        </p:txBody>
      </p:sp>
      <p:sp>
        <p:nvSpPr>
          <p:cNvPr id="8" name="Text 6"/>
          <p:cNvSpPr/>
          <p:nvPr/>
        </p:nvSpPr>
        <p:spPr>
          <a:xfrm>
            <a:off x="320040" y="1737360"/>
            <a:ext cx="1965960" cy="320040"/>
          </a:xfrm>
          <a:prstGeom prst="rect">
            <a:avLst/>
          </a:prstGeom>
          <a:noFill/>
          <a:ln/>
        </p:spPr>
        <p:txBody>
          <a:bodyPr wrap="square" lIns="0" tIns="0" rIns="0" bIns="0"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WEEK</a:t>
            </a:r>
            <a:endParaRPr lang="en-US" sz="800" dirty="0"/>
          </a:p>
        </p:txBody>
      </p:sp>
      <p:sp>
        <p:nvSpPr>
          <p:cNvPr id="9" name="Text 7"/>
          <p:cNvSpPr/>
          <p:nvPr/>
        </p:nvSpPr>
        <p:spPr>
          <a:xfrm>
            <a:off x="457200" y="2267712"/>
            <a:ext cx="1691640" cy="777240"/>
          </a:xfrm>
          <a:prstGeom prst="rect">
            <a:avLst/>
          </a:prstGeom>
          <a:noFill/>
          <a:ln/>
        </p:spPr>
        <p:txBody>
          <a:bodyPr wrap="square" lIns="0" tIns="0" rIns="0" bIns="0" rtlCol="0" anchor="t"/>
          <a:lstStyle/>
          <a:p>
            <a:pPr algn="l" indent="0" marL="0">
              <a:buNone/>
            </a:pPr>
            <a:r>
              <a:rPr lang="en-US" sz="1300" b="1" dirty="0">
                <a:solidFill>
                  <a:srgbClr val="0D2137"/>
                </a:solidFill>
                <a:latin typeface="Calibri" pitchFamily="34" charset="0"/>
                <a:ea typeface="Calibri" pitchFamily="34" charset="-122"/>
                <a:cs typeface="Calibri" pitchFamily="34" charset="-120"/>
              </a:rPr>
              <a:t>AI in the</a:t>
            </a:r>
            <a:endParaRPr lang="en-US" sz="1300" dirty="0"/>
          </a:p>
          <a:p>
            <a:pPr algn="l" indent="0" marL="0">
              <a:buNone/>
            </a:pPr>
            <a:r>
              <a:rPr lang="en-US" sz="1300" b="1" dirty="0">
                <a:solidFill>
                  <a:srgbClr val="0D2137"/>
                </a:solidFill>
                <a:latin typeface="Calibri" pitchFamily="34" charset="0"/>
                <a:ea typeface="Calibri" pitchFamily="34" charset="-122"/>
                <a:cs typeface="Calibri" pitchFamily="34" charset="-120"/>
              </a:rPr>
              <a:t>Power BI Ecosystem</a:t>
            </a:r>
            <a:endParaRPr lang="en-US" sz="1300" dirty="0"/>
          </a:p>
        </p:txBody>
      </p:sp>
      <p:sp>
        <p:nvSpPr>
          <p:cNvPr id="10" name="Text 8"/>
          <p:cNvSpPr/>
          <p:nvPr/>
        </p:nvSpPr>
        <p:spPr>
          <a:xfrm>
            <a:off x="457200" y="3127248"/>
            <a:ext cx="1691640" cy="13716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Copilot, MCP, semantic model as brain, building for AI consumers</a:t>
            </a:r>
            <a:endParaRPr lang="en-US" sz="1000" dirty="0"/>
          </a:p>
        </p:txBody>
      </p:sp>
      <p:sp>
        <p:nvSpPr>
          <p:cNvPr id="11" name="Shape 9"/>
          <p:cNvSpPr/>
          <p:nvPr/>
        </p:nvSpPr>
        <p:spPr>
          <a:xfrm>
            <a:off x="2468880" y="1188720"/>
            <a:ext cx="1965960" cy="3474720"/>
          </a:xfrm>
          <a:prstGeom prst="rect">
            <a:avLst/>
          </a:prstGeom>
          <a:solidFill>
            <a:srgbClr val="FFFFFF"/>
          </a:solidFill>
          <a:ln w="12700">
            <a:solidFill>
              <a:srgbClr val="C8DFE8"/>
            </a:solidFill>
            <a:prstDash val="solid"/>
          </a:ln>
          <a:effectLst>
            <a:outerShdw sx="100000" sy="100000" kx="0" ky="0" algn="bl" rotWithShape="0" blurRad="127000" dist="50800" dir="8100000">
              <a:srgbClr val="000000">
                <a:alpha val="10000"/>
              </a:srgbClr>
            </a:outerShdw>
          </a:effectLst>
        </p:spPr>
      </p:sp>
      <p:sp>
        <p:nvSpPr>
          <p:cNvPr id="12" name="Shape 10"/>
          <p:cNvSpPr/>
          <p:nvPr/>
        </p:nvSpPr>
        <p:spPr>
          <a:xfrm>
            <a:off x="2468880" y="1188720"/>
            <a:ext cx="1965960" cy="1005840"/>
          </a:xfrm>
          <a:prstGeom prst="rect">
            <a:avLst/>
          </a:prstGeom>
          <a:solidFill>
            <a:srgbClr val="1C7293"/>
          </a:solidFill>
          <a:ln w="12700">
            <a:solidFill>
              <a:srgbClr val="1C7293"/>
            </a:solidFill>
            <a:prstDash val="solid"/>
          </a:ln>
        </p:spPr>
      </p:sp>
      <p:sp>
        <p:nvSpPr>
          <p:cNvPr id="13" name="Text 11"/>
          <p:cNvSpPr/>
          <p:nvPr/>
        </p:nvSpPr>
        <p:spPr>
          <a:xfrm>
            <a:off x="2468880" y="1261872"/>
            <a:ext cx="1965960" cy="502920"/>
          </a:xfrm>
          <a:prstGeom prst="rect">
            <a:avLst/>
          </a:prstGeom>
          <a:noFill/>
          <a:ln/>
        </p:spPr>
        <p:txBody>
          <a:bodyPr wrap="square" lIns="0" tIns="0" rIns="0" bIns="0" rtlCol="0" anchor="ctr"/>
          <a:lstStyle/>
          <a:p>
            <a:pPr algn="ctr" indent="0" marL="0">
              <a:buNone/>
            </a:pPr>
            <a:r>
              <a:rPr lang="en-US" sz="4000" b="1" dirty="0">
                <a:solidFill>
                  <a:srgbClr val="FFFFFF">
                    <a:alpha val="70000"/>
                  </a:srgbClr>
                </a:solidFill>
                <a:latin typeface="Calibri" pitchFamily="34" charset="0"/>
                <a:ea typeface="Calibri" pitchFamily="34" charset="-122"/>
                <a:cs typeface="Calibri" pitchFamily="34" charset="-120"/>
              </a:rPr>
              <a:t>02</a:t>
            </a:r>
            <a:endParaRPr lang="en-US" sz="4000" dirty="0"/>
          </a:p>
        </p:txBody>
      </p:sp>
      <p:sp>
        <p:nvSpPr>
          <p:cNvPr id="14" name="Text 12"/>
          <p:cNvSpPr/>
          <p:nvPr/>
        </p:nvSpPr>
        <p:spPr>
          <a:xfrm>
            <a:off x="2468880" y="1737360"/>
            <a:ext cx="1965960" cy="320040"/>
          </a:xfrm>
          <a:prstGeom prst="rect">
            <a:avLst/>
          </a:prstGeom>
          <a:noFill/>
          <a:ln/>
        </p:spPr>
        <p:txBody>
          <a:bodyPr wrap="square" lIns="0" tIns="0" rIns="0" bIns="0"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WEEK</a:t>
            </a:r>
            <a:endParaRPr lang="en-US" sz="800" dirty="0"/>
          </a:p>
        </p:txBody>
      </p:sp>
      <p:sp>
        <p:nvSpPr>
          <p:cNvPr id="15" name="Text 13"/>
          <p:cNvSpPr/>
          <p:nvPr/>
        </p:nvSpPr>
        <p:spPr>
          <a:xfrm>
            <a:off x="2606040" y="2267712"/>
            <a:ext cx="1691640" cy="777240"/>
          </a:xfrm>
          <a:prstGeom prst="rect">
            <a:avLst/>
          </a:prstGeom>
          <a:noFill/>
          <a:ln/>
        </p:spPr>
        <p:txBody>
          <a:bodyPr wrap="square" lIns="0" tIns="0" rIns="0" bIns="0" rtlCol="0" anchor="t"/>
          <a:lstStyle/>
          <a:p>
            <a:pPr algn="l" indent="0" marL="0">
              <a:buNone/>
            </a:pPr>
            <a:r>
              <a:rPr lang="en-US" sz="1300" b="1" dirty="0">
                <a:solidFill>
                  <a:srgbClr val="0D2137"/>
                </a:solidFill>
                <a:latin typeface="Calibri" pitchFamily="34" charset="0"/>
                <a:ea typeface="Calibri" pitchFamily="34" charset="-122"/>
                <a:cs typeface="Calibri" pitchFamily="34" charset="-120"/>
              </a:rPr>
              <a:t>Getting Your Model</a:t>
            </a:r>
            <a:endParaRPr lang="en-US" sz="1300" dirty="0"/>
          </a:p>
          <a:p>
            <a:pPr algn="l" indent="0" marL="0">
              <a:buNone/>
            </a:pPr>
            <a:r>
              <a:rPr lang="en-US" sz="1300" b="1" dirty="0">
                <a:solidFill>
                  <a:srgbClr val="0D2137"/>
                </a:solidFill>
                <a:latin typeface="Calibri" pitchFamily="34" charset="0"/>
                <a:ea typeface="Calibri" pitchFamily="34" charset="-122"/>
                <a:cs typeface="Calibri" pitchFamily="34" charset="-120"/>
              </a:rPr>
              <a:t>Copilot-Ready</a:t>
            </a:r>
            <a:endParaRPr lang="en-US" sz="1300" dirty="0"/>
          </a:p>
        </p:txBody>
      </p:sp>
      <p:sp>
        <p:nvSpPr>
          <p:cNvPr id="16" name="Text 14"/>
          <p:cNvSpPr/>
          <p:nvPr/>
        </p:nvSpPr>
        <p:spPr>
          <a:xfrm>
            <a:off x="2606040" y="3127248"/>
            <a:ext cx="1691640" cy="13716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Descriptions, naming, measure properties, AI-readiness checklist</a:t>
            </a:r>
            <a:endParaRPr lang="en-US" sz="1000" dirty="0"/>
          </a:p>
        </p:txBody>
      </p:sp>
      <p:sp>
        <p:nvSpPr>
          <p:cNvPr id="17" name="Shape 15"/>
          <p:cNvSpPr/>
          <p:nvPr/>
        </p:nvSpPr>
        <p:spPr>
          <a:xfrm>
            <a:off x="4617720" y="1188720"/>
            <a:ext cx="1965960" cy="3474720"/>
          </a:xfrm>
          <a:prstGeom prst="rect">
            <a:avLst/>
          </a:prstGeom>
          <a:solidFill>
            <a:srgbClr val="FFFFFF"/>
          </a:solidFill>
          <a:ln w="12700">
            <a:solidFill>
              <a:srgbClr val="C8DFE8"/>
            </a:solidFill>
            <a:prstDash val="solid"/>
          </a:ln>
          <a:effectLst>
            <a:outerShdw sx="100000" sy="100000" kx="0" ky="0" algn="bl" rotWithShape="0" blurRad="127000" dist="50800" dir="8100000">
              <a:srgbClr val="000000">
                <a:alpha val="10000"/>
              </a:srgbClr>
            </a:outerShdw>
          </a:effectLst>
        </p:spPr>
      </p:sp>
      <p:sp>
        <p:nvSpPr>
          <p:cNvPr id="18" name="Shape 16"/>
          <p:cNvSpPr/>
          <p:nvPr/>
        </p:nvSpPr>
        <p:spPr>
          <a:xfrm>
            <a:off x="4617720" y="1188720"/>
            <a:ext cx="1965960" cy="1005840"/>
          </a:xfrm>
          <a:prstGeom prst="rect">
            <a:avLst/>
          </a:prstGeom>
          <a:solidFill>
            <a:srgbClr val="028090"/>
          </a:solidFill>
          <a:ln w="12700">
            <a:solidFill>
              <a:srgbClr val="028090"/>
            </a:solidFill>
            <a:prstDash val="solid"/>
          </a:ln>
        </p:spPr>
      </p:sp>
      <p:sp>
        <p:nvSpPr>
          <p:cNvPr id="19" name="Text 17"/>
          <p:cNvSpPr/>
          <p:nvPr/>
        </p:nvSpPr>
        <p:spPr>
          <a:xfrm>
            <a:off x="4617720" y="1261872"/>
            <a:ext cx="1965960" cy="502920"/>
          </a:xfrm>
          <a:prstGeom prst="rect">
            <a:avLst/>
          </a:prstGeom>
          <a:noFill/>
          <a:ln/>
        </p:spPr>
        <p:txBody>
          <a:bodyPr wrap="square" lIns="0" tIns="0" rIns="0" bIns="0" rtlCol="0" anchor="ctr"/>
          <a:lstStyle/>
          <a:p>
            <a:pPr algn="ctr" indent="0" marL="0">
              <a:buNone/>
            </a:pPr>
            <a:r>
              <a:rPr lang="en-US" sz="4000" b="1" dirty="0">
                <a:solidFill>
                  <a:srgbClr val="FFFFFF">
                    <a:alpha val="70000"/>
                  </a:srgbClr>
                </a:solidFill>
                <a:latin typeface="Calibri" pitchFamily="34" charset="0"/>
                <a:ea typeface="Calibri" pitchFamily="34" charset="-122"/>
                <a:cs typeface="Calibri" pitchFamily="34" charset="-120"/>
              </a:rPr>
              <a:t>03</a:t>
            </a:r>
            <a:endParaRPr lang="en-US" sz="4000" dirty="0"/>
          </a:p>
        </p:txBody>
      </p:sp>
      <p:sp>
        <p:nvSpPr>
          <p:cNvPr id="20" name="Text 18"/>
          <p:cNvSpPr/>
          <p:nvPr/>
        </p:nvSpPr>
        <p:spPr>
          <a:xfrm>
            <a:off x="4617720" y="1737360"/>
            <a:ext cx="1965960" cy="320040"/>
          </a:xfrm>
          <a:prstGeom prst="rect">
            <a:avLst/>
          </a:prstGeom>
          <a:noFill/>
          <a:ln/>
        </p:spPr>
        <p:txBody>
          <a:bodyPr wrap="square" lIns="0" tIns="0" rIns="0" bIns="0"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WEEK</a:t>
            </a:r>
            <a:endParaRPr lang="en-US" sz="800" dirty="0"/>
          </a:p>
        </p:txBody>
      </p:sp>
      <p:sp>
        <p:nvSpPr>
          <p:cNvPr id="21" name="Text 19"/>
          <p:cNvSpPr/>
          <p:nvPr/>
        </p:nvSpPr>
        <p:spPr>
          <a:xfrm>
            <a:off x="4754880" y="2267712"/>
            <a:ext cx="1691640" cy="777240"/>
          </a:xfrm>
          <a:prstGeom prst="rect">
            <a:avLst/>
          </a:prstGeom>
          <a:noFill/>
          <a:ln/>
        </p:spPr>
        <p:txBody>
          <a:bodyPr wrap="square" lIns="0" tIns="0" rIns="0" bIns="0" rtlCol="0" anchor="t"/>
          <a:lstStyle/>
          <a:p>
            <a:pPr algn="l" indent="0" marL="0">
              <a:buNone/>
            </a:pPr>
            <a:r>
              <a:rPr lang="en-US" sz="1300" b="1" dirty="0">
                <a:solidFill>
                  <a:srgbClr val="0D2137"/>
                </a:solidFill>
                <a:latin typeface="Calibri" pitchFamily="34" charset="0"/>
                <a:ea typeface="Calibri" pitchFamily="34" charset="-122"/>
                <a:cs typeface="Calibri" pitchFamily="34" charset="-120"/>
              </a:rPr>
              <a:t>Prompting for</a:t>
            </a:r>
            <a:endParaRPr lang="en-US" sz="1300" dirty="0"/>
          </a:p>
          <a:p>
            <a:pPr algn="l" indent="0" marL="0">
              <a:buNone/>
            </a:pPr>
            <a:r>
              <a:rPr lang="en-US" sz="1300" b="1" dirty="0">
                <a:solidFill>
                  <a:srgbClr val="0D2137"/>
                </a:solidFill>
                <a:latin typeface="Calibri" pitchFamily="34" charset="0"/>
                <a:ea typeface="Calibri" pitchFamily="34" charset="-122"/>
                <a:cs typeface="Calibri" pitchFamily="34" charset="-120"/>
              </a:rPr>
              <a:t>Power BI Workflows</a:t>
            </a:r>
            <a:endParaRPr lang="en-US" sz="1300" dirty="0"/>
          </a:p>
        </p:txBody>
      </p:sp>
      <p:sp>
        <p:nvSpPr>
          <p:cNvPr id="22" name="Text 20"/>
          <p:cNvSpPr/>
          <p:nvPr/>
        </p:nvSpPr>
        <p:spPr>
          <a:xfrm>
            <a:off x="4754880" y="3127248"/>
            <a:ext cx="1691640" cy="13716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BI prompt anatomy, DAX prompting, iterative refinement, prompt library</a:t>
            </a:r>
            <a:endParaRPr lang="en-US" sz="1000" dirty="0"/>
          </a:p>
        </p:txBody>
      </p:sp>
      <p:sp>
        <p:nvSpPr>
          <p:cNvPr id="23" name="Shape 21"/>
          <p:cNvSpPr/>
          <p:nvPr/>
        </p:nvSpPr>
        <p:spPr>
          <a:xfrm>
            <a:off x="6766560" y="1188720"/>
            <a:ext cx="1965960" cy="3474720"/>
          </a:xfrm>
          <a:prstGeom prst="rect">
            <a:avLst/>
          </a:prstGeom>
          <a:solidFill>
            <a:srgbClr val="FFFFFF"/>
          </a:solidFill>
          <a:ln w="12700">
            <a:solidFill>
              <a:srgbClr val="C8DFE8"/>
            </a:solidFill>
            <a:prstDash val="solid"/>
          </a:ln>
          <a:effectLst>
            <a:outerShdw sx="100000" sy="100000" kx="0" ky="0" algn="bl" rotWithShape="0" blurRad="127000" dist="50800" dir="8100000">
              <a:srgbClr val="000000">
                <a:alpha val="10000"/>
              </a:srgbClr>
            </a:outerShdw>
          </a:effectLst>
        </p:spPr>
      </p:sp>
      <p:sp>
        <p:nvSpPr>
          <p:cNvPr id="24" name="Shape 22"/>
          <p:cNvSpPr/>
          <p:nvPr/>
        </p:nvSpPr>
        <p:spPr>
          <a:xfrm>
            <a:off x="6766560" y="1188720"/>
            <a:ext cx="1965960" cy="1005840"/>
          </a:xfrm>
          <a:prstGeom prst="rect">
            <a:avLst/>
          </a:prstGeom>
          <a:solidFill>
            <a:srgbClr val="02C39A"/>
          </a:solidFill>
          <a:ln w="12700">
            <a:solidFill>
              <a:srgbClr val="02C39A"/>
            </a:solidFill>
            <a:prstDash val="solid"/>
          </a:ln>
        </p:spPr>
      </p:sp>
      <p:sp>
        <p:nvSpPr>
          <p:cNvPr id="25" name="Text 23"/>
          <p:cNvSpPr/>
          <p:nvPr/>
        </p:nvSpPr>
        <p:spPr>
          <a:xfrm>
            <a:off x="6766560" y="1261872"/>
            <a:ext cx="1965960" cy="502920"/>
          </a:xfrm>
          <a:prstGeom prst="rect">
            <a:avLst/>
          </a:prstGeom>
          <a:noFill/>
          <a:ln/>
        </p:spPr>
        <p:txBody>
          <a:bodyPr wrap="square" lIns="0" tIns="0" rIns="0" bIns="0" rtlCol="0" anchor="ctr"/>
          <a:lstStyle/>
          <a:p>
            <a:pPr algn="ctr" indent="0" marL="0">
              <a:buNone/>
            </a:pPr>
            <a:r>
              <a:rPr lang="en-US" sz="4000" b="1" dirty="0">
                <a:solidFill>
                  <a:srgbClr val="FFFFFF">
                    <a:alpha val="70000"/>
                  </a:srgbClr>
                </a:solidFill>
                <a:latin typeface="Calibri" pitchFamily="34" charset="0"/>
                <a:ea typeface="Calibri" pitchFamily="34" charset="-122"/>
                <a:cs typeface="Calibri" pitchFamily="34" charset="-120"/>
              </a:rPr>
              <a:t>04</a:t>
            </a:r>
            <a:endParaRPr lang="en-US" sz="4000" dirty="0"/>
          </a:p>
        </p:txBody>
      </p:sp>
      <p:sp>
        <p:nvSpPr>
          <p:cNvPr id="26" name="Text 24"/>
          <p:cNvSpPr/>
          <p:nvPr/>
        </p:nvSpPr>
        <p:spPr>
          <a:xfrm>
            <a:off x="6766560" y="1737360"/>
            <a:ext cx="1965960" cy="320040"/>
          </a:xfrm>
          <a:prstGeom prst="rect">
            <a:avLst/>
          </a:prstGeom>
          <a:noFill/>
          <a:ln/>
        </p:spPr>
        <p:txBody>
          <a:bodyPr wrap="square" lIns="0" tIns="0" rIns="0" bIns="0"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WEEK</a:t>
            </a:r>
            <a:endParaRPr lang="en-US" sz="800" dirty="0"/>
          </a:p>
        </p:txBody>
      </p:sp>
      <p:sp>
        <p:nvSpPr>
          <p:cNvPr id="27" name="Text 25"/>
          <p:cNvSpPr/>
          <p:nvPr/>
        </p:nvSpPr>
        <p:spPr>
          <a:xfrm>
            <a:off x="6903720" y="2267712"/>
            <a:ext cx="1691640" cy="777240"/>
          </a:xfrm>
          <a:prstGeom prst="rect">
            <a:avLst/>
          </a:prstGeom>
          <a:noFill/>
          <a:ln/>
        </p:spPr>
        <p:txBody>
          <a:bodyPr wrap="square" lIns="0" tIns="0" rIns="0" bIns="0" rtlCol="0" anchor="t"/>
          <a:lstStyle/>
          <a:p>
            <a:pPr algn="l" indent="0" marL="0">
              <a:buNone/>
            </a:pPr>
            <a:r>
              <a:rPr lang="en-US" sz="1300" b="1" dirty="0">
                <a:solidFill>
                  <a:srgbClr val="0D2137"/>
                </a:solidFill>
                <a:latin typeface="Calibri" pitchFamily="34" charset="0"/>
                <a:ea typeface="Calibri" pitchFamily="34" charset="-122"/>
                <a:cs typeface="Calibri" pitchFamily="34" charset="-120"/>
              </a:rPr>
              <a:t>Developing with</a:t>
            </a:r>
            <a:endParaRPr lang="en-US" sz="1300" dirty="0"/>
          </a:p>
          <a:p>
            <a:pPr algn="l" indent="0" marL="0">
              <a:buNone/>
            </a:pPr>
            <a:r>
              <a:rPr lang="en-US" sz="1300" b="1" dirty="0">
                <a:solidFill>
                  <a:srgbClr val="0D2137"/>
                </a:solidFill>
                <a:latin typeface="Calibri" pitchFamily="34" charset="0"/>
                <a:ea typeface="Calibri" pitchFamily="34" charset="-122"/>
                <a:cs typeface="Calibri" pitchFamily="34" charset="-120"/>
              </a:rPr>
              <a:t>MCP Layers</a:t>
            </a:r>
            <a:endParaRPr lang="en-US" sz="1300" dirty="0"/>
          </a:p>
        </p:txBody>
      </p:sp>
      <p:sp>
        <p:nvSpPr>
          <p:cNvPr id="28" name="Text 26"/>
          <p:cNvSpPr/>
          <p:nvPr/>
        </p:nvSpPr>
        <p:spPr>
          <a:xfrm>
            <a:off x="6903720" y="3127248"/>
            <a:ext cx="1691640" cy="13716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Model MCP, Report MCP, chaining layers, picking the right tool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65A82"/>
          </a:solidFill>
          <a:ln w="12700">
            <a:solidFill>
              <a:srgbClr val="065A82"/>
            </a:solidFill>
            <a:prstDash val="solid"/>
          </a:ln>
        </p:spPr>
      </p:sp>
      <p:sp>
        <p:nvSpPr>
          <p:cNvPr id="3" name="Shape 1"/>
          <p:cNvSpPr/>
          <p:nvPr/>
        </p:nvSpPr>
        <p:spPr>
          <a:xfrm>
            <a:off x="2926080" y="0"/>
            <a:ext cx="274320" cy="5143500"/>
          </a:xfrm>
          <a:prstGeom prst="rect">
            <a:avLst/>
          </a:prstGeom>
          <a:solidFill>
            <a:srgbClr val="065A82"/>
          </a:solidFill>
          <a:ln w="12700">
            <a:solidFill>
              <a:srgbClr val="065A82"/>
            </a:solidFill>
            <a:prstDash val="solid"/>
          </a:ln>
        </p:spPr>
      </p:sp>
      <p:sp>
        <p:nvSpPr>
          <p:cNvPr id="4" name="Text 2"/>
          <p:cNvSpPr/>
          <p:nvPr/>
        </p:nvSpPr>
        <p:spPr>
          <a:xfrm>
            <a:off x="274320" y="914400"/>
            <a:ext cx="2377440" cy="457200"/>
          </a:xfrm>
          <a:prstGeom prst="rect">
            <a:avLst/>
          </a:prstGeom>
          <a:noFill/>
          <a:ln/>
        </p:spPr>
        <p:txBody>
          <a:bodyPr wrap="square" lIns="0" tIns="0" rIns="0" bIns="0" rtlCol="0" anchor="ctr"/>
          <a:lstStyle/>
          <a:p>
            <a:pPr algn="ctr" indent="0" marL="0">
              <a:buNone/>
            </a:pPr>
            <a:r>
              <a:rPr lang="en-US" sz="1100" b="1" spc="500" kern="0" dirty="0">
                <a:solidFill>
                  <a:srgbClr val="FFFFFF"/>
                </a:solidFill>
                <a:latin typeface="Calibri" pitchFamily="34" charset="0"/>
                <a:ea typeface="Calibri" pitchFamily="34" charset="-122"/>
                <a:cs typeface="Calibri" pitchFamily="34" charset="-120"/>
              </a:rPr>
              <a:t>WEEK</a:t>
            </a:r>
            <a:endParaRPr lang="en-US" sz="1100" dirty="0"/>
          </a:p>
        </p:txBody>
      </p:sp>
      <p:sp>
        <p:nvSpPr>
          <p:cNvPr id="5" name="Text 3"/>
          <p:cNvSpPr/>
          <p:nvPr/>
        </p:nvSpPr>
        <p:spPr>
          <a:xfrm>
            <a:off x="274320" y="1280160"/>
            <a:ext cx="2377440" cy="1463040"/>
          </a:xfrm>
          <a:prstGeom prst="rect">
            <a:avLst/>
          </a:prstGeom>
          <a:noFill/>
          <a:ln/>
        </p:spPr>
        <p:txBody>
          <a:bodyPr wrap="square" lIns="0" tIns="0" rIns="0" bIns="0" rtlCol="0" anchor="ctr"/>
          <a:lstStyle/>
          <a:p>
            <a:pPr algn="ctr" indent="0" marL="0">
              <a:buNone/>
            </a:pPr>
            <a:r>
              <a:rPr lang="en-US" sz="9600" b="1" dirty="0">
                <a:solidFill>
                  <a:srgbClr val="FFFFFF"/>
                </a:solidFill>
                <a:latin typeface="Calibri" pitchFamily="34" charset="0"/>
                <a:ea typeface="Calibri" pitchFamily="34" charset="-122"/>
                <a:cs typeface="Calibri" pitchFamily="34" charset="-120"/>
              </a:rPr>
              <a:t>1</a:t>
            </a:r>
            <a:endParaRPr lang="en-US" sz="9600" dirty="0"/>
          </a:p>
        </p:txBody>
      </p:sp>
      <p:sp>
        <p:nvSpPr>
          <p:cNvPr id="6" name="Text 4"/>
          <p:cNvSpPr/>
          <p:nvPr/>
        </p:nvSpPr>
        <p:spPr>
          <a:xfrm>
            <a:off x="3383280" y="1280160"/>
            <a:ext cx="539496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AI in the Power BI Ecosystem</a:t>
            </a:r>
            <a:endParaRPr lang="en-US" sz="2800" dirty="0"/>
          </a:p>
        </p:txBody>
      </p:sp>
      <p:sp>
        <p:nvSpPr>
          <p:cNvPr id="7" name="Text 5"/>
          <p:cNvSpPr/>
          <p:nvPr/>
        </p:nvSpPr>
        <p:spPr>
          <a:xfrm>
            <a:off x="3383280" y="2286000"/>
            <a:ext cx="5394960" cy="548640"/>
          </a:xfrm>
          <a:prstGeom prst="rect">
            <a:avLst/>
          </a:prstGeom>
          <a:noFill/>
          <a:ln/>
        </p:spPr>
        <p:txBody>
          <a:bodyPr wrap="square" lIns="0" tIns="0" rIns="0" bIns="0" rtlCol="0" anchor="ctr"/>
          <a:lstStyle/>
          <a:p>
            <a:pPr algn="l" indent="0" marL="0">
              <a:buNone/>
            </a:pPr>
            <a:r>
              <a:rPr lang="en-US" sz="1400" dirty="0">
                <a:solidFill>
                  <a:srgbClr val="8BAFC2"/>
                </a:solidFill>
                <a:latin typeface="Calibri" pitchFamily="34" charset="0"/>
                <a:ea typeface="Calibri" pitchFamily="34" charset="-122"/>
                <a:cs typeface="Calibri" pitchFamily="34" charset="-120"/>
              </a:rPr>
              <a:t>What AI actually does in Power BI today — and where it's heading</a:t>
            </a:r>
            <a:endParaRPr lang="en-US" sz="1400" dirty="0"/>
          </a:p>
        </p:txBody>
      </p:sp>
      <p:sp>
        <p:nvSpPr>
          <p:cNvPr id="8" name="Shape 6"/>
          <p:cNvSpPr/>
          <p:nvPr/>
        </p:nvSpPr>
        <p:spPr>
          <a:xfrm>
            <a:off x="3383280" y="3017520"/>
            <a:ext cx="4572000" cy="36576"/>
          </a:xfrm>
          <a:prstGeom prst="rect">
            <a:avLst/>
          </a:prstGeom>
          <a:solidFill>
            <a:srgbClr val="065A82"/>
          </a:solidFill>
          <a:ln w="12700">
            <a:solidFill>
              <a:srgbClr val="065A82"/>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Copilot vs. MCP vs. Traditional Automation</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Three distinct AI layers — each with a different audience, purpose, and scope</a:t>
            </a:r>
            <a:endParaRPr lang="en-US" sz="1200" dirty="0"/>
          </a:p>
        </p:txBody>
      </p:sp>
      <p:sp>
        <p:nvSpPr>
          <p:cNvPr id="5" name="Shape 3"/>
          <p:cNvSpPr/>
          <p:nvPr/>
        </p:nvSpPr>
        <p:spPr>
          <a:xfrm>
            <a:off x="320040" y="1143000"/>
            <a:ext cx="2651760" cy="365760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6" name="Shape 4"/>
          <p:cNvSpPr/>
          <p:nvPr/>
        </p:nvSpPr>
        <p:spPr>
          <a:xfrm>
            <a:off x="320040" y="1143000"/>
            <a:ext cx="2651760" cy="960120"/>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429768" y="1207008"/>
            <a:ext cx="502920" cy="502920"/>
          </a:xfrm>
          <a:prstGeom prst="rect">
            <a:avLst/>
          </a:prstGeom>
        </p:spPr>
      </p:pic>
      <p:sp>
        <p:nvSpPr>
          <p:cNvPr id="8" name="Text 5"/>
          <p:cNvSpPr/>
          <p:nvPr/>
        </p:nvSpPr>
        <p:spPr>
          <a:xfrm>
            <a:off x="1005840" y="1207008"/>
            <a:ext cx="1828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Copilot</a:t>
            </a:r>
            <a:endParaRPr lang="en-US" sz="1600" dirty="0"/>
          </a:p>
        </p:txBody>
      </p:sp>
      <p:sp>
        <p:nvSpPr>
          <p:cNvPr id="9" name="Shape 6"/>
          <p:cNvSpPr/>
          <p:nvPr/>
        </p:nvSpPr>
        <p:spPr>
          <a:xfrm>
            <a:off x="457200" y="2176272"/>
            <a:ext cx="2103120" cy="237744"/>
          </a:xfrm>
          <a:prstGeom prst="rect">
            <a:avLst/>
          </a:prstGeom>
          <a:solidFill>
            <a:srgbClr val="065A82"/>
          </a:solidFill>
          <a:ln w="12700">
            <a:solidFill>
              <a:srgbClr val="065A82"/>
            </a:solidFill>
            <a:prstDash val="solid"/>
          </a:ln>
        </p:spPr>
      </p:sp>
      <p:sp>
        <p:nvSpPr>
          <p:cNvPr id="10" name="Text 7"/>
          <p:cNvSpPr/>
          <p:nvPr/>
        </p:nvSpPr>
        <p:spPr>
          <a:xfrm>
            <a:off x="457200" y="2176272"/>
            <a:ext cx="21031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Business Users</a:t>
            </a:r>
            <a:endParaRPr lang="en-US" sz="900" dirty="0"/>
          </a:p>
        </p:txBody>
      </p:sp>
      <p:sp>
        <p:nvSpPr>
          <p:cNvPr id="11" name="Text 8"/>
          <p:cNvSpPr/>
          <p:nvPr/>
        </p:nvSpPr>
        <p:spPr>
          <a:xfrm>
            <a:off x="457200" y="2505456"/>
            <a:ext cx="2377440" cy="2148840"/>
          </a:xfrm>
          <a:prstGeom prst="rect">
            <a:avLst/>
          </a:prstGeom>
          <a:noFill/>
          <a:ln/>
        </p:spPr>
        <p:txBody>
          <a:bodyPr wrap="square" lIns="0" tIns="0" rIns="0" bIns="0" rtlCol="0" anchor="t"/>
          <a:lstStyle/>
          <a:p>
            <a:pPr algn="l" indent="0" marL="0">
              <a:buNone/>
            </a:pPr>
            <a:r>
              <a:rPr lang="en-US" sz="1100" dirty="0">
                <a:solidFill>
                  <a:srgbClr val="2C4A5E"/>
                </a:solidFill>
                <a:latin typeface="Calibri" pitchFamily="34" charset="0"/>
                <a:ea typeface="Calibri" pitchFamily="34" charset="-122"/>
                <a:cs typeface="Calibri" pitchFamily="34" charset="-120"/>
              </a:rPr>
              <a:t>End-user AI surface inside Power BI reports. Generates DAX, builds visuals, and summarises data using natural language queries against a semantic model.</a:t>
            </a:r>
            <a:endParaRPr lang="en-US" sz="1100" dirty="0"/>
          </a:p>
          <a:p>
            <a:pPr algn="l" indent="0" marL="0">
              <a:buNone/>
            </a:pPr>
            <a:endParaRPr lang="en-US" sz="1100" dirty="0"/>
          </a:p>
          <a:p>
            <a:pPr algn="l" indent="0" marL="0">
              <a:buNone/>
            </a:pPr>
            <a:r>
              <a:rPr lang="en-US" sz="1100" dirty="0">
                <a:solidFill>
                  <a:srgbClr val="2C4A5E"/>
                </a:solidFill>
                <a:latin typeface="Calibri" pitchFamily="34" charset="0"/>
                <a:ea typeface="Calibri" pitchFamily="34" charset="-122"/>
                <a:cs typeface="Calibri" pitchFamily="34" charset="-120"/>
              </a:rPr>
              <a:t>Requires a well-structured, well-described model to work reliably.</a:t>
            </a:r>
            <a:endParaRPr lang="en-US" sz="1100" dirty="0"/>
          </a:p>
        </p:txBody>
      </p:sp>
      <p:sp>
        <p:nvSpPr>
          <p:cNvPr id="12" name="Shape 9"/>
          <p:cNvSpPr/>
          <p:nvPr/>
        </p:nvSpPr>
        <p:spPr>
          <a:xfrm>
            <a:off x="3154680" y="1143000"/>
            <a:ext cx="2651760" cy="365760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13" name="Shape 10"/>
          <p:cNvSpPr/>
          <p:nvPr/>
        </p:nvSpPr>
        <p:spPr>
          <a:xfrm>
            <a:off x="3154680" y="1143000"/>
            <a:ext cx="2651760" cy="960120"/>
          </a:xfrm>
          <a:prstGeom prst="rect">
            <a:avLst/>
          </a:prstGeom>
          <a:solidFill>
            <a:srgbClr val="1C7293"/>
          </a:solidFill>
          <a:ln w="12700">
            <a:solidFill>
              <a:srgbClr val="1C7293"/>
            </a:solidFill>
            <a:prstDash val="solid"/>
          </a:ln>
        </p:spPr>
      </p:sp>
      <p:pic>
        <p:nvPicPr>
          <p:cNvPr id="14" name="Image 1" descr="preencoded.png">    </p:cNvPr>
          <p:cNvPicPr>
            <a:picLocks noChangeAspect="1"/>
          </p:cNvPicPr>
          <p:nvPr/>
        </p:nvPicPr>
        <p:blipFill>
          <a:blip r:embed="rId2"/>
          <a:stretch>
            <a:fillRect/>
          </a:stretch>
        </p:blipFill>
        <p:spPr>
          <a:xfrm>
            <a:off x="3264408" y="1207008"/>
            <a:ext cx="502920" cy="502920"/>
          </a:xfrm>
          <a:prstGeom prst="rect">
            <a:avLst/>
          </a:prstGeom>
        </p:spPr>
      </p:pic>
      <p:sp>
        <p:nvSpPr>
          <p:cNvPr id="15" name="Text 11"/>
          <p:cNvSpPr/>
          <p:nvPr/>
        </p:nvSpPr>
        <p:spPr>
          <a:xfrm>
            <a:off x="3840480" y="1207008"/>
            <a:ext cx="1828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MCP</a:t>
            </a:r>
            <a:endParaRPr lang="en-US" sz="1600" dirty="0"/>
          </a:p>
        </p:txBody>
      </p:sp>
      <p:sp>
        <p:nvSpPr>
          <p:cNvPr id="16" name="Shape 12"/>
          <p:cNvSpPr/>
          <p:nvPr/>
        </p:nvSpPr>
        <p:spPr>
          <a:xfrm>
            <a:off x="3291840" y="2176272"/>
            <a:ext cx="2103120" cy="237744"/>
          </a:xfrm>
          <a:prstGeom prst="rect">
            <a:avLst/>
          </a:prstGeom>
          <a:solidFill>
            <a:srgbClr val="1C7293"/>
          </a:solidFill>
          <a:ln w="12700">
            <a:solidFill>
              <a:srgbClr val="1C7293"/>
            </a:solidFill>
            <a:prstDash val="solid"/>
          </a:ln>
        </p:spPr>
      </p:sp>
      <p:sp>
        <p:nvSpPr>
          <p:cNvPr id="17" name="Text 13"/>
          <p:cNvSpPr/>
          <p:nvPr/>
        </p:nvSpPr>
        <p:spPr>
          <a:xfrm>
            <a:off x="3291840" y="2176272"/>
            <a:ext cx="21031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Developers</a:t>
            </a:r>
            <a:endParaRPr lang="en-US" sz="900" dirty="0"/>
          </a:p>
        </p:txBody>
      </p:sp>
      <p:sp>
        <p:nvSpPr>
          <p:cNvPr id="18" name="Text 14"/>
          <p:cNvSpPr/>
          <p:nvPr/>
        </p:nvSpPr>
        <p:spPr>
          <a:xfrm>
            <a:off x="3291840" y="2505456"/>
            <a:ext cx="2377440" cy="2148840"/>
          </a:xfrm>
          <a:prstGeom prst="rect">
            <a:avLst/>
          </a:prstGeom>
          <a:noFill/>
          <a:ln/>
        </p:spPr>
        <p:txBody>
          <a:bodyPr wrap="square" lIns="0" tIns="0" rIns="0" bIns="0" rtlCol="0" anchor="t"/>
          <a:lstStyle/>
          <a:p>
            <a:pPr algn="l" indent="0" marL="0">
              <a:buNone/>
            </a:pPr>
            <a:r>
              <a:rPr lang="en-US" sz="1100" dirty="0">
                <a:solidFill>
                  <a:srgbClr val="2C4A5E"/>
                </a:solidFill>
                <a:latin typeface="Calibri" pitchFamily="34" charset="0"/>
                <a:ea typeface="Calibri" pitchFamily="34" charset="-122"/>
                <a:cs typeface="Calibri" pitchFamily="34" charset="-120"/>
              </a:rPr>
              <a:t>Model Context Protocol — a developer-facing integration layer. Exposes semantic model operations (Model MCP) and report operations (Report MCP) to AI agents like Claude.</a:t>
            </a:r>
            <a:endParaRPr lang="en-US" sz="1100" dirty="0"/>
          </a:p>
          <a:p>
            <a:pPr algn="l" indent="0" marL="0">
              <a:buNone/>
            </a:pPr>
            <a:endParaRPr lang="en-US" sz="1100" dirty="0"/>
          </a:p>
          <a:p>
            <a:pPr algn="l" indent="0" marL="0">
              <a:buNone/>
            </a:pPr>
            <a:r>
              <a:rPr lang="en-US" sz="1100" dirty="0">
                <a:solidFill>
                  <a:srgbClr val="2C4A5E"/>
                </a:solidFill>
                <a:latin typeface="Calibri" pitchFamily="34" charset="0"/>
                <a:ea typeface="Calibri" pitchFamily="34" charset="-122"/>
                <a:cs typeface="Calibri" pitchFamily="34" charset="-120"/>
              </a:rPr>
              <a:t>Not Copilot — this is a programmable interface for AI-assisted development.</a:t>
            </a:r>
            <a:endParaRPr lang="en-US" sz="1100" dirty="0"/>
          </a:p>
        </p:txBody>
      </p:sp>
      <p:sp>
        <p:nvSpPr>
          <p:cNvPr id="19" name="Shape 15"/>
          <p:cNvSpPr/>
          <p:nvPr/>
        </p:nvSpPr>
        <p:spPr>
          <a:xfrm>
            <a:off x="5989320" y="1143000"/>
            <a:ext cx="2651760" cy="365760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20" name="Shape 16"/>
          <p:cNvSpPr/>
          <p:nvPr/>
        </p:nvSpPr>
        <p:spPr>
          <a:xfrm>
            <a:off x="5989320" y="1143000"/>
            <a:ext cx="2651760" cy="960120"/>
          </a:xfrm>
          <a:prstGeom prst="rect">
            <a:avLst/>
          </a:prstGeom>
          <a:solidFill>
            <a:srgbClr val="028090"/>
          </a:solidFill>
          <a:ln w="12700">
            <a:solidFill>
              <a:srgbClr val="028090"/>
            </a:solidFill>
            <a:prstDash val="solid"/>
          </a:ln>
        </p:spPr>
      </p:sp>
      <p:pic>
        <p:nvPicPr>
          <p:cNvPr id="21" name="Image 2" descr="preencoded.png">    </p:cNvPr>
          <p:cNvPicPr>
            <a:picLocks noChangeAspect="1"/>
          </p:cNvPicPr>
          <p:nvPr/>
        </p:nvPicPr>
        <p:blipFill>
          <a:blip r:embed="rId3"/>
          <a:stretch>
            <a:fillRect/>
          </a:stretch>
        </p:blipFill>
        <p:spPr>
          <a:xfrm>
            <a:off x="6099048" y="1207008"/>
            <a:ext cx="502920" cy="502920"/>
          </a:xfrm>
          <a:prstGeom prst="rect">
            <a:avLst/>
          </a:prstGeom>
        </p:spPr>
      </p:pic>
      <p:sp>
        <p:nvSpPr>
          <p:cNvPr id="22" name="Text 17"/>
          <p:cNvSpPr/>
          <p:nvPr/>
        </p:nvSpPr>
        <p:spPr>
          <a:xfrm>
            <a:off x="6675120" y="1207008"/>
            <a:ext cx="1828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Traditional Automation</a:t>
            </a:r>
            <a:endParaRPr lang="en-US" sz="1600" dirty="0"/>
          </a:p>
        </p:txBody>
      </p:sp>
      <p:sp>
        <p:nvSpPr>
          <p:cNvPr id="23" name="Shape 18"/>
          <p:cNvSpPr/>
          <p:nvPr/>
        </p:nvSpPr>
        <p:spPr>
          <a:xfrm>
            <a:off x="6126480" y="2176272"/>
            <a:ext cx="2103120" cy="237744"/>
          </a:xfrm>
          <a:prstGeom prst="rect">
            <a:avLst/>
          </a:prstGeom>
          <a:solidFill>
            <a:srgbClr val="028090"/>
          </a:solidFill>
          <a:ln w="12700">
            <a:solidFill>
              <a:srgbClr val="028090"/>
            </a:solidFill>
            <a:prstDash val="solid"/>
          </a:ln>
        </p:spPr>
      </p:sp>
      <p:sp>
        <p:nvSpPr>
          <p:cNvPr id="24" name="Text 19"/>
          <p:cNvSpPr/>
          <p:nvPr/>
        </p:nvSpPr>
        <p:spPr>
          <a:xfrm>
            <a:off x="6126480" y="2176272"/>
            <a:ext cx="21031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Operations / IT</a:t>
            </a:r>
            <a:endParaRPr lang="en-US" sz="900" dirty="0"/>
          </a:p>
        </p:txBody>
      </p:sp>
      <p:sp>
        <p:nvSpPr>
          <p:cNvPr id="25" name="Text 20"/>
          <p:cNvSpPr/>
          <p:nvPr/>
        </p:nvSpPr>
        <p:spPr>
          <a:xfrm>
            <a:off x="6126480" y="2505456"/>
            <a:ext cx="2377440" cy="2148840"/>
          </a:xfrm>
          <a:prstGeom prst="rect">
            <a:avLst/>
          </a:prstGeom>
          <a:noFill/>
          <a:ln/>
        </p:spPr>
        <p:txBody>
          <a:bodyPr wrap="square" lIns="0" tIns="0" rIns="0" bIns="0" rtlCol="0" anchor="t"/>
          <a:lstStyle/>
          <a:p>
            <a:pPr algn="l" indent="0" marL="0">
              <a:buNone/>
            </a:pPr>
            <a:r>
              <a:rPr lang="en-US" sz="1100" dirty="0">
                <a:solidFill>
                  <a:srgbClr val="2C4A5E"/>
                </a:solidFill>
                <a:latin typeface="Calibri" pitchFamily="34" charset="0"/>
                <a:ea typeface="Calibri" pitchFamily="34" charset="-122"/>
                <a:cs typeface="Calibri" pitchFamily="34" charset="-120"/>
              </a:rPr>
              <a:t>Power Automate, REST APIs, PowerShell. Still essential for scheduled, deterministic tasks.</a:t>
            </a:r>
            <a:endParaRPr lang="en-US" sz="1100" dirty="0"/>
          </a:p>
          <a:p>
            <a:pPr algn="l" indent="0" marL="0">
              <a:buNone/>
            </a:pPr>
            <a:endParaRPr lang="en-US" sz="1100" dirty="0"/>
          </a:p>
          <a:p>
            <a:pPr algn="l" indent="0" marL="0">
              <a:buNone/>
            </a:pPr>
            <a:r>
              <a:rPr lang="en-US" sz="1100" dirty="0">
                <a:solidFill>
                  <a:srgbClr val="2C4A5E"/>
                </a:solidFill>
                <a:latin typeface="Calibri" pitchFamily="34" charset="0"/>
                <a:ea typeface="Calibri" pitchFamily="34" charset="-122"/>
                <a:cs typeface="Calibri" pitchFamily="34" charset="-120"/>
              </a:rPr>
              <a:t>AI doesn't replace automation — it fills the gap where tasks are too varied or context-dependent for rigid scripts.</a:t>
            </a:r>
            <a:endParaRPr lang="en-US" sz="1100" dirty="0"/>
          </a:p>
        </p:txBody>
      </p:sp>
      <p:sp>
        <p:nvSpPr>
          <p:cNvPr id="26" name="Shape 21"/>
          <p:cNvSpPr/>
          <p:nvPr/>
        </p:nvSpPr>
        <p:spPr>
          <a:xfrm>
            <a:off x="0" y="4818888"/>
            <a:ext cx="9144000" cy="324612"/>
          </a:xfrm>
          <a:prstGeom prst="rect">
            <a:avLst/>
          </a:prstGeom>
          <a:solidFill>
            <a:srgbClr val="065A82"/>
          </a:solidFill>
          <a:ln w="12700">
            <a:solidFill>
              <a:srgbClr val="065A82"/>
            </a:solidFill>
            <a:prstDash val="solid"/>
          </a:ln>
        </p:spPr>
      </p:sp>
      <p:sp>
        <p:nvSpPr>
          <p:cNvPr id="27" name="Text 22"/>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Copilot consumes a good model. MCP helps you build and maintain one. They're complementary, not competing.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The Semantic Model as the “Brain”</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Every AI capability in Power BI depends on the quality of the semantic model</a:t>
            </a:r>
            <a:endParaRPr lang="en-US" sz="1200" dirty="0"/>
          </a:p>
        </p:txBody>
      </p:sp>
      <p:sp>
        <p:nvSpPr>
          <p:cNvPr id="5" name="Shape 3"/>
          <p:cNvSpPr/>
          <p:nvPr/>
        </p:nvSpPr>
        <p:spPr>
          <a:xfrm>
            <a:off x="365760" y="1170432"/>
            <a:ext cx="5029200" cy="109728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170432"/>
            <a:ext cx="54864" cy="1097280"/>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594360" y="1261872"/>
            <a:ext cx="502920" cy="502920"/>
          </a:xfrm>
          <a:prstGeom prst="rect">
            <a:avLst/>
          </a:prstGeom>
        </p:spPr>
      </p:pic>
      <p:sp>
        <p:nvSpPr>
          <p:cNvPr id="8" name="Text 5"/>
          <p:cNvSpPr/>
          <p:nvPr/>
        </p:nvSpPr>
        <p:spPr>
          <a:xfrm>
            <a:off x="1234440" y="1261872"/>
            <a:ext cx="4023360" cy="347472"/>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Model = AI System Prompt</a:t>
            </a:r>
            <a:endParaRPr lang="en-US" sz="1300" dirty="0"/>
          </a:p>
        </p:txBody>
      </p:sp>
      <p:sp>
        <p:nvSpPr>
          <p:cNvPr id="9" name="Text 6"/>
          <p:cNvSpPr/>
          <p:nvPr/>
        </p:nvSpPr>
        <p:spPr>
          <a:xfrm>
            <a:off x="1234440" y="1645920"/>
            <a:ext cx="3977640" cy="566928"/>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Copilot reads descriptions, display folders, and format strings as its operating context. Cryptic column names and missing descriptions produce bad AI outputs — regardless of how good the AI model is.</a:t>
            </a:r>
            <a:endParaRPr lang="en-US" sz="1050" dirty="0"/>
          </a:p>
        </p:txBody>
      </p:sp>
      <p:sp>
        <p:nvSpPr>
          <p:cNvPr id="10" name="Shape 7"/>
          <p:cNvSpPr/>
          <p:nvPr/>
        </p:nvSpPr>
        <p:spPr>
          <a:xfrm>
            <a:off x="365760" y="2404872"/>
            <a:ext cx="5029200" cy="109728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365760" y="2404872"/>
            <a:ext cx="54864" cy="1097280"/>
          </a:xfrm>
          <a:prstGeom prst="rect">
            <a:avLst/>
          </a:prstGeom>
          <a:solidFill>
            <a:srgbClr val="1C7293"/>
          </a:solidFill>
          <a:ln w="12700">
            <a:solidFill>
              <a:srgbClr val="1C7293"/>
            </a:solidFill>
            <a:prstDash val="solid"/>
          </a:ln>
        </p:spPr>
      </p:sp>
      <p:pic>
        <p:nvPicPr>
          <p:cNvPr id="12" name="Image 1" descr="preencoded.png">    </p:cNvPr>
          <p:cNvPicPr>
            <a:picLocks noChangeAspect="1"/>
          </p:cNvPicPr>
          <p:nvPr/>
        </p:nvPicPr>
        <p:blipFill>
          <a:blip r:embed="rId2"/>
          <a:stretch>
            <a:fillRect/>
          </a:stretch>
        </p:blipFill>
        <p:spPr>
          <a:xfrm>
            <a:off x="594360" y="2496312"/>
            <a:ext cx="502920" cy="502920"/>
          </a:xfrm>
          <a:prstGeom prst="rect">
            <a:avLst/>
          </a:prstGeom>
        </p:spPr>
      </p:pic>
      <p:sp>
        <p:nvSpPr>
          <p:cNvPr id="13" name="Text 9"/>
          <p:cNvSpPr/>
          <p:nvPr/>
        </p:nvSpPr>
        <p:spPr>
          <a:xfrm>
            <a:off x="1234440" y="2496312"/>
            <a:ext cx="4023360" cy="347472"/>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You're Building for Two Audiences</a:t>
            </a:r>
            <a:endParaRPr lang="en-US" sz="1300" dirty="0"/>
          </a:p>
        </p:txBody>
      </p:sp>
      <p:sp>
        <p:nvSpPr>
          <p:cNvPr id="14" name="Text 10"/>
          <p:cNvSpPr/>
          <p:nvPr/>
        </p:nvSpPr>
        <p:spPr>
          <a:xfrm>
            <a:off x="1234440" y="2880360"/>
            <a:ext cx="3977640" cy="566928"/>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Traditional BI optimises for a human at a screen. AI-ready BI also optimises for an AI agent reading the schema. Column names like Col1 or GM% without descriptions are invisible walls for AI.</a:t>
            </a:r>
            <a:endParaRPr lang="en-US" sz="1050" dirty="0"/>
          </a:p>
        </p:txBody>
      </p:sp>
      <p:sp>
        <p:nvSpPr>
          <p:cNvPr id="15" name="Shape 11"/>
          <p:cNvSpPr/>
          <p:nvPr/>
        </p:nvSpPr>
        <p:spPr>
          <a:xfrm>
            <a:off x="365760" y="3639312"/>
            <a:ext cx="5029200" cy="109728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365760" y="3639312"/>
            <a:ext cx="54864" cy="1097280"/>
          </a:xfrm>
          <a:prstGeom prst="rect">
            <a:avLst/>
          </a:prstGeom>
          <a:solidFill>
            <a:srgbClr val="028090"/>
          </a:solidFill>
          <a:ln w="12700">
            <a:solidFill>
              <a:srgbClr val="028090"/>
            </a:solidFill>
            <a:prstDash val="solid"/>
          </a:ln>
        </p:spPr>
      </p:sp>
      <p:pic>
        <p:nvPicPr>
          <p:cNvPr id="17" name="Image 2" descr="preencoded.png">    </p:cNvPr>
          <p:cNvPicPr>
            <a:picLocks noChangeAspect="1"/>
          </p:cNvPicPr>
          <p:nvPr/>
        </p:nvPicPr>
        <p:blipFill>
          <a:blip r:embed="rId3"/>
          <a:stretch>
            <a:fillRect/>
          </a:stretch>
        </p:blipFill>
        <p:spPr>
          <a:xfrm>
            <a:off x="594360" y="3730752"/>
            <a:ext cx="502920" cy="502920"/>
          </a:xfrm>
          <a:prstGeom prst="rect">
            <a:avLst/>
          </a:prstGeom>
        </p:spPr>
      </p:pic>
      <p:sp>
        <p:nvSpPr>
          <p:cNvPr id="18" name="Text 13"/>
          <p:cNvSpPr/>
          <p:nvPr/>
        </p:nvSpPr>
        <p:spPr>
          <a:xfrm>
            <a:off x="1234440" y="3730752"/>
            <a:ext cx="4023360" cy="347472"/>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Metadata Completeness is Non-Negotiable</a:t>
            </a:r>
            <a:endParaRPr lang="en-US" sz="1300" dirty="0"/>
          </a:p>
        </p:txBody>
      </p:sp>
      <p:sp>
        <p:nvSpPr>
          <p:cNvPr id="19" name="Text 14"/>
          <p:cNvSpPr/>
          <p:nvPr/>
        </p:nvSpPr>
        <p:spPr>
          <a:xfrm>
            <a:off x="1234440" y="4114800"/>
            <a:ext cx="3977640" cy="566928"/>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Descriptions become context. Display folders become navigation. Format strings control output. If you wouldn't hand a spreadsheet with Col1, Col2, Col3 to an analyst, don't give it to Copilot either.</a:t>
            </a:r>
            <a:endParaRPr lang="en-US" sz="1050" dirty="0"/>
          </a:p>
        </p:txBody>
      </p:sp>
      <p:sp>
        <p:nvSpPr>
          <p:cNvPr id="20" name="Shape 15"/>
          <p:cNvSpPr/>
          <p:nvPr/>
        </p:nvSpPr>
        <p:spPr>
          <a:xfrm>
            <a:off x="5669280" y="1170432"/>
            <a:ext cx="3063240" cy="3520440"/>
          </a:xfrm>
          <a:prstGeom prst="rect">
            <a:avLst/>
          </a:prstGeom>
          <a:solidFill>
            <a:srgbClr val="065A82"/>
          </a:solidFill>
          <a:ln w="12700">
            <a:solidFill>
              <a:srgbClr val="065A82"/>
            </a:solidFill>
            <a:prstDash val="solid"/>
          </a:ln>
          <a:effectLst>
            <a:outerShdw sx="100000" sy="100000" kx="0" ky="0" algn="bl" rotWithShape="0" blurRad="152400" dist="50800" dir="8100000">
              <a:srgbClr val="000000">
                <a:alpha val="12000"/>
              </a:srgbClr>
            </a:outerShdw>
          </a:effectLst>
        </p:spPr>
      </p:sp>
      <p:pic>
        <p:nvPicPr>
          <p:cNvPr id="21" name="Image 3" descr="preencoded.png">    </p:cNvPr>
          <p:cNvPicPr>
            <a:picLocks noChangeAspect="1"/>
          </p:cNvPicPr>
          <p:nvPr/>
        </p:nvPicPr>
        <p:blipFill>
          <a:blip r:embed="rId4"/>
          <a:stretch>
            <a:fillRect/>
          </a:stretch>
        </p:blipFill>
        <p:spPr>
          <a:xfrm>
            <a:off x="6675120" y="1371600"/>
            <a:ext cx="1051560" cy="1051560"/>
          </a:xfrm>
          <a:prstGeom prst="rect">
            <a:avLst/>
          </a:prstGeom>
        </p:spPr>
      </p:pic>
      <p:sp>
        <p:nvSpPr>
          <p:cNvPr id="22" name="Text 16"/>
          <p:cNvSpPr/>
          <p:nvPr/>
        </p:nvSpPr>
        <p:spPr>
          <a:xfrm>
            <a:off x="5806440" y="2514600"/>
            <a:ext cx="2788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Model Quality</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Determines</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AI Quality</a:t>
            </a:r>
            <a:endParaRPr lang="en-US" sz="2000" dirty="0"/>
          </a:p>
        </p:txBody>
      </p:sp>
      <p:sp>
        <p:nvSpPr>
          <p:cNvPr id="23" name="Shape 17"/>
          <p:cNvSpPr/>
          <p:nvPr/>
        </p:nvSpPr>
        <p:spPr>
          <a:xfrm>
            <a:off x="6217920" y="3611880"/>
            <a:ext cx="1737360" cy="36576"/>
          </a:xfrm>
          <a:prstGeom prst="rect">
            <a:avLst/>
          </a:prstGeom>
          <a:solidFill>
            <a:srgbClr val="02C39A"/>
          </a:solidFill>
          <a:ln w="12700">
            <a:solidFill>
              <a:srgbClr val="02C39A"/>
            </a:solidFill>
            <a:prstDash val="solid"/>
          </a:ln>
        </p:spPr>
      </p:sp>
      <p:sp>
        <p:nvSpPr>
          <p:cNvPr id="24" name="Text 18"/>
          <p:cNvSpPr/>
          <p:nvPr/>
        </p:nvSpPr>
        <p:spPr>
          <a:xfrm>
            <a:off x="5806440" y="3749040"/>
            <a:ext cx="2788920" cy="731520"/>
          </a:xfrm>
          <a:prstGeom prst="rect">
            <a:avLst/>
          </a:prstGeom>
          <a:noFill/>
          <a:ln/>
        </p:spPr>
        <p:txBody>
          <a:bodyPr wrap="square" lIns="0" tIns="0" rIns="0" bIns="0" rtlCol="0" anchor="t"/>
          <a:lstStyle/>
          <a:p>
            <a:pPr algn="ctr" indent="0" marL="0">
              <a:buNone/>
            </a:pPr>
            <a:r>
              <a:rPr lang="en-US" sz="1050" dirty="0">
                <a:solidFill>
                  <a:srgbClr val="8BAFC2"/>
                </a:solidFill>
                <a:latin typeface="Calibri" pitchFamily="34" charset="0"/>
                <a:ea typeface="Calibri" pitchFamily="34" charset="-122"/>
                <a:cs typeface="Calibri" pitchFamily="34" charset="-120"/>
              </a:rPr>
              <a:t>Model quality is not a nice-to-have for AI — it's the determining factor.</a:t>
            </a:r>
            <a:endParaRPr lang="en-US" sz="1050" dirty="0"/>
          </a:p>
        </p:txBody>
      </p:sp>
      <p:sp>
        <p:nvSpPr>
          <p:cNvPr id="25" name="Shape 19"/>
          <p:cNvSpPr/>
          <p:nvPr/>
        </p:nvSpPr>
        <p:spPr>
          <a:xfrm>
            <a:off x="0" y="4818888"/>
            <a:ext cx="9144000" cy="324612"/>
          </a:xfrm>
          <a:prstGeom prst="rect">
            <a:avLst/>
          </a:prstGeom>
          <a:solidFill>
            <a:srgbClr val="065A82"/>
          </a:solidFill>
          <a:ln w="12700">
            <a:solidFill>
              <a:srgbClr val="065A82"/>
            </a:solidFill>
            <a:prstDash val="solid"/>
          </a:ln>
        </p:spPr>
      </p:sp>
      <p:sp>
        <p:nvSpPr>
          <p:cNvPr id="26" name="Text 20"/>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Model quality is not a nice-to-have for AI — it's the determining factor. Week 2 goes deep on what "quality" means.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The Two MCP Layers</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powerbi-modeling-mcp and powerbi-report-mcp — distinct tool sets, different scopes, different risk profiles</a:t>
            </a:r>
            <a:endParaRPr lang="en-US" sz="1200" dirty="0"/>
          </a:p>
        </p:txBody>
      </p:sp>
      <p:sp>
        <p:nvSpPr>
          <p:cNvPr id="5" name="Shape 3"/>
          <p:cNvSpPr/>
          <p:nvPr/>
        </p:nvSpPr>
        <p:spPr>
          <a:xfrm>
            <a:off x="320040" y="1143000"/>
            <a:ext cx="4206240" cy="374904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6" name="Shape 4"/>
          <p:cNvSpPr/>
          <p:nvPr/>
        </p:nvSpPr>
        <p:spPr>
          <a:xfrm>
            <a:off x="320040" y="1143000"/>
            <a:ext cx="4206240" cy="896112"/>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457200" y="1234440"/>
            <a:ext cx="502920" cy="502920"/>
          </a:xfrm>
          <a:prstGeom prst="rect">
            <a:avLst/>
          </a:prstGeom>
        </p:spPr>
      </p:pic>
      <p:sp>
        <p:nvSpPr>
          <p:cNvPr id="8" name="Text 5"/>
          <p:cNvSpPr/>
          <p:nvPr/>
        </p:nvSpPr>
        <p:spPr>
          <a:xfrm>
            <a:off x="1069848" y="1234440"/>
            <a:ext cx="3200400" cy="34747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MCP</a:t>
            </a:r>
            <a:endParaRPr lang="en-US" sz="1800" dirty="0"/>
          </a:p>
        </p:txBody>
      </p:sp>
      <p:sp>
        <p:nvSpPr>
          <p:cNvPr id="9" name="Text 6"/>
          <p:cNvSpPr/>
          <p:nvPr/>
        </p:nvSpPr>
        <p:spPr>
          <a:xfrm>
            <a:off x="1069848" y="1572768"/>
            <a:ext cx="3200400" cy="256032"/>
          </a:xfrm>
          <a:prstGeom prst="rect">
            <a:avLst/>
          </a:prstGeom>
          <a:noFill/>
          <a:ln/>
        </p:spPr>
        <p:txBody>
          <a:bodyPr wrap="square" lIns="0" tIns="0" rIns="0" bIns="0" rtlCol="0" anchor="ctr"/>
          <a:lstStyle/>
          <a:p>
            <a:pPr algn="l" indent="0" marL="0">
              <a:buNone/>
            </a:pPr>
            <a:r>
              <a:rPr lang="en-US" sz="900" dirty="0">
                <a:solidFill>
                  <a:srgbClr val="C8E4F0"/>
                </a:solidFill>
                <a:latin typeface="Calibri" pitchFamily="34" charset="0"/>
                <a:ea typeface="Calibri" pitchFamily="34" charset="-122"/>
                <a:cs typeface="Calibri" pitchFamily="34" charset="-120"/>
              </a:rPr>
              <a:t>powerbi-modeling-mcp</a:t>
            </a:r>
            <a:endParaRPr lang="en-US" sz="900" dirty="0"/>
          </a:p>
        </p:txBody>
      </p:sp>
      <p:sp>
        <p:nvSpPr>
          <p:cNvPr id="10" name="Shape 7"/>
          <p:cNvSpPr/>
          <p:nvPr/>
        </p:nvSpPr>
        <p:spPr>
          <a:xfrm>
            <a:off x="457200" y="2121408"/>
            <a:ext cx="3840480" cy="228600"/>
          </a:xfrm>
          <a:prstGeom prst="rect">
            <a:avLst/>
          </a:prstGeom>
          <a:solidFill>
            <a:srgbClr val="065A82"/>
          </a:solidFill>
          <a:ln w="12700">
            <a:solidFill>
              <a:srgbClr val="065A82"/>
            </a:solidFill>
            <a:prstDash val="solid"/>
          </a:ln>
        </p:spPr>
      </p:sp>
      <p:sp>
        <p:nvSpPr>
          <p:cNvPr id="11" name="Text 8"/>
          <p:cNvSpPr/>
          <p:nvPr/>
        </p:nvSpPr>
        <p:spPr>
          <a:xfrm>
            <a:off x="457200" y="2121408"/>
            <a:ext cx="3840480" cy="228600"/>
          </a:xfrm>
          <a:prstGeom prst="rect">
            <a:avLst/>
          </a:prstGeom>
          <a:noFill/>
          <a:ln/>
        </p:spPr>
        <p:txBody>
          <a:bodyPr wrap="square" lIns="0" tIns="0" rIns="0" bIns="0" rtlCol="0" anchor="ctr"/>
          <a:lstStyle/>
          <a:p>
            <a:pPr algn="ctr" indent="0" marL="0">
              <a:buNone/>
            </a:pPr>
            <a:r>
              <a:rPr lang="en-US" sz="900" b="1" dirty="0">
                <a:solidFill>
                  <a:srgbClr val="065A82"/>
                </a:solidFill>
                <a:latin typeface="Calibri" pitchFamily="34" charset="0"/>
                <a:ea typeface="Calibri" pitchFamily="34" charset="-122"/>
                <a:cs typeface="Calibri" pitchFamily="34" charset="-120"/>
              </a:rPr>
              <a:t>Higher Risk — changes your data model</a:t>
            </a:r>
            <a:endParaRPr lang="en-US" sz="900" dirty="0"/>
          </a:p>
        </p:txBody>
      </p:sp>
      <p:sp>
        <p:nvSpPr>
          <p:cNvPr id="12" name="Text 9"/>
          <p:cNvSpPr/>
          <p:nvPr/>
        </p:nvSpPr>
        <p:spPr>
          <a:xfrm>
            <a:off x="548640" y="2423160"/>
            <a:ext cx="3840480" cy="182880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Inspect tables, columns, relationships, and measures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Run DAX queries against the model</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Create or modify measures and expressions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Set descriptions and display folders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Manage calculation groups and items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Configure column properties (SummarizeBy, format strings)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Create or modify relationships</a:t>
            </a:r>
            <a:endParaRPr lang="en-US" sz="1050" dirty="0"/>
          </a:p>
          <a:p>
            <a:pPr algn="l" indent="0" marL="0">
              <a:buNone/>
            </a:pPr>
            <a:endParaRPr lang="en-US" sz="1050" dirty="0"/>
          </a:p>
        </p:txBody>
      </p:sp>
      <p:sp>
        <p:nvSpPr>
          <p:cNvPr id="13" name="Shape 10"/>
          <p:cNvSpPr/>
          <p:nvPr/>
        </p:nvSpPr>
        <p:spPr>
          <a:xfrm>
            <a:off x="320040" y="4480560"/>
            <a:ext cx="4206240" cy="411480"/>
          </a:xfrm>
          <a:prstGeom prst="rect">
            <a:avLst/>
          </a:prstGeom>
          <a:solidFill>
            <a:srgbClr val="065A82"/>
          </a:solidFill>
          <a:ln w="12700">
            <a:solidFill>
              <a:srgbClr val="065A82"/>
            </a:solidFill>
            <a:prstDash val="solid"/>
          </a:ln>
        </p:spPr>
      </p:sp>
      <p:sp>
        <p:nvSpPr>
          <p:cNvPr id="14" name="Text 11"/>
          <p:cNvSpPr/>
          <p:nvPr/>
        </p:nvSpPr>
        <p:spPr>
          <a:xfrm>
            <a:off x="457200" y="4480560"/>
            <a:ext cx="3931920" cy="411480"/>
          </a:xfrm>
          <a:prstGeom prst="rect">
            <a:avLst/>
          </a:prstGeom>
          <a:noFill/>
          <a:ln/>
        </p:spPr>
        <p:txBody>
          <a:bodyPr wrap="square" lIns="0" tIns="0" rIns="0" bIns="0" rtlCol="0" anchor="ctr"/>
          <a:lstStyle/>
          <a:p>
            <a:pPr algn="l" indent="0" marL="0">
              <a:buNone/>
            </a:pPr>
            <a:r>
              <a:rPr lang="en-US" sz="1000" b="1" dirty="0">
                <a:solidFill>
                  <a:srgbClr val="065A82"/>
                </a:solidFill>
                <a:latin typeface="Calibri" pitchFamily="34" charset="0"/>
                <a:ea typeface="Calibri" pitchFamily="34" charset="-122"/>
                <a:cs typeface="Calibri" pitchFamily="34" charset="-120"/>
              </a:rPr>
              <a:t>Think: Tabular Editor operations — exposed to an AI agent</a:t>
            </a:r>
            <a:endParaRPr lang="en-US" sz="1000" dirty="0"/>
          </a:p>
        </p:txBody>
      </p:sp>
      <p:sp>
        <p:nvSpPr>
          <p:cNvPr id="15" name="Shape 12"/>
          <p:cNvSpPr/>
          <p:nvPr/>
        </p:nvSpPr>
        <p:spPr>
          <a:xfrm>
            <a:off x="4754880" y="1143000"/>
            <a:ext cx="4206240" cy="374904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16" name="Shape 13"/>
          <p:cNvSpPr/>
          <p:nvPr/>
        </p:nvSpPr>
        <p:spPr>
          <a:xfrm>
            <a:off x="4754880" y="1143000"/>
            <a:ext cx="4206240" cy="896112"/>
          </a:xfrm>
          <a:prstGeom prst="rect">
            <a:avLst/>
          </a:prstGeom>
          <a:solidFill>
            <a:srgbClr val="1C7293"/>
          </a:solidFill>
          <a:ln w="12700">
            <a:solidFill>
              <a:srgbClr val="1C7293"/>
            </a:solidFill>
            <a:prstDash val="solid"/>
          </a:ln>
        </p:spPr>
      </p:sp>
      <p:pic>
        <p:nvPicPr>
          <p:cNvPr id="17" name="Image 1" descr="preencoded.png">    </p:cNvPr>
          <p:cNvPicPr>
            <a:picLocks noChangeAspect="1"/>
          </p:cNvPicPr>
          <p:nvPr/>
        </p:nvPicPr>
        <p:blipFill>
          <a:blip r:embed="rId2"/>
          <a:stretch>
            <a:fillRect/>
          </a:stretch>
        </p:blipFill>
        <p:spPr>
          <a:xfrm>
            <a:off x="4892040" y="1234440"/>
            <a:ext cx="502920" cy="502920"/>
          </a:xfrm>
          <a:prstGeom prst="rect">
            <a:avLst/>
          </a:prstGeom>
        </p:spPr>
      </p:pic>
      <p:sp>
        <p:nvSpPr>
          <p:cNvPr id="18" name="Text 14"/>
          <p:cNvSpPr/>
          <p:nvPr/>
        </p:nvSpPr>
        <p:spPr>
          <a:xfrm>
            <a:off x="5504688" y="1234440"/>
            <a:ext cx="3200400" cy="34747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Report MCP</a:t>
            </a:r>
            <a:endParaRPr lang="en-US" sz="1800" dirty="0"/>
          </a:p>
        </p:txBody>
      </p:sp>
      <p:sp>
        <p:nvSpPr>
          <p:cNvPr id="19" name="Text 15"/>
          <p:cNvSpPr/>
          <p:nvPr/>
        </p:nvSpPr>
        <p:spPr>
          <a:xfrm>
            <a:off x="5504688" y="1572768"/>
            <a:ext cx="3200400" cy="256032"/>
          </a:xfrm>
          <a:prstGeom prst="rect">
            <a:avLst/>
          </a:prstGeom>
          <a:noFill/>
          <a:ln/>
        </p:spPr>
        <p:txBody>
          <a:bodyPr wrap="square" lIns="0" tIns="0" rIns="0" bIns="0" rtlCol="0" anchor="ctr"/>
          <a:lstStyle/>
          <a:p>
            <a:pPr algn="l" indent="0" marL="0">
              <a:buNone/>
            </a:pPr>
            <a:r>
              <a:rPr lang="en-US" sz="900" dirty="0">
                <a:solidFill>
                  <a:srgbClr val="C8E4F0"/>
                </a:solidFill>
                <a:latin typeface="Calibri" pitchFamily="34" charset="0"/>
                <a:ea typeface="Calibri" pitchFamily="34" charset="-122"/>
                <a:cs typeface="Calibri" pitchFamily="34" charset="-120"/>
              </a:rPr>
              <a:t>powerbi-report-mcp</a:t>
            </a:r>
            <a:endParaRPr lang="en-US" sz="900" dirty="0"/>
          </a:p>
        </p:txBody>
      </p:sp>
      <p:sp>
        <p:nvSpPr>
          <p:cNvPr id="20" name="Shape 16"/>
          <p:cNvSpPr/>
          <p:nvPr/>
        </p:nvSpPr>
        <p:spPr>
          <a:xfrm>
            <a:off x="4892040" y="2121408"/>
            <a:ext cx="3840480" cy="228600"/>
          </a:xfrm>
          <a:prstGeom prst="rect">
            <a:avLst/>
          </a:prstGeom>
          <a:solidFill>
            <a:srgbClr val="1C7293"/>
          </a:solidFill>
          <a:ln w="12700">
            <a:solidFill>
              <a:srgbClr val="1C7293"/>
            </a:solidFill>
            <a:prstDash val="solid"/>
          </a:ln>
        </p:spPr>
      </p:sp>
      <p:sp>
        <p:nvSpPr>
          <p:cNvPr id="21" name="Text 17"/>
          <p:cNvSpPr/>
          <p:nvPr/>
        </p:nvSpPr>
        <p:spPr>
          <a:xfrm>
            <a:off x="4892040" y="2121408"/>
            <a:ext cx="3840480" cy="22860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Lower Risk — changes how things look</a:t>
            </a:r>
            <a:endParaRPr lang="en-US" sz="900" dirty="0"/>
          </a:p>
        </p:txBody>
      </p:sp>
      <p:sp>
        <p:nvSpPr>
          <p:cNvPr id="22" name="Text 18"/>
          <p:cNvSpPr/>
          <p:nvPr/>
        </p:nvSpPr>
        <p:spPr>
          <a:xfrm>
            <a:off x="4983480" y="2423160"/>
            <a:ext cx="3840480" cy="182880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List pages and inspect visual configurations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Add visuals (type, data bindings, position, size)</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Change visual types and apply formatting</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Manage filters, bookmarks, and themes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Duplicate pages and visuals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Arrange and position layout elements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Set conditional formatting and data colours</a:t>
            </a:r>
            <a:endParaRPr lang="en-US" sz="1050" dirty="0"/>
          </a:p>
          <a:p>
            <a:pPr algn="l" indent="0" marL="0">
              <a:buNone/>
            </a:pPr>
            <a:endParaRPr lang="en-US" sz="1050" dirty="0"/>
          </a:p>
        </p:txBody>
      </p:sp>
      <p:sp>
        <p:nvSpPr>
          <p:cNvPr id="23" name="Shape 19"/>
          <p:cNvSpPr/>
          <p:nvPr/>
        </p:nvSpPr>
        <p:spPr>
          <a:xfrm>
            <a:off x="4754880" y="4480560"/>
            <a:ext cx="4206240" cy="411480"/>
          </a:xfrm>
          <a:prstGeom prst="rect">
            <a:avLst/>
          </a:prstGeom>
          <a:solidFill>
            <a:srgbClr val="1C7293"/>
          </a:solidFill>
          <a:ln w="12700">
            <a:solidFill>
              <a:srgbClr val="1C7293"/>
            </a:solidFill>
            <a:prstDash val="solid"/>
          </a:ln>
        </p:spPr>
      </p:sp>
      <p:sp>
        <p:nvSpPr>
          <p:cNvPr id="24" name="Text 20"/>
          <p:cNvSpPr/>
          <p:nvPr/>
        </p:nvSpPr>
        <p:spPr>
          <a:xfrm>
            <a:off x="4892040" y="4480560"/>
            <a:ext cx="3931920" cy="411480"/>
          </a:xfrm>
          <a:prstGeom prst="rect">
            <a:avLst/>
          </a:prstGeom>
          <a:noFill/>
          <a:ln/>
        </p:spPr>
        <p:txBody>
          <a:bodyPr wrap="square" lIns="0" tIns="0" rIns="0" bIns="0" rtlCol="0" anchor="ctr"/>
          <a:lstStyle/>
          <a:p>
            <a:pPr algn="l" indent="0" marL="0">
              <a:buNone/>
            </a:pPr>
            <a:r>
              <a:rPr lang="en-US" sz="1000" b="1" dirty="0">
                <a:solidFill>
                  <a:srgbClr val="1C7293"/>
                </a:solidFill>
                <a:latin typeface="Calibri" pitchFamily="34" charset="0"/>
                <a:ea typeface="Calibri" pitchFamily="34" charset="-122"/>
                <a:cs typeface="Calibri" pitchFamily="34" charset="-120"/>
              </a:rPr>
              <a:t>Think: Power BI Desktop canvas — exposed to an AI agent</a:t>
            </a:r>
            <a:endParaRPr lang="en-US" sz="1000" dirty="0"/>
          </a:p>
        </p:txBody>
      </p:sp>
      <p:sp>
        <p:nvSpPr>
          <p:cNvPr id="25" name="Shape 21"/>
          <p:cNvSpPr/>
          <p:nvPr/>
        </p:nvSpPr>
        <p:spPr>
          <a:xfrm>
            <a:off x="0" y="4818888"/>
            <a:ext cx="9144000" cy="324612"/>
          </a:xfrm>
          <a:prstGeom prst="rect">
            <a:avLst/>
          </a:prstGeom>
          <a:solidFill>
            <a:srgbClr val="065A82"/>
          </a:solidFill>
          <a:ln w="12700">
            <a:solidFill>
              <a:srgbClr val="065A82"/>
            </a:solidFill>
            <a:prstDash val="solid"/>
          </a:ln>
        </p:spPr>
      </p:sp>
      <p:sp>
        <p:nvSpPr>
          <p:cNvPr id="26" name="Text 22"/>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Model MCP changes your data model (higher risk). Report MCP changes your visuals (lower risk). Know which layer you're 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Building for AI Consumers, Not Just Humans</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The traditional BI mindset optimises for a human at a screen. AI-ready BI optimises for an agent reading a schema.</a:t>
            </a:r>
            <a:endParaRPr lang="en-US" sz="1200" dirty="0"/>
          </a:p>
        </p:txBody>
      </p:sp>
      <p:sp>
        <p:nvSpPr>
          <p:cNvPr id="5" name="Shape 3"/>
          <p:cNvSpPr/>
          <p:nvPr/>
        </p:nvSpPr>
        <p:spPr>
          <a:xfrm>
            <a:off x="320040" y="1115568"/>
            <a:ext cx="3840480" cy="3520440"/>
          </a:xfrm>
          <a:prstGeom prst="rect">
            <a:avLst/>
          </a:prstGeom>
          <a:solidFill>
            <a:srgbClr val="FFFFFF"/>
          </a:solidFill>
          <a:ln w="12700">
            <a:solidFill>
              <a:srgbClr val="C8DFE8"/>
            </a:solidFill>
            <a:prstDash val="solid"/>
          </a:ln>
          <a:effectLst>
            <a:outerShdw sx="100000" sy="100000" kx="0" ky="0" algn="bl" rotWithShape="0" blurRad="101600" dist="38100" dir="8100000">
              <a:srgbClr val="000000">
                <a:alpha val="9000"/>
              </a:srgbClr>
            </a:outerShdw>
          </a:effectLst>
        </p:spPr>
      </p:sp>
      <p:sp>
        <p:nvSpPr>
          <p:cNvPr id="6" name="Shape 4"/>
          <p:cNvSpPr/>
          <p:nvPr/>
        </p:nvSpPr>
        <p:spPr>
          <a:xfrm>
            <a:off x="320040" y="1115568"/>
            <a:ext cx="3840480" cy="457200"/>
          </a:xfrm>
          <a:prstGeom prst="rect">
            <a:avLst/>
          </a:prstGeom>
          <a:solidFill>
            <a:srgbClr val="E05252"/>
          </a:solidFill>
          <a:ln w="12700">
            <a:solidFill>
              <a:srgbClr val="E05252"/>
            </a:solidFill>
            <a:prstDash val="solid"/>
          </a:ln>
        </p:spPr>
      </p:sp>
      <p:sp>
        <p:nvSpPr>
          <p:cNvPr id="7" name="Text 5"/>
          <p:cNvSpPr/>
          <p:nvPr/>
        </p:nvSpPr>
        <p:spPr>
          <a:xfrm>
            <a:off x="502920" y="1115568"/>
            <a:ext cx="34747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Human-First Mindset</a:t>
            </a:r>
            <a:endParaRPr lang="en-US" sz="1400" dirty="0"/>
          </a:p>
        </p:txBody>
      </p:sp>
      <p:sp>
        <p:nvSpPr>
          <p:cNvPr id="8" name="Text 6"/>
          <p:cNvSpPr/>
          <p:nvPr/>
        </p:nvSpPr>
        <p:spPr>
          <a:xfrm>
            <a:off x="502920" y="1664208"/>
            <a:ext cx="3520440" cy="2743200"/>
          </a:xfrm>
          <a:prstGeom prst="rect">
            <a:avLst/>
          </a:prstGeom>
          <a:noFill/>
          <a:ln/>
        </p:spPr>
        <p:txBody>
          <a:bodyPr wrap="square" lIns="0" tIns="0" rIns="0" bIns="0" rtlCol="0" anchor="t"/>
          <a:lstStyle/>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Column names abbreviated — report title gives context</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Measures named GM% or NR_LY_Adj — visual label clarifies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Descriptions optional — developer knows what things mean</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Hidden columns are whatever was left over from a cleanup</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Display folders are an afterthought, not a navigation system</a:t>
            </a:r>
            <a:endParaRPr lang="en-US" sz="1100" dirty="0"/>
          </a:p>
        </p:txBody>
      </p:sp>
      <p:sp>
        <p:nvSpPr>
          <p:cNvPr id="9" name="Shape 7"/>
          <p:cNvSpPr/>
          <p:nvPr/>
        </p:nvSpPr>
        <p:spPr>
          <a:xfrm>
            <a:off x="4983480" y="1115568"/>
            <a:ext cx="3840480" cy="3520440"/>
          </a:xfrm>
          <a:prstGeom prst="rect">
            <a:avLst/>
          </a:prstGeom>
          <a:solidFill>
            <a:srgbClr val="FFFFFF"/>
          </a:solidFill>
          <a:ln w="12700">
            <a:solidFill>
              <a:srgbClr val="C8DFE8"/>
            </a:solidFill>
            <a:prstDash val="solid"/>
          </a:ln>
          <a:effectLst>
            <a:outerShdw sx="100000" sy="100000" kx="0" ky="0" algn="bl" rotWithShape="0" blurRad="1290320000" dist="483870000" dir="486000000000">
              <a:srgbClr val="000000">
                <a:alpha val="900000000"/>
              </a:srgbClr>
            </a:outerShdw>
          </a:effectLst>
        </p:spPr>
      </p:sp>
      <p:sp>
        <p:nvSpPr>
          <p:cNvPr id="10" name="Shape 8"/>
          <p:cNvSpPr/>
          <p:nvPr/>
        </p:nvSpPr>
        <p:spPr>
          <a:xfrm>
            <a:off x="4983480" y="1115568"/>
            <a:ext cx="3840480" cy="457200"/>
          </a:xfrm>
          <a:prstGeom prst="rect">
            <a:avLst/>
          </a:prstGeom>
          <a:solidFill>
            <a:srgbClr val="02C39A"/>
          </a:solidFill>
          <a:ln w="12700">
            <a:solidFill>
              <a:srgbClr val="02C39A"/>
            </a:solidFill>
            <a:prstDash val="solid"/>
          </a:ln>
        </p:spPr>
      </p:sp>
      <p:sp>
        <p:nvSpPr>
          <p:cNvPr id="11" name="Text 9"/>
          <p:cNvSpPr/>
          <p:nvPr/>
        </p:nvSpPr>
        <p:spPr>
          <a:xfrm>
            <a:off x="5166360" y="1115568"/>
            <a:ext cx="3474720" cy="457200"/>
          </a:xfrm>
          <a:prstGeom prst="rect">
            <a:avLst/>
          </a:prstGeom>
          <a:noFill/>
          <a:ln/>
        </p:spPr>
        <p:txBody>
          <a:bodyPr wrap="square" lIns="0" tIns="0" rIns="0" bIns="0" rtlCol="0" anchor="ctr"/>
          <a:lstStyle/>
          <a:p>
            <a:pPr algn="l" indent="0" marL="0">
              <a:buNone/>
            </a:pPr>
            <a:r>
              <a:rPr lang="en-US" sz="1400" b="1" dirty="0">
                <a:solidFill>
                  <a:srgbClr val="0D2137"/>
                </a:solidFill>
                <a:latin typeface="Calibri" pitchFamily="34" charset="0"/>
                <a:ea typeface="Calibri" pitchFamily="34" charset="-122"/>
                <a:cs typeface="Calibri" pitchFamily="34" charset="-120"/>
              </a:rPr>
              <a:t>AI-Ready Mindset</a:t>
            </a:r>
            <a:endParaRPr lang="en-US" sz="1400" dirty="0"/>
          </a:p>
        </p:txBody>
      </p:sp>
      <p:sp>
        <p:nvSpPr>
          <p:cNvPr id="12" name="Text 10"/>
          <p:cNvSpPr/>
          <p:nvPr/>
        </p:nvSpPr>
        <p:spPr>
          <a:xfrm>
            <a:off x="5166360" y="1664208"/>
            <a:ext cx="3520440" cy="2743200"/>
          </a:xfrm>
          <a:prstGeom prst="rect">
            <a:avLst/>
          </a:prstGeom>
          <a:noFill/>
          <a:ln/>
        </p:spPr>
        <p:txBody>
          <a:bodyPr wrap="square" lIns="0" tIns="0" rIns="0" bIns="0" rtlCol="0" anchor="t"/>
          <a:lstStyle/>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Every measure has a description: what it calculates, what filters it respects, what question it answers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Naming is business-readable, consistent, and unambiguous across all tables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Display folders are logical navigation — both humans and AI can find measures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Hidden columns are deliberately curated, not accidental</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The model can explain itself without a human narrator</a:t>
            </a:r>
            <a:endParaRPr lang="en-US" sz="1100" dirty="0"/>
          </a:p>
        </p:txBody>
      </p:sp>
      <p:pic>
        <p:nvPicPr>
          <p:cNvPr id="13" name="Image 0" descr="preencoded.png">    </p:cNvPr>
          <p:cNvPicPr>
            <a:picLocks noChangeAspect="1"/>
          </p:cNvPicPr>
          <p:nvPr/>
        </p:nvPicPr>
        <p:blipFill>
          <a:blip r:embed="rId1"/>
          <a:stretch>
            <a:fillRect/>
          </a:stretch>
        </p:blipFill>
        <p:spPr>
          <a:xfrm>
            <a:off x="4297680" y="2560320"/>
            <a:ext cx="548640" cy="548640"/>
          </a:xfrm>
          <a:prstGeom prst="rect">
            <a:avLst/>
          </a:prstGeom>
        </p:spPr>
      </p:pic>
      <p:sp>
        <p:nvSpPr>
          <p:cNvPr id="14" name="Shape 11"/>
          <p:cNvSpPr/>
          <p:nvPr/>
        </p:nvSpPr>
        <p:spPr>
          <a:xfrm>
            <a:off x="0" y="4818888"/>
            <a:ext cx="9144000" cy="324612"/>
          </a:xfrm>
          <a:prstGeom prst="rect">
            <a:avLst/>
          </a:prstGeom>
          <a:solidFill>
            <a:srgbClr val="065A82"/>
          </a:solidFill>
          <a:ln w="12700">
            <a:solidFill>
              <a:srgbClr val="065A82"/>
            </a:solidFill>
            <a:prstDash val="solid"/>
          </a:ln>
        </p:spPr>
      </p:sp>
      <p:sp>
        <p:nvSpPr>
          <p:cNvPr id="15" name="Text 12"/>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If your model can't explain itself without a human narrator, it's not AI-ready.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C7293"/>
          </a:solidFill>
          <a:ln w="12700">
            <a:solidFill>
              <a:srgbClr val="1C7293"/>
            </a:solidFill>
            <a:prstDash val="solid"/>
          </a:ln>
        </p:spPr>
      </p:sp>
      <p:sp>
        <p:nvSpPr>
          <p:cNvPr id="3" name="Shape 1"/>
          <p:cNvSpPr/>
          <p:nvPr/>
        </p:nvSpPr>
        <p:spPr>
          <a:xfrm>
            <a:off x="2926080" y="0"/>
            <a:ext cx="274320" cy="5143500"/>
          </a:xfrm>
          <a:prstGeom prst="rect">
            <a:avLst/>
          </a:prstGeom>
          <a:solidFill>
            <a:srgbClr val="1C7293"/>
          </a:solidFill>
          <a:ln w="12700">
            <a:solidFill>
              <a:srgbClr val="1C7293"/>
            </a:solidFill>
            <a:prstDash val="solid"/>
          </a:ln>
        </p:spPr>
      </p:sp>
      <p:sp>
        <p:nvSpPr>
          <p:cNvPr id="4" name="Text 2"/>
          <p:cNvSpPr/>
          <p:nvPr/>
        </p:nvSpPr>
        <p:spPr>
          <a:xfrm>
            <a:off x="274320" y="914400"/>
            <a:ext cx="2377440" cy="457200"/>
          </a:xfrm>
          <a:prstGeom prst="rect">
            <a:avLst/>
          </a:prstGeom>
          <a:noFill/>
          <a:ln/>
        </p:spPr>
        <p:txBody>
          <a:bodyPr wrap="square" lIns="0" tIns="0" rIns="0" bIns="0" rtlCol="0" anchor="ctr"/>
          <a:lstStyle/>
          <a:p>
            <a:pPr algn="ctr" indent="0" marL="0">
              <a:buNone/>
            </a:pPr>
            <a:r>
              <a:rPr lang="en-US" sz="1100" b="1" spc="500" kern="0" dirty="0">
                <a:solidFill>
                  <a:srgbClr val="FFFFFF"/>
                </a:solidFill>
                <a:latin typeface="Calibri" pitchFamily="34" charset="0"/>
                <a:ea typeface="Calibri" pitchFamily="34" charset="-122"/>
                <a:cs typeface="Calibri" pitchFamily="34" charset="-120"/>
              </a:rPr>
              <a:t>WEEK</a:t>
            </a:r>
            <a:endParaRPr lang="en-US" sz="1100" dirty="0"/>
          </a:p>
        </p:txBody>
      </p:sp>
      <p:sp>
        <p:nvSpPr>
          <p:cNvPr id="5" name="Text 3"/>
          <p:cNvSpPr/>
          <p:nvPr/>
        </p:nvSpPr>
        <p:spPr>
          <a:xfrm>
            <a:off x="274320" y="1280160"/>
            <a:ext cx="2377440" cy="1463040"/>
          </a:xfrm>
          <a:prstGeom prst="rect">
            <a:avLst/>
          </a:prstGeom>
          <a:noFill/>
          <a:ln/>
        </p:spPr>
        <p:txBody>
          <a:bodyPr wrap="square" lIns="0" tIns="0" rIns="0" bIns="0" rtlCol="0" anchor="ctr"/>
          <a:lstStyle/>
          <a:p>
            <a:pPr algn="ctr" indent="0" marL="0">
              <a:buNone/>
            </a:pPr>
            <a:r>
              <a:rPr lang="en-US" sz="9600" b="1" dirty="0">
                <a:solidFill>
                  <a:srgbClr val="FFFFFF"/>
                </a:solidFill>
                <a:latin typeface="Calibri" pitchFamily="34" charset="0"/>
                <a:ea typeface="Calibri" pitchFamily="34" charset="-122"/>
                <a:cs typeface="Calibri" pitchFamily="34" charset="-120"/>
              </a:rPr>
              <a:t>2</a:t>
            </a:r>
            <a:endParaRPr lang="en-US" sz="9600" dirty="0"/>
          </a:p>
        </p:txBody>
      </p:sp>
      <p:sp>
        <p:nvSpPr>
          <p:cNvPr id="6" name="Text 4"/>
          <p:cNvSpPr/>
          <p:nvPr/>
        </p:nvSpPr>
        <p:spPr>
          <a:xfrm>
            <a:off x="3383280" y="1280160"/>
            <a:ext cx="539496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Getting Your Model Copilot-Ready</a:t>
            </a:r>
            <a:endParaRPr lang="en-US" sz="2800" dirty="0"/>
          </a:p>
        </p:txBody>
      </p:sp>
      <p:sp>
        <p:nvSpPr>
          <p:cNvPr id="7" name="Text 5"/>
          <p:cNvSpPr/>
          <p:nvPr/>
        </p:nvSpPr>
        <p:spPr>
          <a:xfrm>
            <a:off x="3383280" y="2286000"/>
            <a:ext cx="5394960" cy="548640"/>
          </a:xfrm>
          <a:prstGeom prst="rect">
            <a:avLst/>
          </a:prstGeom>
          <a:noFill/>
          <a:ln/>
        </p:spPr>
        <p:txBody>
          <a:bodyPr wrap="square" lIns="0" tIns="0" rIns="0" bIns="0" rtlCol="0" anchor="ctr"/>
          <a:lstStyle/>
          <a:p>
            <a:pPr algn="l" indent="0" marL="0">
              <a:buNone/>
            </a:pPr>
            <a:r>
              <a:rPr lang="en-US" sz="1400" dirty="0">
                <a:solidFill>
                  <a:srgbClr val="8BAFC2"/>
                </a:solidFill>
                <a:latin typeface="Calibri" pitchFamily="34" charset="0"/>
                <a:ea typeface="Calibri" pitchFamily="34" charset="-122"/>
                <a:cs typeface="Calibri" pitchFamily="34" charset="-120"/>
              </a:rPr>
              <a:t>The metadata, naming, and structure standards that make AI work</a:t>
            </a:r>
            <a:endParaRPr lang="en-US" sz="1400" dirty="0"/>
          </a:p>
        </p:txBody>
      </p:sp>
      <p:sp>
        <p:nvSpPr>
          <p:cNvPr id="8" name="Shape 6"/>
          <p:cNvSpPr/>
          <p:nvPr/>
        </p:nvSpPr>
        <p:spPr>
          <a:xfrm>
            <a:off x="3383280" y="3017520"/>
            <a:ext cx="4572000" cy="36576"/>
          </a:xfrm>
          <a:prstGeom prst="rect">
            <a:avLst/>
          </a:prstGeom>
          <a:solidFill>
            <a:srgbClr val="1C7293"/>
          </a:solidFill>
          <a:ln w="12700">
            <a:solidFill>
              <a:srgbClr val="1C7293"/>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Descriptions, Synonyms &amp; Linguistic Schema</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The three layers that turn Copilot from “sort of works” to “understands your business”</a:t>
            </a:r>
            <a:endParaRPr lang="en-US" sz="1200" dirty="0"/>
          </a:p>
        </p:txBody>
      </p:sp>
      <p:sp>
        <p:nvSpPr>
          <p:cNvPr id="5" name="Shape 3"/>
          <p:cNvSpPr/>
          <p:nvPr/>
        </p:nvSpPr>
        <p:spPr>
          <a:xfrm>
            <a:off x="365760" y="1143000"/>
            <a:ext cx="8412480" cy="1115568"/>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6" name="Shape 4"/>
          <p:cNvSpPr/>
          <p:nvPr/>
        </p:nvSpPr>
        <p:spPr>
          <a:xfrm>
            <a:off x="365760" y="1143000"/>
            <a:ext cx="502920" cy="1115568"/>
          </a:xfrm>
          <a:prstGeom prst="rect">
            <a:avLst/>
          </a:prstGeom>
          <a:solidFill>
            <a:srgbClr val="065A82"/>
          </a:solidFill>
          <a:ln w="12700">
            <a:solidFill>
              <a:srgbClr val="065A82"/>
            </a:solidFill>
            <a:prstDash val="solid"/>
          </a:ln>
        </p:spPr>
      </p:sp>
      <p:sp>
        <p:nvSpPr>
          <p:cNvPr id="7" name="Text 5"/>
          <p:cNvSpPr/>
          <p:nvPr/>
        </p:nvSpPr>
        <p:spPr>
          <a:xfrm>
            <a:off x="365760" y="1143000"/>
            <a:ext cx="502920" cy="11155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005840" y="1216152"/>
            <a:ext cx="3931920" cy="320040"/>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Descriptions — The Minimum</a:t>
            </a:r>
            <a:endParaRPr lang="en-US" sz="1300" dirty="0"/>
          </a:p>
        </p:txBody>
      </p:sp>
      <p:sp>
        <p:nvSpPr>
          <p:cNvPr id="9" name="Text 7"/>
          <p:cNvSpPr/>
          <p:nvPr/>
        </p:nvSpPr>
        <p:spPr>
          <a:xfrm>
            <a:off x="1005840" y="1545336"/>
            <a:ext cx="4206240" cy="65836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The most impactful metadata field for AI readiness. Copilot reads measure and column descriptions to understand what things mean. An empty description forces the AI to infer from the name alone.</a:t>
            </a:r>
            <a:endParaRPr lang="en-US" sz="950" dirty="0"/>
          </a:p>
          <a:p>
            <a:pPr algn="l" indent="0" marL="0">
              <a:buNone/>
            </a:pPr>
            <a:endParaRPr lang="en-US" sz="950" dirty="0"/>
          </a:p>
          <a:p>
            <a:pPr algn="l" indent="0" marL="0">
              <a:buNone/>
            </a:pPr>
            <a:r>
              <a:rPr lang="en-US" sz="950" dirty="0">
                <a:solidFill>
                  <a:srgbClr val="2C4A5E"/>
                </a:solidFill>
                <a:latin typeface="Calibri" pitchFamily="34" charset="0"/>
                <a:ea typeface="Calibri" pitchFamily="34" charset="-122"/>
                <a:cs typeface="Calibri" pitchFamily="34" charset="-120"/>
              </a:rPr>
              <a:t>Good pattern: what the measure calculates · what filters it respects · what business question it answers.</a:t>
            </a:r>
            <a:endParaRPr lang="en-US" sz="950" dirty="0"/>
          </a:p>
        </p:txBody>
      </p:sp>
      <p:sp>
        <p:nvSpPr>
          <p:cNvPr id="10" name="Shape 8"/>
          <p:cNvSpPr/>
          <p:nvPr/>
        </p:nvSpPr>
        <p:spPr>
          <a:xfrm>
            <a:off x="5394960" y="1234440"/>
            <a:ext cx="3246120" cy="932688"/>
          </a:xfrm>
          <a:prstGeom prst="rect">
            <a:avLst/>
          </a:prstGeom>
          <a:solidFill>
            <a:srgbClr val="065A82"/>
          </a:solidFill>
          <a:ln w="12700">
            <a:solidFill>
              <a:srgbClr val="065A82"/>
            </a:solidFill>
            <a:prstDash val="solid"/>
          </a:ln>
        </p:spPr>
      </p:sp>
      <p:sp>
        <p:nvSpPr>
          <p:cNvPr id="11" name="Text 9"/>
          <p:cNvSpPr/>
          <p:nvPr/>
        </p:nvSpPr>
        <p:spPr>
          <a:xfrm>
            <a:off x="5532120" y="1234440"/>
            <a:ext cx="3017520" cy="228600"/>
          </a:xfrm>
          <a:prstGeom prst="rect">
            <a:avLst/>
          </a:prstGeom>
          <a:noFill/>
          <a:ln/>
        </p:spPr>
        <p:txBody>
          <a:bodyPr wrap="square" lIns="0" tIns="0" rIns="0" bIns="0" rtlCol="0" anchor="ctr"/>
          <a:lstStyle/>
          <a:p>
            <a:pPr algn="l" indent="0" marL="0">
              <a:buNone/>
            </a:pPr>
            <a:r>
              <a:rPr lang="en-US" sz="800" b="1" dirty="0">
                <a:solidFill>
                  <a:srgbClr val="065A82"/>
                </a:solidFill>
                <a:latin typeface="Calibri" pitchFamily="34" charset="0"/>
                <a:ea typeface="Calibri" pitchFamily="34" charset="-122"/>
                <a:cs typeface="Calibri" pitchFamily="34" charset="-120"/>
              </a:rPr>
              <a:t>Example</a:t>
            </a:r>
            <a:endParaRPr lang="en-US" sz="800" dirty="0"/>
          </a:p>
        </p:txBody>
      </p:sp>
      <p:sp>
        <p:nvSpPr>
          <p:cNvPr id="12" name="Text 10"/>
          <p:cNvSpPr/>
          <p:nvPr/>
        </p:nvSpPr>
        <p:spPr>
          <a:xfrm>
            <a:off x="5532120" y="1453896"/>
            <a:ext cx="3017520" cy="658368"/>
          </a:xfrm>
          <a:prstGeom prst="rect">
            <a:avLst/>
          </a:prstGeom>
          <a:noFill/>
          <a:ln/>
        </p:spPr>
        <p:txBody>
          <a:bodyPr wrap="square" lIns="0" tIns="0" rIns="0" bIns="0" rtlCol="0" anchor="t"/>
          <a:lstStyle/>
          <a:p>
            <a:pPr algn="l" indent="0" marL="0">
              <a:buNone/>
            </a:pPr>
            <a:r>
              <a:rPr lang="en-US" sz="950" i="1" dirty="0">
                <a:solidFill>
                  <a:srgbClr val="2C4A5E"/>
                </a:solidFill>
                <a:latin typeface="Calibri" pitchFamily="34" charset="0"/>
                <a:ea typeface="Calibri" pitchFamily="34" charset="-122"/>
                <a:cs typeface="Calibri" pitchFamily="34" charset="-120"/>
              </a:rPr>
              <a:t>"Calculates gross margin % as (Revenue - COGS) / Revenue. Respects all slicer context. Use for profitability analysis."</a:t>
            </a:r>
            <a:endParaRPr lang="en-US" sz="950" dirty="0"/>
          </a:p>
        </p:txBody>
      </p:sp>
      <p:sp>
        <p:nvSpPr>
          <p:cNvPr id="13" name="Shape 11"/>
          <p:cNvSpPr/>
          <p:nvPr/>
        </p:nvSpPr>
        <p:spPr>
          <a:xfrm>
            <a:off x="365760" y="2377440"/>
            <a:ext cx="8412480" cy="1115568"/>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14" name="Shape 12"/>
          <p:cNvSpPr/>
          <p:nvPr/>
        </p:nvSpPr>
        <p:spPr>
          <a:xfrm>
            <a:off x="365760" y="2377440"/>
            <a:ext cx="502920" cy="1115568"/>
          </a:xfrm>
          <a:prstGeom prst="rect">
            <a:avLst/>
          </a:prstGeom>
          <a:solidFill>
            <a:srgbClr val="1C7293"/>
          </a:solidFill>
          <a:ln w="12700">
            <a:solidFill>
              <a:srgbClr val="1C7293"/>
            </a:solidFill>
            <a:prstDash val="solid"/>
          </a:ln>
        </p:spPr>
      </p:sp>
      <p:sp>
        <p:nvSpPr>
          <p:cNvPr id="15" name="Text 13"/>
          <p:cNvSpPr/>
          <p:nvPr/>
        </p:nvSpPr>
        <p:spPr>
          <a:xfrm>
            <a:off x="365760" y="2377440"/>
            <a:ext cx="502920" cy="11155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6" name="Text 14"/>
          <p:cNvSpPr/>
          <p:nvPr/>
        </p:nvSpPr>
        <p:spPr>
          <a:xfrm>
            <a:off x="1005840" y="2450592"/>
            <a:ext cx="3931920" cy="320040"/>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Synonyms — The Multiplier</a:t>
            </a:r>
            <a:endParaRPr lang="en-US" sz="1300" dirty="0"/>
          </a:p>
        </p:txBody>
      </p:sp>
      <p:sp>
        <p:nvSpPr>
          <p:cNvPr id="17" name="Text 15"/>
          <p:cNvSpPr/>
          <p:nvPr/>
        </p:nvSpPr>
        <p:spPr>
          <a:xfrm>
            <a:off x="1005840" y="2779776"/>
            <a:ext cx="4206240" cy="65836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Allows Copilot to map natural language queries to model objects. If your measure is called Revenue but users say “sales” or “turnover,” synonyms bridge that gap.</a:t>
            </a:r>
            <a:endParaRPr lang="en-US" sz="950" dirty="0"/>
          </a:p>
          <a:p>
            <a:pPr algn="l" indent="0" marL="0">
              <a:buNone/>
            </a:pPr>
            <a:endParaRPr lang="en-US" sz="950" dirty="0"/>
          </a:p>
          <a:p>
            <a:pPr algn="l" indent="0" marL="0">
              <a:buNone/>
            </a:pPr>
            <a:r>
              <a:rPr lang="en-US" sz="950" dirty="0">
                <a:solidFill>
                  <a:srgbClr val="2C4A5E"/>
                </a:solidFill>
                <a:latin typeface="Calibri" pitchFamily="34" charset="0"/>
                <a:ea typeface="Calibri" pitchFamily="34" charset="-122"/>
                <a:cs typeface="Calibri" pitchFamily="34" charset="-120"/>
              </a:rPr>
              <a:t>Without synonyms, Copilot either guesses wrong or returns nothing.</a:t>
            </a:r>
            <a:endParaRPr lang="en-US" sz="950" dirty="0"/>
          </a:p>
        </p:txBody>
      </p:sp>
      <p:sp>
        <p:nvSpPr>
          <p:cNvPr id="18" name="Shape 16"/>
          <p:cNvSpPr/>
          <p:nvPr/>
        </p:nvSpPr>
        <p:spPr>
          <a:xfrm>
            <a:off x="5394960" y="2468880"/>
            <a:ext cx="3246120" cy="932688"/>
          </a:xfrm>
          <a:prstGeom prst="rect">
            <a:avLst/>
          </a:prstGeom>
          <a:solidFill>
            <a:srgbClr val="1C7293"/>
          </a:solidFill>
          <a:ln w="12700">
            <a:solidFill>
              <a:srgbClr val="1C7293"/>
            </a:solidFill>
            <a:prstDash val="solid"/>
          </a:ln>
        </p:spPr>
      </p:sp>
      <p:sp>
        <p:nvSpPr>
          <p:cNvPr id="19" name="Text 17"/>
          <p:cNvSpPr/>
          <p:nvPr/>
        </p:nvSpPr>
        <p:spPr>
          <a:xfrm>
            <a:off x="5532120" y="2468880"/>
            <a:ext cx="3017520" cy="228600"/>
          </a:xfrm>
          <a:prstGeom prst="rect">
            <a:avLst/>
          </a:prstGeom>
          <a:noFill/>
          <a:ln/>
        </p:spPr>
        <p:txBody>
          <a:bodyPr wrap="square" lIns="0" tIns="0" rIns="0" bIns="0" rtlCol="0" anchor="ctr"/>
          <a:lstStyle/>
          <a:p>
            <a:pPr algn="l" indent="0" marL="0">
              <a:buNone/>
            </a:pPr>
            <a:r>
              <a:rPr lang="en-US" sz="800" b="1" dirty="0">
                <a:solidFill>
                  <a:srgbClr val="1C7293"/>
                </a:solidFill>
                <a:latin typeface="Calibri" pitchFamily="34" charset="0"/>
                <a:ea typeface="Calibri" pitchFamily="34" charset="-122"/>
                <a:cs typeface="Calibri" pitchFamily="34" charset="-120"/>
              </a:rPr>
              <a:t>Example</a:t>
            </a:r>
            <a:endParaRPr lang="en-US" sz="800" dirty="0"/>
          </a:p>
        </p:txBody>
      </p:sp>
      <p:sp>
        <p:nvSpPr>
          <p:cNvPr id="20" name="Text 18"/>
          <p:cNvSpPr/>
          <p:nvPr/>
        </p:nvSpPr>
        <p:spPr>
          <a:xfrm>
            <a:off x="5532120" y="2688336"/>
            <a:ext cx="3017520" cy="658368"/>
          </a:xfrm>
          <a:prstGeom prst="rect">
            <a:avLst/>
          </a:prstGeom>
          <a:noFill/>
          <a:ln/>
        </p:spPr>
        <p:txBody>
          <a:bodyPr wrap="square" lIns="0" tIns="0" rIns="0" bIns="0" rtlCol="0" anchor="t"/>
          <a:lstStyle/>
          <a:p>
            <a:pPr algn="l" indent="0" marL="0">
              <a:buNone/>
            </a:pPr>
            <a:r>
              <a:rPr lang="en-US" sz="950" i="1" dirty="0">
                <a:solidFill>
                  <a:srgbClr val="2C4A5E"/>
                </a:solidFill>
                <a:latin typeface="Calibri" pitchFamily="34" charset="0"/>
                <a:ea typeface="Calibri" pitchFamily="34" charset="-122"/>
                <a:cs typeface="Calibri" pitchFamily="34" charset="-120"/>
              </a:rPr>
              <a:t>Revenue → synonyms: sales, turnover, income, top line</a:t>
            </a:r>
            <a:endParaRPr lang="en-US" sz="950" dirty="0"/>
          </a:p>
        </p:txBody>
      </p:sp>
      <p:sp>
        <p:nvSpPr>
          <p:cNvPr id="21" name="Shape 19"/>
          <p:cNvSpPr/>
          <p:nvPr/>
        </p:nvSpPr>
        <p:spPr>
          <a:xfrm>
            <a:off x="365760" y="3611880"/>
            <a:ext cx="8412480" cy="1115568"/>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22" name="Shape 20"/>
          <p:cNvSpPr/>
          <p:nvPr/>
        </p:nvSpPr>
        <p:spPr>
          <a:xfrm>
            <a:off x="365760" y="3611880"/>
            <a:ext cx="502920" cy="1115568"/>
          </a:xfrm>
          <a:prstGeom prst="rect">
            <a:avLst/>
          </a:prstGeom>
          <a:solidFill>
            <a:srgbClr val="028090"/>
          </a:solidFill>
          <a:ln w="12700">
            <a:solidFill>
              <a:srgbClr val="028090"/>
            </a:solidFill>
            <a:prstDash val="solid"/>
          </a:ln>
        </p:spPr>
      </p:sp>
      <p:sp>
        <p:nvSpPr>
          <p:cNvPr id="23" name="Text 21"/>
          <p:cNvSpPr/>
          <p:nvPr/>
        </p:nvSpPr>
        <p:spPr>
          <a:xfrm>
            <a:off x="365760" y="3611880"/>
            <a:ext cx="502920" cy="11155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4" name="Text 22"/>
          <p:cNvSpPr/>
          <p:nvPr/>
        </p:nvSpPr>
        <p:spPr>
          <a:xfrm>
            <a:off x="1005840" y="3685032"/>
            <a:ext cx="3931920" cy="320040"/>
          </a:xfrm>
          <a:prstGeom prst="rect">
            <a:avLst/>
          </a:prstGeom>
          <a:noFill/>
          <a:ln/>
        </p:spPr>
        <p:txBody>
          <a:bodyPr wrap="square" lIns="0" tIns="0" rIns="0" bIns="0" rtlCol="0" anchor="ctr"/>
          <a:lstStyle/>
          <a:p>
            <a:pPr algn="l" indent="0" marL="0">
              <a:buNone/>
            </a:pPr>
            <a:r>
              <a:rPr lang="en-US" sz="1300" b="1" dirty="0">
                <a:solidFill>
                  <a:srgbClr val="0D2137"/>
                </a:solidFill>
                <a:latin typeface="Calibri" pitchFamily="34" charset="0"/>
                <a:ea typeface="Calibri" pitchFamily="34" charset="-122"/>
                <a:cs typeface="Calibri" pitchFamily="34" charset="-120"/>
              </a:rPr>
              <a:t>Linguistic Schema — The Polish</a:t>
            </a:r>
            <a:endParaRPr lang="en-US" sz="1300" dirty="0"/>
          </a:p>
        </p:txBody>
      </p:sp>
      <p:sp>
        <p:nvSpPr>
          <p:cNvPr id="25" name="Text 23"/>
          <p:cNvSpPr/>
          <p:nvPr/>
        </p:nvSpPr>
        <p:spPr>
          <a:xfrm>
            <a:off x="1005840" y="4014216"/>
            <a:ext cx="4206240" cy="65836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The full Q&amp;A configuration layer. Defines how Copilot interprets phrases, maps them to tables and columns, and resolves ambiguity.</a:t>
            </a:r>
            <a:endParaRPr lang="en-US" sz="950" dirty="0"/>
          </a:p>
          <a:p>
            <a:pPr algn="l" indent="0" marL="0">
              <a:buNone/>
            </a:pPr>
            <a:endParaRPr lang="en-US" sz="950" dirty="0"/>
          </a:p>
          <a:p>
            <a:pPr algn="l" indent="0" marL="0">
              <a:buNone/>
            </a:pPr>
            <a:r>
              <a:rPr lang="en-US" sz="950" dirty="0">
                <a:solidFill>
                  <a:srgbClr val="2C4A5E"/>
                </a:solidFill>
                <a:latin typeface="Calibri" pitchFamily="34" charset="0"/>
                <a:ea typeface="Calibri" pitchFamily="34" charset="-122"/>
                <a:cs typeface="Calibri" pitchFamily="34" charset="-120"/>
              </a:rPr>
              <a:t>Most teams skip this entirely. It's the difference between Copilot that “sort of works” and Copilot that feels like it understands your business.</a:t>
            </a:r>
            <a:endParaRPr lang="en-US" sz="950" dirty="0"/>
          </a:p>
        </p:txBody>
      </p:sp>
      <p:sp>
        <p:nvSpPr>
          <p:cNvPr id="26" name="Shape 24"/>
          <p:cNvSpPr/>
          <p:nvPr/>
        </p:nvSpPr>
        <p:spPr>
          <a:xfrm>
            <a:off x="5394960" y="3703320"/>
            <a:ext cx="3246120" cy="932688"/>
          </a:xfrm>
          <a:prstGeom prst="rect">
            <a:avLst/>
          </a:prstGeom>
          <a:solidFill>
            <a:srgbClr val="028090"/>
          </a:solidFill>
          <a:ln w="12700">
            <a:solidFill>
              <a:srgbClr val="028090"/>
            </a:solidFill>
            <a:prstDash val="solid"/>
          </a:ln>
        </p:spPr>
      </p:sp>
      <p:sp>
        <p:nvSpPr>
          <p:cNvPr id="27" name="Text 25"/>
          <p:cNvSpPr/>
          <p:nvPr/>
        </p:nvSpPr>
        <p:spPr>
          <a:xfrm>
            <a:off x="5532120" y="3703320"/>
            <a:ext cx="3017520" cy="228600"/>
          </a:xfrm>
          <a:prstGeom prst="rect">
            <a:avLst/>
          </a:prstGeom>
          <a:noFill/>
          <a:ln/>
        </p:spPr>
        <p:txBody>
          <a:bodyPr wrap="square" lIns="0" tIns="0" rIns="0" bIns="0" rtlCol="0" anchor="ctr"/>
          <a:lstStyle/>
          <a:p>
            <a:pPr algn="l" indent="0" marL="0">
              <a:buNone/>
            </a:pPr>
            <a:r>
              <a:rPr lang="en-US" sz="800" b="1" dirty="0">
                <a:solidFill>
                  <a:srgbClr val="028090"/>
                </a:solidFill>
                <a:latin typeface="Calibri" pitchFamily="34" charset="0"/>
                <a:ea typeface="Calibri" pitchFamily="34" charset="-122"/>
                <a:cs typeface="Calibri" pitchFamily="34" charset="-120"/>
              </a:rPr>
              <a:t>Example</a:t>
            </a:r>
            <a:endParaRPr lang="en-US" sz="800" dirty="0"/>
          </a:p>
        </p:txBody>
      </p:sp>
      <p:sp>
        <p:nvSpPr>
          <p:cNvPr id="28" name="Text 26"/>
          <p:cNvSpPr/>
          <p:nvPr/>
        </p:nvSpPr>
        <p:spPr>
          <a:xfrm>
            <a:off x="5532120" y="3922776"/>
            <a:ext cx="3017520" cy="658368"/>
          </a:xfrm>
          <a:prstGeom prst="rect">
            <a:avLst/>
          </a:prstGeom>
          <a:noFill/>
          <a:ln/>
        </p:spPr>
        <p:txBody>
          <a:bodyPr wrap="square" lIns="0" tIns="0" rIns="0" bIns="0" rtlCol="0" anchor="t"/>
          <a:lstStyle/>
          <a:p>
            <a:pPr algn="l" indent="0" marL="0">
              <a:buNone/>
            </a:pPr>
            <a:r>
              <a:rPr lang="en-US" sz="950" i="1" dirty="0">
                <a:solidFill>
                  <a:srgbClr val="2C4A5E"/>
                </a:solidFill>
                <a:latin typeface="Calibri" pitchFamily="34" charset="0"/>
                <a:ea typeface="Calibri" pitchFamily="34" charset="-122"/>
                <a:cs typeface="Calibri" pitchFamily="34" charset="-120"/>
              </a:rPr>
              <a:t>Maps "show me sales by region" → [Revenue] sliced by [Geography][Region]</a:t>
            </a:r>
            <a:endParaRPr lang="en-US" sz="950" dirty="0"/>
          </a:p>
        </p:txBody>
      </p:sp>
      <p:sp>
        <p:nvSpPr>
          <p:cNvPr id="29" name="Shape 27"/>
          <p:cNvSpPr/>
          <p:nvPr/>
        </p:nvSpPr>
        <p:spPr>
          <a:xfrm>
            <a:off x="0" y="4818888"/>
            <a:ext cx="9144000" cy="324612"/>
          </a:xfrm>
          <a:prstGeom prst="rect">
            <a:avLst/>
          </a:prstGeom>
          <a:solidFill>
            <a:srgbClr val="1C7293"/>
          </a:solidFill>
          <a:ln w="12700">
            <a:solidFill>
              <a:srgbClr val="1C7293"/>
            </a:solidFill>
            <a:prstDash val="solid"/>
          </a:ln>
        </p:spPr>
      </p:sp>
      <p:sp>
        <p:nvSpPr>
          <p:cNvPr id="30" name="Text 28"/>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Descriptions are the minimum. Synonyms are the multiplier. Linguistic schema is the polish.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Naming Conventions &amp; Consistency</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AI models are pattern matchers — consistent naming helps them recognise relationships between objects</a:t>
            </a:r>
            <a:endParaRPr lang="en-US" sz="1200" dirty="0"/>
          </a:p>
        </p:txBody>
      </p:sp>
      <p:sp>
        <p:nvSpPr>
          <p:cNvPr id="5" name="Shape 3"/>
          <p:cNvSpPr/>
          <p:nvPr/>
        </p:nvSpPr>
        <p:spPr>
          <a:xfrm>
            <a:off x="365760" y="1097280"/>
            <a:ext cx="4114800" cy="26060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6" name="Shape 4"/>
          <p:cNvSpPr/>
          <p:nvPr/>
        </p:nvSpPr>
        <p:spPr>
          <a:xfrm>
            <a:off x="365760" y="1097280"/>
            <a:ext cx="4114800" cy="347472"/>
          </a:xfrm>
          <a:prstGeom prst="rect">
            <a:avLst/>
          </a:prstGeom>
          <a:solidFill>
            <a:srgbClr val="1C7293"/>
          </a:solidFill>
          <a:ln w="12700">
            <a:solidFill>
              <a:srgbClr val="1C7293"/>
            </a:solidFill>
            <a:prstDash val="solid"/>
          </a:ln>
        </p:spPr>
      </p:sp>
      <p:sp>
        <p:nvSpPr>
          <p:cNvPr id="7" name="Text 5"/>
          <p:cNvSpPr/>
          <p:nvPr/>
        </p:nvSpPr>
        <p:spPr>
          <a:xfrm>
            <a:off x="548640" y="1097280"/>
            <a:ext cx="384048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Standards to Enforce</a:t>
            </a:r>
            <a:endParaRPr lang="en-US" sz="1300" dirty="0"/>
          </a:p>
        </p:txBody>
      </p:sp>
      <p:sp>
        <p:nvSpPr>
          <p:cNvPr id="8" name="Text 6"/>
          <p:cNvSpPr/>
          <p:nvPr/>
        </p:nvSpPr>
        <p:spPr>
          <a:xfrm>
            <a:off x="548640" y="1508760"/>
            <a:ext cx="3794760" cy="2011680"/>
          </a:xfrm>
          <a:prstGeom prst="rect">
            <a:avLst/>
          </a:prstGeom>
          <a:noFill/>
          <a:ln/>
        </p:spPr>
        <p:txBody>
          <a:bodyPr wrap="square" lIns="0" tIns="0" rIns="0" bIns="0" rtlCol="0" anchor="t"/>
          <a:lstStyle/>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Measures: business-readable names, no abbreviations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Columns: consistent casing pattern throughout</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Tables: singular or plural — pick one and stick to it</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Date columns: standard suffix pattern (e.g. DateKey consistently)</a:t>
            </a:r>
            <a:endParaRPr lang="en-US" sz="1100" dirty="0"/>
          </a:p>
        </p:txBody>
      </p:sp>
      <p:sp>
        <p:nvSpPr>
          <p:cNvPr id="9" name="Shape 7"/>
          <p:cNvSpPr/>
          <p:nvPr/>
        </p:nvSpPr>
        <p:spPr>
          <a:xfrm>
            <a:off x="4663440" y="1097280"/>
            <a:ext cx="4114800" cy="2606040"/>
          </a:xfrm>
          <a:prstGeom prst="rect">
            <a:avLst/>
          </a:prstGeom>
          <a:solidFill>
            <a:srgbClr val="FFFFFF"/>
          </a:solidFill>
          <a:ln w="12700">
            <a:solidFill>
              <a:srgbClr val="C8DFE8"/>
            </a:solidFill>
            <a:prstDash val="solid"/>
          </a:ln>
          <a:effectLst>
            <a:outerShdw sx="100000" sy="100000" kx="0" ky="0" algn="bl" rotWithShape="0" blurRad="967740000" dist="483870000" dir="486000000000">
              <a:srgbClr val="000000">
                <a:alpha val="800000000"/>
              </a:srgbClr>
            </a:outerShdw>
          </a:effectLst>
        </p:spPr>
      </p:sp>
      <p:sp>
        <p:nvSpPr>
          <p:cNvPr id="10" name="Shape 8"/>
          <p:cNvSpPr/>
          <p:nvPr/>
        </p:nvSpPr>
        <p:spPr>
          <a:xfrm>
            <a:off x="4663440" y="1097280"/>
            <a:ext cx="4114800" cy="347472"/>
          </a:xfrm>
          <a:prstGeom prst="rect">
            <a:avLst/>
          </a:prstGeom>
          <a:solidFill>
            <a:srgbClr val="E05252"/>
          </a:solidFill>
          <a:ln w="12700">
            <a:solidFill>
              <a:srgbClr val="E05252"/>
            </a:solidFill>
            <a:prstDash val="solid"/>
          </a:ln>
        </p:spPr>
      </p:sp>
      <p:sp>
        <p:nvSpPr>
          <p:cNvPr id="11" name="Text 9"/>
          <p:cNvSpPr/>
          <p:nvPr/>
        </p:nvSpPr>
        <p:spPr>
          <a:xfrm>
            <a:off x="4846320" y="1097280"/>
            <a:ext cx="384048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Anti-Patterns That Break AI</a:t>
            </a:r>
            <a:endParaRPr lang="en-US" sz="1300" dirty="0"/>
          </a:p>
        </p:txBody>
      </p:sp>
      <p:sp>
        <p:nvSpPr>
          <p:cNvPr id="12" name="Text 10"/>
          <p:cNvSpPr/>
          <p:nvPr/>
        </p:nvSpPr>
        <p:spPr>
          <a:xfrm>
            <a:off x="4846320" y="1508760"/>
            <a:ext cx="3794760" cy="2011680"/>
          </a:xfrm>
          <a:prstGeom prst="rect">
            <a:avLst/>
          </a:prstGeom>
          <a:noFill/>
          <a:ln/>
        </p:spPr>
        <p:txBody>
          <a:bodyPr wrap="square" lIns="0" tIns="0" rIns="0" bIns="0" rtlCol="0" anchor="t"/>
          <a:lstStyle/>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Ambiguous abbreviations: Amt (amount or amendment?)</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Internal codes as column names: FLD_047</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Inconsistent casing: totalSales vs Total_Sales vs TotalSales</a:t>
            </a:r>
            <a:endParaRPr lang="en-US" sz="1100" dirty="0"/>
          </a:p>
          <a:p>
            <a:pPr algn="l" marL="342900" indent="-342900">
              <a:buSzPct val="100000"/>
              <a:buChar char="•"/>
            </a:pPr>
            <a:r>
              <a:rPr lang="en-US" sz="1100" dirty="0">
                <a:solidFill>
                  <a:srgbClr val="2C4A5E"/>
                </a:solidFill>
                <a:latin typeface="Calibri" pitchFamily="34" charset="0"/>
                <a:ea typeface="Calibri" pitchFamily="34" charset="-122"/>
                <a:cs typeface="Calibri" pitchFamily="34" charset="-120"/>
              </a:rPr>
              <a:t>Duplicated names across tables without clear prefixes</a:t>
            </a:r>
            <a:endParaRPr lang="en-US" sz="1100" dirty="0"/>
          </a:p>
        </p:txBody>
      </p:sp>
      <p:sp>
        <p:nvSpPr>
          <p:cNvPr id="13" name="Shape 11"/>
          <p:cNvSpPr/>
          <p:nvPr/>
        </p:nvSpPr>
        <p:spPr>
          <a:xfrm>
            <a:off x="365760" y="3840480"/>
            <a:ext cx="8412480" cy="777240"/>
          </a:xfrm>
          <a:prstGeom prst="rect">
            <a:avLst/>
          </a:prstGeom>
          <a:solidFill>
            <a:srgbClr val="065A82"/>
          </a:solidFill>
          <a:ln w="12700">
            <a:solidFill>
              <a:srgbClr val="065A82"/>
            </a:solidFill>
            <a:prstDash val="solid"/>
          </a:ln>
        </p:spPr>
      </p:sp>
      <p:pic>
        <p:nvPicPr>
          <p:cNvPr id="14" name="Image 0" descr="preencoded.png">    </p:cNvPr>
          <p:cNvPicPr>
            <a:picLocks noChangeAspect="1"/>
          </p:cNvPicPr>
          <p:nvPr/>
        </p:nvPicPr>
        <p:blipFill>
          <a:blip r:embed="rId1"/>
          <a:stretch>
            <a:fillRect/>
          </a:stretch>
        </p:blipFill>
        <p:spPr>
          <a:xfrm>
            <a:off x="502920" y="3950208"/>
            <a:ext cx="457200" cy="457200"/>
          </a:xfrm>
          <a:prstGeom prst="rect">
            <a:avLst/>
          </a:prstGeom>
        </p:spPr>
      </p:pic>
      <p:sp>
        <p:nvSpPr>
          <p:cNvPr id="15" name="Text 12"/>
          <p:cNvSpPr/>
          <p:nvPr/>
        </p:nvSpPr>
        <p:spPr>
          <a:xfrm>
            <a:off x="1097280" y="3886200"/>
            <a:ext cx="7543800" cy="658368"/>
          </a:xfrm>
          <a:prstGeom prst="rect">
            <a:avLst/>
          </a:prstGeom>
          <a:noFill/>
          <a:ln/>
        </p:spPr>
        <p:txBody>
          <a:bodyPr wrap="square" lIns="0" tIns="0" rIns="0" bIns="0" rtlCol="0" anchor="ctr"/>
          <a:lstStyle/>
          <a:p>
            <a:pPr algn="l" indent="0" marL="0">
              <a:buNone/>
            </a:pPr>
            <a:r>
              <a:rPr lang="en-US" sz="1100" b="1" dirty="0">
                <a:solidFill>
                  <a:srgbClr val="02C39A"/>
                </a:solidFill>
                <a:latin typeface="Calibri" pitchFamily="34" charset="0"/>
                <a:ea typeface="Calibri" pitchFamily="34" charset="-122"/>
                <a:cs typeface="Calibri" pitchFamily="34" charset="-120"/>
              </a:rPr>
              <a:t>The Rename Test:  </a:t>
            </a:r>
            <a:pPr algn="l" indent="0" marL="0">
              <a:buNone/>
            </a:pPr>
            <a:r>
              <a:rPr lang="en-US" sz="1100" dirty="0">
                <a:solidFill>
                  <a:srgbClr val="FFFFFF"/>
                </a:solidFill>
                <a:latin typeface="Calibri" pitchFamily="34" charset="0"/>
                <a:ea typeface="Calibri" pitchFamily="34" charset="-122"/>
                <a:cs typeface="Calibri" pitchFamily="34" charset="-120"/>
              </a:rPr>
              <a:t>If you showed someone the measure list without any report context, could they understand what each measure calculates from its name alone? If not, AI can't either.</a:t>
            </a:r>
            <a:endParaRPr lang="en-US" sz="1100" dirty="0"/>
          </a:p>
        </p:txBody>
      </p:sp>
      <p:sp>
        <p:nvSpPr>
          <p:cNvPr id="16" name="Shape 13"/>
          <p:cNvSpPr/>
          <p:nvPr/>
        </p:nvSpPr>
        <p:spPr>
          <a:xfrm>
            <a:off x="0" y="4818888"/>
            <a:ext cx="9144000" cy="324612"/>
          </a:xfrm>
          <a:prstGeom prst="rect">
            <a:avLst/>
          </a:prstGeom>
          <a:solidFill>
            <a:srgbClr val="1C7293"/>
          </a:solidFill>
          <a:ln w="12700">
            <a:solidFill>
              <a:srgbClr val="1C7293"/>
            </a:solidFill>
            <a:prstDash val="solid"/>
          </a:ln>
        </p:spPr>
      </p:sp>
      <p:sp>
        <p:nvSpPr>
          <p:cNvPr id="17" name="Text 14"/>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Naming isn't cosmetic. It's the primary signal AI uses to understand your model's structure.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Measure Structure &amp; Properties</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Beyond names and descriptions — the structural settings that control what AI can and can't do with your model</a:t>
            </a:r>
            <a:endParaRPr lang="en-US" sz="1200" dirty="0"/>
          </a:p>
        </p:txBody>
      </p:sp>
      <p:sp>
        <p:nvSpPr>
          <p:cNvPr id="5" name="Shape 3"/>
          <p:cNvSpPr/>
          <p:nvPr/>
        </p:nvSpPr>
        <p:spPr>
          <a:xfrm>
            <a:off x="320040" y="1115568"/>
            <a:ext cx="4206240" cy="16916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20040" y="1115568"/>
            <a:ext cx="4206240" cy="438912"/>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429768" y="1188720"/>
            <a:ext cx="384048" cy="384048"/>
          </a:xfrm>
          <a:prstGeom prst="rect">
            <a:avLst/>
          </a:prstGeom>
        </p:spPr>
      </p:pic>
      <p:sp>
        <p:nvSpPr>
          <p:cNvPr id="8" name="Text 5"/>
          <p:cNvSpPr/>
          <p:nvPr/>
        </p:nvSpPr>
        <p:spPr>
          <a:xfrm>
            <a:off x="914400" y="1115568"/>
            <a:ext cx="3474720" cy="43891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Display Folders</a:t>
            </a:r>
            <a:endParaRPr lang="en-US" sz="1300" dirty="0"/>
          </a:p>
        </p:txBody>
      </p:sp>
      <p:sp>
        <p:nvSpPr>
          <p:cNvPr id="9" name="Text 6"/>
          <p:cNvSpPr/>
          <p:nvPr/>
        </p:nvSpPr>
        <p:spPr>
          <a:xfrm>
            <a:off x="502920" y="1627632"/>
            <a:ext cx="3886200" cy="109728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Group measures into logical folders (Revenue, Profitability, Volume). Without folders, Copilot presents a flat list of 200+ measures with no structure — harder for humans, nearly impossible for AI.</a:t>
            </a:r>
            <a:endParaRPr lang="en-US" sz="1050" dirty="0"/>
          </a:p>
        </p:txBody>
      </p:sp>
      <p:sp>
        <p:nvSpPr>
          <p:cNvPr id="10" name="Shape 7"/>
          <p:cNvSpPr/>
          <p:nvPr/>
        </p:nvSpPr>
        <p:spPr>
          <a:xfrm>
            <a:off x="4754880" y="1115568"/>
            <a:ext cx="4206240" cy="16916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1" name="Shape 8"/>
          <p:cNvSpPr/>
          <p:nvPr/>
        </p:nvSpPr>
        <p:spPr>
          <a:xfrm>
            <a:off x="4754880" y="1115568"/>
            <a:ext cx="4206240" cy="438912"/>
          </a:xfrm>
          <a:prstGeom prst="rect">
            <a:avLst/>
          </a:prstGeom>
          <a:solidFill>
            <a:srgbClr val="1C7293"/>
          </a:solidFill>
          <a:ln w="12700">
            <a:solidFill>
              <a:srgbClr val="1C7293"/>
            </a:solidFill>
            <a:prstDash val="solid"/>
          </a:ln>
        </p:spPr>
      </p:sp>
      <p:pic>
        <p:nvPicPr>
          <p:cNvPr id="12" name="Image 1" descr="preencoded.png">    </p:cNvPr>
          <p:cNvPicPr>
            <a:picLocks noChangeAspect="1"/>
          </p:cNvPicPr>
          <p:nvPr/>
        </p:nvPicPr>
        <p:blipFill>
          <a:blip r:embed="rId2"/>
          <a:stretch>
            <a:fillRect/>
          </a:stretch>
        </p:blipFill>
        <p:spPr>
          <a:xfrm>
            <a:off x="4864608" y="1188720"/>
            <a:ext cx="384048" cy="384048"/>
          </a:xfrm>
          <a:prstGeom prst="rect">
            <a:avLst/>
          </a:prstGeom>
        </p:spPr>
      </p:pic>
      <p:sp>
        <p:nvSpPr>
          <p:cNvPr id="13" name="Text 9"/>
          <p:cNvSpPr/>
          <p:nvPr/>
        </p:nvSpPr>
        <p:spPr>
          <a:xfrm>
            <a:off x="5349240" y="1115568"/>
            <a:ext cx="3474720" cy="43891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Format Strings</a:t>
            </a:r>
            <a:endParaRPr lang="en-US" sz="1300" dirty="0"/>
          </a:p>
        </p:txBody>
      </p:sp>
      <p:sp>
        <p:nvSpPr>
          <p:cNvPr id="14" name="Text 10"/>
          <p:cNvSpPr/>
          <p:nvPr/>
        </p:nvSpPr>
        <p:spPr>
          <a:xfrm>
            <a:off x="4937760" y="1627632"/>
            <a:ext cx="3886200" cy="109728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Explicitly set currency, percentage, or integer formats. A measure returning 0.2534 without a format string forces AI to guess — it could display as-is, 25.34%, or 25%.</a:t>
            </a:r>
            <a:endParaRPr lang="en-US" sz="1050" dirty="0"/>
          </a:p>
        </p:txBody>
      </p:sp>
      <p:sp>
        <p:nvSpPr>
          <p:cNvPr id="15" name="Shape 11"/>
          <p:cNvSpPr/>
          <p:nvPr/>
        </p:nvSpPr>
        <p:spPr>
          <a:xfrm>
            <a:off x="320040" y="2990088"/>
            <a:ext cx="4206240" cy="16916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6" name="Shape 12"/>
          <p:cNvSpPr/>
          <p:nvPr/>
        </p:nvSpPr>
        <p:spPr>
          <a:xfrm>
            <a:off x="320040" y="2990088"/>
            <a:ext cx="4206240" cy="438912"/>
          </a:xfrm>
          <a:prstGeom prst="rect">
            <a:avLst/>
          </a:prstGeom>
          <a:solidFill>
            <a:srgbClr val="028090"/>
          </a:solidFill>
          <a:ln w="12700">
            <a:solidFill>
              <a:srgbClr val="028090"/>
            </a:solidFill>
            <a:prstDash val="solid"/>
          </a:ln>
        </p:spPr>
      </p:sp>
      <p:pic>
        <p:nvPicPr>
          <p:cNvPr id="17" name="Image 2" descr="preencoded.png">    </p:cNvPr>
          <p:cNvPicPr>
            <a:picLocks noChangeAspect="1"/>
          </p:cNvPicPr>
          <p:nvPr/>
        </p:nvPicPr>
        <p:blipFill>
          <a:blip r:embed="rId3"/>
          <a:stretch>
            <a:fillRect/>
          </a:stretch>
        </p:blipFill>
        <p:spPr>
          <a:xfrm>
            <a:off x="429768" y="3063240"/>
            <a:ext cx="384048" cy="384048"/>
          </a:xfrm>
          <a:prstGeom prst="rect">
            <a:avLst/>
          </a:prstGeom>
        </p:spPr>
      </p:pic>
      <p:sp>
        <p:nvSpPr>
          <p:cNvPr id="18" name="Text 13"/>
          <p:cNvSpPr/>
          <p:nvPr/>
        </p:nvSpPr>
        <p:spPr>
          <a:xfrm>
            <a:off x="914400" y="2990088"/>
            <a:ext cx="3474720" cy="43891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SummarizeBy = None</a:t>
            </a:r>
            <a:endParaRPr lang="en-US" sz="1300" dirty="0"/>
          </a:p>
        </p:txBody>
      </p:sp>
      <p:sp>
        <p:nvSpPr>
          <p:cNvPr id="19" name="Text 14"/>
          <p:cNvSpPr/>
          <p:nvPr/>
        </p:nvSpPr>
        <p:spPr>
          <a:xfrm>
            <a:off x="502920" y="3502152"/>
            <a:ext cx="3886200" cy="109728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Set on non-aggregatable columns to prevent Copilot offering meaningless aggregations like summing customer IDs. One of the most overlooked properties.</a:t>
            </a:r>
            <a:endParaRPr lang="en-US" sz="1050" dirty="0"/>
          </a:p>
        </p:txBody>
      </p:sp>
      <p:sp>
        <p:nvSpPr>
          <p:cNvPr id="20" name="Shape 15"/>
          <p:cNvSpPr/>
          <p:nvPr/>
        </p:nvSpPr>
        <p:spPr>
          <a:xfrm>
            <a:off x="4754880" y="2990088"/>
            <a:ext cx="4206240" cy="16916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21" name="Shape 16"/>
          <p:cNvSpPr/>
          <p:nvPr/>
        </p:nvSpPr>
        <p:spPr>
          <a:xfrm>
            <a:off x="4754880" y="2990088"/>
            <a:ext cx="4206240" cy="438912"/>
          </a:xfrm>
          <a:prstGeom prst="rect">
            <a:avLst/>
          </a:prstGeom>
          <a:solidFill>
            <a:srgbClr val="02C39A"/>
          </a:solidFill>
          <a:ln w="12700">
            <a:solidFill>
              <a:srgbClr val="02C39A"/>
            </a:solidFill>
            <a:prstDash val="solid"/>
          </a:ln>
        </p:spPr>
      </p:sp>
      <p:pic>
        <p:nvPicPr>
          <p:cNvPr id="22" name="Image 3" descr="preencoded.png">    </p:cNvPr>
          <p:cNvPicPr>
            <a:picLocks noChangeAspect="1"/>
          </p:cNvPicPr>
          <p:nvPr/>
        </p:nvPicPr>
        <p:blipFill>
          <a:blip r:embed="rId4"/>
          <a:stretch>
            <a:fillRect/>
          </a:stretch>
        </p:blipFill>
        <p:spPr>
          <a:xfrm>
            <a:off x="4864608" y="3063240"/>
            <a:ext cx="384048" cy="384048"/>
          </a:xfrm>
          <a:prstGeom prst="rect">
            <a:avLst/>
          </a:prstGeom>
        </p:spPr>
      </p:pic>
      <p:sp>
        <p:nvSpPr>
          <p:cNvPr id="23" name="Text 17"/>
          <p:cNvSpPr/>
          <p:nvPr/>
        </p:nvSpPr>
        <p:spPr>
          <a:xfrm>
            <a:off x="5349240" y="2990088"/>
            <a:ext cx="3474720" cy="43891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IsAvailableInMDX</a:t>
            </a:r>
            <a:endParaRPr lang="en-US" sz="1300" dirty="0"/>
          </a:p>
        </p:txBody>
      </p:sp>
      <p:sp>
        <p:nvSpPr>
          <p:cNvPr id="24" name="Text 18"/>
          <p:cNvSpPr/>
          <p:nvPr/>
        </p:nvSpPr>
        <p:spPr>
          <a:xfrm>
            <a:off x="4937760" y="3502152"/>
            <a:ext cx="3886200" cy="109728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Controls whether a column appears in Copilot's available field list. Hiding internal columns through this property reduces noise and prevents AI from using fields not meant for analysis.</a:t>
            </a:r>
            <a:endParaRPr lang="en-US" sz="1050" dirty="0"/>
          </a:p>
        </p:txBody>
      </p:sp>
      <p:sp>
        <p:nvSpPr>
          <p:cNvPr id="25" name="Shape 19"/>
          <p:cNvSpPr/>
          <p:nvPr/>
        </p:nvSpPr>
        <p:spPr>
          <a:xfrm>
            <a:off x="0" y="4818888"/>
            <a:ext cx="9144000" cy="324612"/>
          </a:xfrm>
          <a:prstGeom prst="rect">
            <a:avLst/>
          </a:prstGeom>
          <a:solidFill>
            <a:srgbClr val="1C7293"/>
          </a:solidFill>
          <a:ln w="12700">
            <a:solidFill>
              <a:srgbClr val="1C7293"/>
            </a:solidFill>
            <a:prstDash val="solid"/>
          </a:ln>
        </p:spPr>
      </p:sp>
      <p:sp>
        <p:nvSpPr>
          <p:cNvPr id="26" name="Text 20"/>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These aren't obscure settings — they're the control surface for what AI can and can't do with your model.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The AI-Readiness Checklist</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A concrete pass/fail audit framework — not a vague maturity model</a:t>
            </a:r>
            <a:endParaRPr lang="en-US" sz="1200" dirty="0"/>
          </a:p>
        </p:txBody>
      </p:sp>
      <p:sp>
        <p:nvSpPr>
          <p:cNvPr id="5" name="Shape 3"/>
          <p:cNvSpPr/>
          <p:nvPr/>
        </p:nvSpPr>
        <p:spPr>
          <a:xfrm>
            <a:off x="365760" y="1097280"/>
            <a:ext cx="6675120" cy="320040"/>
          </a:xfrm>
          <a:prstGeom prst="rect">
            <a:avLst/>
          </a:prstGeom>
          <a:solidFill>
            <a:srgbClr val="065A82"/>
          </a:solidFill>
          <a:ln w="12700">
            <a:solidFill>
              <a:srgbClr val="065A82"/>
            </a:solidFill>
            <a:prstDash val="solid"/>
          </a:ln>
        </p:spPr>
      </p:sp>
      <p:sp>
        <p:nvSpPr>
          <p:cNvPr id="6" name="Text 4"/>
          <p:cNvSpPr/>
          <p:nvPr/>
        </p:nvSpPr>
        <p:spPr>
          <a:xfrm>
            <a:off x="502920" y="1097280"/>
            <a:ext cx="2743200" cy="32004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p>
        </p:txBody>
      </p:sp>
      <p:sp>
        <p:nvSpPr>
          <p:cNvPr id="7" name="Text 5"/>
          <p:cNvSpPr/>
          <p:nvPr/>
        </p:nvSpPr>
        <p:spPr>
          <a:xfrm>
            <a:off x="3291840" y="1097280"/>
            <a:ext cx="3017520" cy="32004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What to Check</a:t>
            </a:r>
            <a:endParaRPr lang="en-US" sz="1000" dirty="0"/>
          </a:p>
        </p:txBody>
      </p:sp>
      <p:sp>
        <p:nvSpPr>
          <p:cNvPr id="8" name="Shape 6"/>
          <p:cNvSpPr/>
          <p:nvPr/>
        </p:nvSpPr>
        <p:spPr>
          <a:xfrm>
            <a:off x="7360920" y="1097280"/>
            <a:ext cx="1463040" cy="338328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9" name="Text 7"/>
          <p:cNvSpPr/>
          <p:nvPr/>
        </p:nvSpPr>
        <p:spPr>
          <a:xfrm>
            <a:off x="7360920" y="1097280"/>
            <a:ext cx="1463040" cy="320040"/>
          </a:xfrm>
          <a:prstGeom prst="rect">
            <a:avLst/>
          </a:prstGeom>
          <a:noFill/>
          <a:ln/>
        </p:spPr>
        <p:txBody>
          <a:bodyPr wrap="square" lIns="0" tIns="0" rIns="0" bIns="0" rtlCol="0" anchor="ctr"/>
          <a:lstStyle/>
          <a:p>
            <a:pPr algn="ctr" indent="0" marL="0">
              <a:buNone/>
            </a:pPr>
            <a:r>
              <a:rPr lang="en-US" sz="900" b="1" dirty="0">
                <a:solidFill>
                  <a:srgbClr val="065A82"/>
                </a:solidFill>
                <a:latin typeface="Calibri" pitchFamily="34" charset="0"/>
                <a:ea typeface="Calibri" pitchFamily="34" charset="-122"/>
                <a:cs typeface="Calibri" pitchFamily="34" charset="-120"/>
              </a:rPr>
              <a:t>Scoring</a:t>
            </a:r>
            <a:endParaRPr lang="en-US" sz="900" dirty="0"/>
          </a:p>
        </p:txBody>
      </p:sp>
      <p:sp>
        <p:nvSpPr>
          <p:cNvPr id="10" name="Shape 8"/>
          <p:cNvSpPr/>
          <p:nvPr/>
        </p:nvSpPr>
        <p:spPr>
          <a:xfrm>
            <a:off x="7498080" y="1508760"/>
            <a:ext cx="1097280" cy="640080"/>
          </a:xfrm>
          <a:prstGeom prst="rect">
            <a:avLst/>
          </a:prstGeom>
          <a:solidFill>
            <a:srgbClr val="02C39A"/>
          </a:solidFill>
          <a:ln w="12700">
            <a:solidFill>
              <a:srgbClr val="02C39A"/>
            </a:solidFill>
            <a:prstDash val="solid"/>
          </a:ln>
        </p:spPr>
      </p:sp>
      <p:sp>
        <p:nvSpPr>
          <p:cNvPr id="11" name="Text 9"/>
          <p:cNvSpPr/>
          <p:nvPr/>
        </p:nvSpPr>
        <p:spPr>
          <a:xfrm>
            <a:off x="7498080" y="1508760"/>
            <a:ext cx="109728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GREEN</a:t>
            </a:r>
            <a:endParaRPr lang="en-US" sz="800" dirty="0"/>
          </a:p>
        </p:txBody>
      </p:sp>
      <p:sp>
        <p:nvSpPr>
          <p:cNvPr id="12" name="Text 10"/>
          <p:cNvSpPr/>
          <p:nvPr/>
        </p:nvSpPr>
        <p:spPr>
          <a:xfrm>
            <a:off x="7498080" y="1828800"/>
            <a:ext cx="1097280" cy="3200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Pass — AI</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ready</a:t>
            </a:r>
            <a:endParaRPr lang="en-US" sz="800" dirty="0"/>
          </a:p>
        </p:txBody>
      </p:sp>
      <p:sp>
        <p:nvSpPr>
          <p:cNvPr id="13" name="Shape 11"/>
          <p:cNvSpPr/>
          <p:nvPr/>
        </p:nvSpPr>
        <p:spPr>
          <a:xfrm>
            <a:off x="7498080" y="2240280"/>
            <a:ext cx="1097280" cy="640080"/>
          </a:xfrm>
          <a:prstGeom prst="rect">
            <a:avLst/>
          </a:prstGeom>
          <a:solidFill>
            <a:srgbClr val="F59E0B"/>
          </a:solidFill>
          <a:ln w="12700">
            <a:solidFill>
              <a:srgbClr val="F59E0B"/>
            </a:solidFill>
            <a:prstDash val="solid"/>
          </a:ln>
        </p:spPr>
      </p:sp>
      <p:sp>
        <p:nvSpPr>
          <p:cNvPr id="14" name="Text 12"/>
          <p:cNvSpPr/>
          <p:nvPr/>
        </p:nvSpPr>
        <p:spPr>
          <a:xfrm>
            <a:off x="7498080" y="2240280"/>
            <a:ext cx="109728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AMBER</a:t>
            </a:r>
            <a:endParaRPr lang="en-US" sz="800" dirty="0"/>
          </a:p>
        </p:txBody>
      </p:sp>
      <p:sp>
        <p:nvSpPr>
          <p:cNvPr id="15" name="Text 13"/>
          <p:cNvSpPr/>
          <p:nvPr/>
        </p:nvSpPr>
        <p:spPr>
          <a:xfrm>
            <a:off x="7498080" y="2560320"/>
            <a:ext cx="1097280" cy="3200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Partial —</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needs work</a:t>
            </a:r>
            <a:endParaRPr lang="en-US" sz="800" dirty="0"/>
          </a:p>
        </p:txBody>
      </p:sp>
      <p:sp>
        <p:nvSpPr>
          <p:cNvPr id="16" name="Shape 14"/>
          <p:cNvSpPr/>
          <p:nvPr/>
        </p:nvSpPr>
        <p:spPr>
          <a:xfrm>
            <a:off x="7498080" y="2971800"/>
            <a:ext cx="1097280" cy="640080"/>
          </a:xfrm>
          <a:prstGeom prst="rect">
            <a:avLst/>
          </a:prstGeom>
          <a:solidFill>
            <a:srgbClr val="E05252"/>
          </a:solidFill>
          <a:ln w="12700">
            <a:solidFill>
              <a:srgbClr val="E05252"/>
            </a:solidFill>
            <a:prstDash val="solid"/>
          </a:ln>
        </p:spPr>
      </p:sp>
      <p:sp>
        <p:nvSpPr>
          <p:cNvPr id="17" name="Text 15"/>
          <p:cNvSpPr/>
          <p:nvPr/>
        </p:nvSpPr>
        <p:spPr>
          <a:xfrm>
            <a:off x="7498080" y="2971800"/>
            <a:ext cx="109728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RED</a:t>
            </a:r>
            <a:endParaRPr lang="en-US" sz="800" dirty="0"/>
          </a:p>
        </p:txBody>
      </p:sp>
      <p:sp>
        <p:nvSpPr>
          <p:cNvPr id="18" name="Text 16"/>
          <p:cNvSpPr/>
          <p:nvPr/>
        </p:nvSpPr>
        <p:spPr>
          <a:xfrm>
            <a:off x="7498080" y="3291840"/>
            <a:ext cx="1097280" cy="3200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Fail —</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blocking</a:t>
            </a:r>
            <a:endParaRPr lang="en-US" sz="800" dirty="0"/>
          </a:p>
        </p:txBody>
      </p:sp>
      <p:sp>
        <p:nvSpPr>
          <p:cNvPr id="19" name="Shape 17"/>
          <p:cNvSpPr/>
          <p:nvPr/>
        </p:nvSpPr>
        <p:spPr>
          <a:xfrm>
            <a:off x="365760" y="1417320"/>
            <a:ext cx="6675120" cy="576072"/>
          </a:xfrm>
          <a:prstGeom prst="rect">
            <a:avLst/>
          </a:prstGeom>
          <a:solidFill>
            <a:srgbClr val="FFFFFF"/>
          </a:solidFill>
          <a:ln w="12700">
            <a:solidFill>
              <a:srgbClr val="C8DFE8"/>
            </a:solidFill>
            <a:prstDash val="solid"/>
          </a:ln>
        </p:spPr>
      </p:sp>
      <p:sp>
        <p:nvSpPr>
          <p:cNvPr id="20" name="Shape 18"/>
          <p:cNvSpPr/>
          <p:nvPr/>
        </p:nvSpPr>
        <p:spPr>
          <a:xfrm>
            <a:off x="365760" y="1417320"/>
            <a:ext cx="91440" cy="576072"/>
          </a:xfrm>
          <a:prstGeom prst="rect">
            <a:avLst/>
          </a:prstGeom>
          <a:solidFill>
            <a:srgbClr val="065A82"/>
          </a:solidFill>
          <a:ln w="12700">
            <a:solidFill>
              <a:srgbClr val="065A82"/>
            </a:solidFill>
            <a:prstDash val="solid"/>
          </a:ln>
        </p:spPr>
      </p:sp>
      <p:sp>
        <p:nvSpPr>
          <p:cNvPr id="21" name="Text 19"/>
          <p:cNvSpPr/>
          <p:nvPr/>
        </p:nvSpPr>
        <p:spPr>
          <a:xfrm>
            <a:off x="548640" y="1417320"/>
            <a:ext cx="2651760" cy="57607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Metadata Completeness</a:t>
            </a:r>
            <a:endParaRPr lang="en-US" sz="1100" dirty="0"/>
          </a:p>
        </p:txBody>
      </p:sp>
      <p:sp>
        <p:nvSpPr>
          <p:cNvPr id="22" name="Text 20"/>
          <p:cNvSpPr/>
          <p:nvPr/>
        </p:nvSpPr>
        <p:spPr>
          <a:xfrm>
            <a:off x="3291840" y="1417320"/>
            <a:ext cx="3566160" cy="576072"/>
          </a:xfrm>
          <a:prstGeom prst="rect">
            <a:avLst/>
          </a:prstGeom>
          <a:noFill/>
          <a:ln/>
        </p:spPr>
        <p:txBody>
          <a:bodyPr wrap="square" lIns="0" tIns="0" rIns="0" bIns="0" rtlCol="0" anchor="ctr"/>
          <a:lstStyle/>
          <a:p>
            <a:pPr algn="l" indent="0" marL="0">
              <a:buNone/>
            </a:pPr>
            <a:r>
              <a:rPr lang="en-US" sz="950" dirty="0">
                <a:solidFill>
                  <a:srgbClr val="2C4A5E"/>
                </a:solidFill>
                <a:latin typeface="Calibri" pitchFamily="34" charset="0"/>
                <a:ea typeface="Calibri" pitchFamily="34" charset="-122"/>
                <a:cs typeface="Calibri" pitchFamily="34" charset="-120"/>
              </a:rPr>
              <a:t>% of measures with descriptions   ·   % of tables with descriptions   ·   All relationships documented</a:t>
            </a:r>
            <a:endParaRPr lang="en-US" sz="950" dirty="0"/>
          </a:p>
        </p:txBody>
      </p:sp>
      <p:sp>
        <p:nvSpPr>
          <p:cNvPr id="23" name="Shape 21"/>
          <p:cNvSpPr/>
          <p:nvPr/>
        </p:nvSpPr>
        <p:spPr>
          <a:xfrm>
            <a:off x="365760" y="2039112"/>
            <a:ext cx="6675120" cy="576072"/>
          </a:xfrm>
          <a:prstGeom prst="rect">
            <a:avLst/>
          </a:prstGeom>
          <a:solidFill>
            <a:srgbClr val="F5FAFD"/>
          </a:solidFill>
          <a:ln w="12700">
            <a:solidFill>
              <a:srgbClr val="C8DFE8"/>
            </a:solidFill>
            <a:prstDash val="solid"/>
          </a:ln>
        </p:spPr>
      </p:sp>
      <p:sp>
        <p:nvSpPr>
          <p:cNvPr id="24" name="Shape 22"/>
          <p:cNvSpPr/>
          <p:nvPr/>
        </p:nvSpPr>
        <p:spPr>
          <a:xfrm>
            <a:off x="365760" y="2039112"/>
            <a:ext cx="91440" cy="576072"/>
          </a:xfrm>
          <a:prstGeom prst="rect">
            <a:avLst/>
          </a:prstGeom>
          <a:solidFill>
            <a:srgbClr val="1C7293"/>
          </a:solidFill>
          <a:ln w="12700">
            <a:solidFill>
              <a:srgbClr val="1C7293"/>
            </a:solidFill>
            <a:prstDash val="solid"/>
          </a:ln>
        </p:spPr>
      </p:sp>
      <p:sp>
        <p:nvSpPr>
          <p:cNvPr id="25" name="Text 23"/>
          <p:cNvSpPr/>
          <p:nvPr/>
        </p:nvSpPr>
        <p:spPr>
          <a:xfrm>
            <a:off x="548640" y="2039112"/>
            <a:ext cx="2651760" cy="57607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Naming Consistency</a:t>
            </a:r>
            <a:endParaRPr lang="en-US" sz="1100" dirty="0"/>
          </a:p>
        </p:txBody>
      </p:sp>
      <p:sp>
        <p:nvSpPr>
          <p:cNvPr id="26" name="Text 24"/>
          <p:cNvSpPr/>
          <p:nvPr/>
        </p:nvSpPr>
        <p:spPr>
          <a:xfrm>
            <a:off x="3291840" y="2039112"/>
            <a:ext cx="3566160" cy="576072"/>
          </a:xfrm>
          <a:prstGeom prst="rect">
            <a:avLst/>
          </a:prstGeom>
          <a:noFill/>
          <a:ln/>
        </p:spPr>
        <p:txBody>
          <a:bodyPr wrap="square" lIns="0" tIns="0" rIns="0" bIns="0" rtlCol="0" anchor="ctr"/>
          <a:lstStyle/>
          <a:p>
            <a:pPr algn="l" indent="0" marL="0">
              <a:buNone/>
            </a:pPr>
            <a:r>
              <a:rPr lang="en-US" sz="950" dirty="0">
                <a:solidFill>
                  <a:srgbClr val="2C4A5E"/>
                </a:solidFill>
                <a:latin typeface="Calibri" pitchFamily="34" charset="0"/>
                <a:ea typeface="Calibri" pitchFamily="34" charset="-122"/>
                <a:cs typeface="Calibri" pitchFamily="34" charset="-120"/>
              </a:rPr>
              <a:t>Standardised patterns applied   ·   No ambiguous abbreviations   ·   Casing consistent throughout</a:t>
            </a:r>
            <a:endParaRPr lang="en-US" sz="950" dirty="0"/>
          </a:p>
        </p:txBody>
      </p:sp>
      <p:sp>
        <p:nvSpPr>
          <p:cNvPr id="27" name="Shape 25"/>
          <p:cNvSpPr/>
          <p:nvPr/>
        </p:nvSpPr>
        <p:spPr>
          <a:xfrm>
            <a:off x="365760" y="2660904"/>
            <a:ext cx="6675120" cy="576072"/>
          </a:xfrm>
          <a:prstGeom prst="rect">
            <a:avLst/>
          </a:prstGeom>
          <a:solidFill>
            <a:srgbClr val="FFFFFF"/>
          </a:solidFill>
          <a:ln w="12700">
            <a:solidFill>
              <a:srgbClr val="C8DFE8"/>
            </a:solidFill>
            <a:prstDash val="solid"/>
          </a:ln>
        </p:spPr>
      </p:sp>
      <p:sp>
        <p:nvSpPr>
          <p:cNvPr id="28" name="Shape 26"/>
          <p:cNvSpPr/>
          <p:nvPr/>
        </p:nvSpPr>
        <p:spPr>
          <a:xfrm>
            <a:off x="365760" y="2660904"/>
            <a:ext cx="91440" cy="576072"/>
          </a:xfrm>
          <a:prstGeom prst="rect">
            <a:avLst/>
          </a:prstGeom>
          <a:solidFill>
            <a:srgbClr val="028090"/>
          </a:solidFill>
          <a:ln w="12700">
            <a:solidFill>
              <a:srgbClr val="028090"/>
            </a:solidFill>
            <a:prstDash val="solid"/>
          </a:ln>
        </p:spPr>
      </p:sp>
      <p:sp>
        <p:nvSpPr>
          <p:cNvPr id="29" name="Text 27"/>
          <p:cNvSpPr/>
          <p:nvPr/>
        </p:nvSpPr>
        <p:spPr>
          <a:xfrm>
            <a:off x="548640" y="2660904"/>
            <a:ext cx="2651760" cy="57607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Structural Hygiene</a:t>
            </a:r>
            <a:endParaRPr lang="en-US" sz="1100" dirty="0"/>
          </a:p>
        </p:txBody>
      </p:sp>
      <p:sp>
        <p:nvSpPr>
          <p:cNvPr id="30" name="Text 28"/>
          <p:cNvSpPr/>
          <p:nvPr/>
        </p:nvSpPr>
        <p:spPr>
          <a:xfrm>
            <a:off x="3291840" y="2660904"/>
            <a:ext cx="3566160" cy="576072"/>
          </a:xfrm>
          <a:prstGeom prst="rect">
            <a:avLst/>
          </a:prstGeom>
          <a:noFill/>
          <a:ln/>
        </p:spPr>
        <p:txBody>
          <a:bodyPr wrap="square" lIns="0" tIns="0" rIns="0" bIns="0" rtlCol="0" anchor="ctr"/>
          <a:lstStyle/>
          <a:p>
            <a:pPr algn="l" indent="0" marL="0">
              <a:buNone/>
            </a:pPr>
            <a:r>
              <a:rPr lang="en-US" sz="950" dirty="0">
                <a:solidFill>
                  <a:srgbClr val="2C4A5E"/>
                </a:solidFill>
                <a:latin typeface="Calibri" pitchFamily="34" charset="0"/>
                <a:ea typeface="Calibri" pitchFamily="34" charset="-122"/>
                <a:cs typeface="Calibri" pitchFamily="34" charset="-120"/>
              </a:rPr>
              <a:t>No orphan columns or unused measures   ·   Referential integrity set correctly   ·   Hidden columns deliberately curated</a:t>
            </a:r>
            <a:endParaRPr lang="en-US" sz="950" dirty="0"/>
          </a:p>
        </p:txBody>
      </p:sp>
      <p:sp>
        <p:nvSpPr>
          <p:cNvPr id="31" name="Shape 29"/>
          <p:cNvSpPr/>
          <p:nvPr/>
        </p:nvSpPr>
        <p:spPr>
          <a:xfrm>
            <a:off x="365760" y="3282696"/>
            <a:ext cx="6675120" cy="576072"/>
          </a:xfrm>
          <a:prstGeom prst="rect">
            <a:avLst/>
          </a:prstGeom>
          <a:solidFill>
            <a:srgbClr val="F5FAFD"/>
          </a:solidFill>
          <a:ln w="12700">
            <a:solidFill>
              <a:srgbClr val="C8DFE8"/>
            </a:solidFill>
            <a:prstDash val="solid"/>
          </a:ln>
        </p:spPr>
      </p:sp>
      <p:sp>
        <p:nvSpPr>
          <p:cNvPr id="32" name="Shape 30"/>
          <p:cNvSpPr/>
          <p:nvPr/>
        </p:nvSpPr>
        <p:spPr>
          <a:xfrm>
            <a:off x="365760" y="3282696"/>
            <a:ext cx="91440" cy="576072"/>
          </a:xfrm>
          <a:prstGeom prst="rect">
            <a:avLst/>
          </a:prstGeom>
          <a:solidFill>
            <a:srgbClr val="02C39A"/>
          </a:solidFill>
          <a:ln w="12700">
            <a:solidFill>
              <a:srgbClr val="02C39A"/>
            </a:solidFill>
            <a:prstDash val="solid"/>
          </a:ln>
        </p:spPr>
      </p:sp>
      <p:sp>
        <p:nvSpPr>
          <p:cNvPr id="33" name="Text 31"/>
          <p:cNvSpPr/>
          <p:nvPr/>
        </p:nvSpPr>
        <p:spPr>
          <a:xfrm>
            <a:off x="548640" y="3282696"/>
            <a:ext cx="2651760" cy="57607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Property Configuration</a:t>
            </a:r>
            <a:endParaRPr lang="en-US" sz="1100" dirty="0"/>
          </a:p>
        </p:txBody>
      </p:sp>
      <p:sp>
        <p:nvSpPr>
          <p:cNvPr id="34" name="Text 32"/>
          <p:cNvSpPr/>
          <p:nvPr/>
        </p:nvSpPr>
        <p:spPr>
          <a:xfrm>
            <a:off x="3291840" y="3282696"/>
            <a:ext cx="3566160" cy="576072"/>
          </a:xfrm>
          <a:prstGeom prst="rect">
            <a:avLst/>
          </a:prstGeom>
          <a:noFill/>
          <a:ln/>
        </p:spPr>
        <p:txBody>
          <a:bodyPr wrap="square" lIns="0" tIns="0" rIns="0" bIns="0" rtlCol="0" anchor="ctr"/>
          <a:lstStyle/>
          <a:p>
            <a:pPr algn="l" indent="0" marL="0">
              <a:buNone/>
            </a:pPr>
            <a:r>
              <a:rPr lang="en-US" sz="950" dirty="0">
                <a:solidFill>
                  <a:srgbClr val="2C4A5E"/>
                </a:solidFill>
                <a:latin typeface="Calibri" pitchFamily="34" charset="0"/>
                <a:ea typeface="Calibri" pitchFamily="34" charset="-122"/>
                <a:cs typeface="Calibri" pitchFamily="34" charset="-120"/>
              </a:rPr>
              <a:t>SummarizeBy set correctly   ·   Format strings explicit   ·   Display folders logical   ·   IsAvailableInMDX configured</a:t>
            </a:r>
            <a:endParaRPr lang="en-US" sz="950" dirty="0"/>
          </a:p>
        </p:txBody>
      </p:sp>
      <p:sp>
        <p:nvSpPr>
          <p:cNvPr id="35" name="Shape 33"/>
          <p:cNvSpPr/>
          <p:nvPr/>
        </p:nvSpPr>
        <p:spPr>
          <a:xfrm>
            <a:off x="365760" y="3904488"/>
            <a:ext cx="6675120" cy="576072"/>
          </a:xfrm>
          <a:prstGeom prst="rect">
            <a:avLst/>
          </a:prstGeom>
          <a:solidFill>
            <a:srgbClr val="FFFFFF"/>
          </a:solidFill>
          <a:ln w="12700">
            <a:solidFill>
              <a:srgbClr val="C8DFE8"/>
            </a:solidFill>
            <a:prstDash val="solid"/>
          </a:ln>
        </p:spPr>
      </p:sp>
      <p:sp>
        <p:nvSpPr>
          <p:cNvPr id="36" name="Shape 34"/>
          <p:cNvSpPr/>
          <p:nvPr/>
        </p:nvSpPr>
        <p:spPr>
          <a:xfrm>
            <a:off x="365760" y="3904488"/>
            <a:ext cx="91440" cy="576072"/>
          </a:xfrm>
          <a:prstGeom prst="rect">
            <a:avLst/>
          </a:prstGeom>
          <a:solidFill>
            <a:srgbClr val="065A82"/>
          </a:solidFill>
          <a:ln w="12700">
            <a:solidFill>
              <a:srgbClr val="065A82"/>
            </a:solidFill>
            <a:prstDash val="solid"/>
          </a:ln>
        </p:spPr>
      </p:sp>
      <p:sp>
        <p:nvSpPr>
          <p:cNvPr id="37" name="Text 35"/>
          <p:cNvSpPr/>
          <p:nvPr/>
        </p:nvSpPr>
        <p:spPr>
          <a:xfrm>
            <a:off x="548640" y="3904488"/>
            <a:ext cx="2651760" cy="57607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Relationship Quality</a:t>
            </a:r>
            <a:endParaRPr lang="en-US" sz="1100" dirty="0"/>
          </a:p>
        </p:txBody>
      </p:sp>
      <p:sp>
        <p:nvSpPr>
          <p:cNvPr id="38" name="Text 36"/>
          <p:cNvSpPr/>
          <p:nvPr/>
        </p:nvSpPr>
        <p:spPr>
          <a:xfrm>
            <a:off x="3291840" y="3904488"/>
            <a:ext cx="3566160" cy="576072"/>
          </a:xfrm>
          <a:prstGeom prst="rect">
            <a:avLst/>
          </a:prstGeom>
          <a:noFill/>
          <a:ln/>
        </p:spPr>
        <p:txBody>
          <a:bodyPr wrap="square" lIns="0" tIns="0" rIns="0" bIns="0" rtlCol="0" anchor="ctr"/>
          <a:lstStyle/>
          <a:p>
            <a:pPr algn="l" indent="0" marL="0">
              <a:buNone/>
            </a:pPr>
            <a:r>
              <a:rPr lang="en-US" sz="950" dirty="0">
                <a:solidFill>
                  <a:srgbClr val="2C4A5E"/>
                </a:solidFill>
                <a:latin typeface="Calibri" pitchFamily="34" charset="0"/>
                <a:ea typeface="Calibri" pitchFamily="34" charset="-122"/>
                <a:cs typeface="Calibri" pitchFamily="34" charset="-120"/>
              </a:rPr>
              <a:t>Cardinality set correctly   ·   Cross-filter direction intentional   ·   No ambiguous paths</a:t>
            </a:r>
            <a:endParaRPr lang="en-US" sz="950" dirty="0"/>
          </a:p>
        </p:txBody>
      </p:sp>
      <p:sp>
        <p:nvSpPr>
          <p:cNvPr id="39" name="Shape 37"/>
          <p:cNvSpPr/>
          <p:nvPr/>
        </p:nvSpPr>
        <p:spPr>
          <a:xfrm>
            <a:off x="0" y="4818888"/>
            <a:ext cx="9144000" cy="324612"/>
          </a:xfrm>
          <a:prstGeom prst="rect">
            <a:avLst/>
          </a:prstGeom>
          <a:solidFill>
            <a:srgbClr val="1C7293"/>
          </a:solidFill>
          <a:ln w="12700">
            <a:solidFill>
              <a:srgbClr val="1C7293"/>
            </a:solidFill>
            <a:prstDash val="solid"/>
          </a:ln>
        </p:spPr>
      </p:sp>
      <p:sp>
        <p:nvSpPr>
          <p:cNvPr id="40" name="Text 38"/>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AI readiness isn't subjective. It's measurable — and this checklist is the measurement tool.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28090"/>
          </a:solidFill>
          <a:ln w="12700">
            <a:solidFill>
              <a:srgbClr val="028090"/>
            </a:solidFill>
            <a:prstDash val="solid"/>
          </a:ln>
        </p:spPr>
      </p:sp>
      <p:sp>
        <p:nvSpPr>
          <p:cNvPr id="3" name="Shape 1"/>
          <p:cNvSpPr/>
          <p:nvPr/>
        </p:nvSpPr>
        <p:spPr>
          <a:xfrm>
            <a:off x="2926080" y="0"/>
            <a:ext cx="274320" cy="5143500"/>
          </a:xfrm>
          <a:prstGeom prst="rect">
            <a:avLst/>
          </a:prstGeom>
          <a:solidFill>
            <a:srgbClr val="028090"/>
          </a:solidFill>
          <a:ln w="12700">
            <a:solidFill>
              <a:srgbClr val="028090"/>
            </a:solidFill>
            <a:prstDash val="solid"/>
          </a:ln>
        </p:spPr>
      </p:sp>
      <p:sp>
        <p:nvSpPr>
          <p:cNvPr id="4" name="Text 2"/>
          <p:cNvSpPr/>
          <p:nvPr/>
        </p:nvSpPr>
        <p:spPr>
          <a:xfrm>
            <a:off x="274320" y="914400"/>
            <a:ext cx="2377440" cy="457200"/>
          </a:xfrm>
          <a:prstGeom prst="rect">
            <a:avLst/>
          </a:prstGeom>
          <a:noFill/>
          <a:ln/>
        </p:spPr>
        <p:txBody>
          <a:bodyPr wrap="square" lIns="0" tIns="0" rIns="0" bIns="0" rtlCol="0" anchor="ctr"/>
          <a:lstStyle/>
          <a:p>
            <a:pPr algn="ctr" indent="0" marL="0">
              <a:buNone/>
            </a:pPr>
            <a:r>
              <a:rPr lang="en-US" sz="1100" b="1" spc="500" kern="0" dirty="0">
                <a:solidFill>
                  <a:srgbClr val="FFFFFF"/>
                </a:solidFill>
                <a:latin typeface="Calibri" pitchFamily="34" charset="0"/>
                <a:ea typeface="Calibri" pitchFamily="34" charset="-122"/>
                <a:cs typeface="Calibri" pitchFamily="34" charset="-120"/>
              </a:rPr>
              <a:t>WEEK</a:t>
            </a:r>
            <a:endParaRPr lang="en-US" sz="1100" dirty="0"/>
          </a:p>
        </p:txBody>
      </p:sp>
      <p:sp>
        <p:nvSpPr>
          <p:cNvPr id="5" name="Text 3"/>
          <p:cNvSpPr/>
          <p:nvPr/>
        </p:nvSpPr>
        <p:spPr>
          <a:xfrm>
            <a:off x="274320" y="1280160"/>
            <a:ext cx="2377440" cy="1463040"/>
          </a:xfrm>
          <a:prstGeom prst="rect">
            <a:avLst/>
          </a:prstGeom>
          <a:noFill/>
          <a:ln/>
        </p:spPr>
        <p:txBody>
          <a:bodyPr wrap="square" lIns="0" tIns="0" rIns="0" bIns="0" rtlCol="0" anchor="ctr"/>
          <a:lstStyle/>
          <a:p>
            <a:pPr algn="ctr" indent="0" marL="0">
              <a:buNone/>
            </a:pPr>
            <a:r>
              <a:rPr lang="en-US" sz="9600" b="1" dirty="0">
                <a:solidFill>
                  <a:srgbClr val="FFFFFF"/>
                </a:solidFill>
                <a:latin typeface="Calibri" pitchFamily="34" charset="0"/>
                <a:ea typeface="Calibri" pitchFamily="34" charset="-122"/>
                <a:cs typeface="Calibri" pitchFamily="34" charset="-120"/>
              </a:rPr>
              <a:t>3</a:t>
            </a:r>
            <a:endParaRPr lang="en-US" sz="9600" dirty="0"/>
          </a:p>
        </p:txBody>
      </p:sp>
      <p:sp>
        <p:nvSpPr>
          <p:cNvPr id="6" name="Text 4"/>
          <p:cNvSpPr/>
          <p:nvPr/>
        </p:nvSpPr>
        <p:spPr>
          <a:xfrm>
            <a:off x="3383280" y="1280160"/>
            <a:ext cx="539496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Prompting for Power BI Workflows</a:t>
            </a:r>
            <a:endParaRPr lang="en-US" sz="2800" dirty="0"/>
          </a:p>
        </p:txBody>
      </p:sp>
      <p:sp>
        <p:nvSpPr>
          <p:cNvPr id="7" name="Text 5"/>
          <p:cNvSpPr/>
          <p:nvPr/>
        </p:nvSpPr>
        <p:spPr>
          <a:xfrm>
            <a:off x="3383280" y="2286000"/>
            <a:ext cx="5394960" cy="548640"/>
          </a:xfrm>
          <a:prstGeom prst="rect">
            <a:avLst/>
          </a:prstGeom>
          <a:noFill/>
          <a:ln/>
        </p:spPr>
        <p:txBody>
          <a:bodyPr wrap="square" lIns="0" tIns="0" rIns="0" bIns="0" rtlCol="0" anchor="ctr"/>
          <a:lstStyle/>
          <a:p>
            <a:pPr algn="l" indent="0" marL="0">
              <a:buNone/>
            </a:pPr>
            <a:r>
              <a:rPr lang="en-US" sz="1400" dirty="0">
                <a:solidFill>
                  <a:srgbClr val="8BAFC2"/>
                </a:solidFill>
                <a:latin typeface="Calibri" pitchFamily="34" charset="0"/>
                <a:ea typeface="Calibri" pitchFamily="34" charset="-122"/>
                <a:cs typeface="Calibri" pitchFamily="34" charset="-120"/>
              </a:rPr>
              <a:t>Repeatable patterns for getting reliable AI outputs in BI work</a:t>
            </a:r>
            <a:endParaRPr lang="en-US" sz="1400" dirty="0"/>
          </a:p>
        </p:txBody>
      </p:sp>
      <p:sp>
        <p:nvSpPr>
          <p:cNvPr id="8" name="Shape 6"/>
          <p:cNvSpPr/>
          <p:nvPr/>
        </p:nvSpPr>
        <p:spPr>
          <a:xfrm>
            <a:off x="3383280" y="3017520"/>
            <a:ext cx="4572000" cy="36576"/>
          </a:xfrm>
          <a:prstGeom prst="rect">
            <a:avLst/>
          </a:prstGeom>
          <a:solidFill>
            <a:srgbClr val="028090"/>
          </a:solidFill>
          <a:ln w="12700">
            <a:solidFill>
              <a:srgbClr val="02809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Anatomy of a Good BI Prompt</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Five components that separate reliable AI output from hit-and-miss guessing</a:t>
            </a:r>
            <a:endParaRPr lang="en-US" sz="1200" dirty="0"/>
          </a:p>
        </p:txBody>
      </p:sp>
      <p:sp>
        <p:nvSpPr>
          <p:cNvPr id="5" name="Shape 3"/>
          <p:cNvSpPr/>
          <p:nvPr/>
        </p:nvSpPr>
        <p:spPr>
          <a:xfrm>
            <a:off x="292608" y="1115568"/>
            <a:ext cx="1600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292608" y="1115568"/>
            <a:ext cx="1600200" cy="594360"/>
          </a:xfrm>
          <a:prstGeom prst="rect">
            <a:avLst/>
          </a:prstGeom>
          <a:solidFill>
            <a:srgbClr val="065A82"/>
          </a:solidFill>
          <a:ln w="12700">
            <a:solidFill>
              <a:srgbClr val="065A82"/>
            </a:solidFill>
            <a:prstDash val="solid"/>
          </a:ln>
        </p:spPr>
      </p:sp>
      <p:sp>
        <p:nvSpPr>
          <p:cNvPr id="7" name="Text 5"/>
          <p:cNvSpPr/>
          <p:nvPr/>
        </p:nvSpPr>
        <p:spPr>
          <a:xfrm>
            <a:off x="292608" y="1115568"/>
            <a:ext cx="1600200" cy="292608"/>
          </a:xfrm>
          <a:prstGeom prst="rect">
            <a:avLst/>
          </a:prstGeom>
          <a:noFill/>
          <a:ln/>
        </p:spPr>
        <p:txBody>
          <a:bodyPr wrap="square" lIns="0" tIns="0" rIns="0" bIns="0" rtlCol="0" anchor="ctr"/>
          <a:lstStyle/>
          <a:p>
            <a:pPr algn="ctr" indent="0" marL="0">
              <a:buNone/>
            </a:pPr>
            <a:r>
              <a:rPr lang="en-US" sz="1000" b="1" dirty="0">
                <a:solidFill>
                  <a:srgbClr val="FFFFFF">
                    <a:alpha val="70000"/>
                  </a:srgbClr>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292608" y="1389888"/>
            <a:ext cx="1600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p>
        </p:txBody>
      </p:sp>
      <p:sp>
        <p:nvSpPr>
          <p:cNvPr id="9" name="Text 7"/>
          <p:cNvSpPr/>
          <p:nvPr/>
        </p:nvSpPr>
        <p:spPr>
          <a:xfrm>
            <a:off x="384048" y="1783080"/>
            <a:ext cx="1417320" cy="27432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Set the expertise frame.</a:t>
            </a:r>
            <a:endParaRPr lang="en-US" sz="1000" dirty="0"/>
          </a:p>
          <a:p>
            <a:pPr algn="l" indent="0" marL="0">
              <a:buNone/>
            </a:pPr>
            <a:r>
              <a:rPr lang="en-US" sz="1000" dirty="0">
                <a:solidFill>
                  <a:srgbClr val="2C4A5E"/>
                </a:solidFill>
                <a:latin typeface="Calibri" pitchFamily="34" charset="0"/>
                <a:ea typeface="Calibri" pitchFamily="34" charset="-122"/>
                <a:cs typeface="Calibri" pitchFamily="34" charset="-120"/>
              </a:rPr>
              <a:t>"You are a Power BI developer with expertise in DAX and star-schema modelling."</a:t>
            </a:r>
            <a:endParaRPr lang="en-US" sz="1000" dirty="0"/>
          </a:p>
        </p:txBody>
      </p:sp>
      <p:sp>
        <p:nvSpPr>
          <p:cNvPr id="10" name="Shape 8"/>
          <p:cNvSpPr/>
          <p:nvPr/>
        </p:nvSpPr>
        <p:spPr>
          <a:xfrm>
            <a:off x="2002536" y="1115568"/>
            <a:ext cx="1600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1" name="Shape 9"/>
          <p:cNvSpPr/>
          <p:nvPr/>
        </p:nvSpPr>
        <p:spPr>
          <a:xfrm>
            <a:off x="2002536" y="1115568"/>
            <a:ext cx="1600200" cy="594360"/>
          </a:xfrm>
          <a:prstGeom prst="rect">
            <a:avLst/>
          </a:prstGeom>
          <a:solidFill>
            <a:srgbClr val="1C7293"/>
          </a:solidFill>
          <a:ln w="12700">
            <a:solidFill>
              <a:srgbClr val="1C7293"/>
            </a:solidFill>
            <a:prstDash val="solid"/>
          </a:ln>
        </p:spPr>
      </p:sp>
      <p:sp>
        <p:nvSpPr>
          <p:cNvPr id="12" name="Text 10"/>
          <p:cNvSpPr/>
          <p:nvPr/>
        </p:nvSpPr>
        <p:spPr>
          <a:xfrm>
            <a:off x="2002536" y="1115568"/>
            <a:ext cx="1600200" cy="292608"/>
          </a:xfrm>
          <a:prstGeom prst="rect">
            <a:avLst/>
          </a:prstGeom>
          <a:noFill/>
          <a:ln/>
        </p:spPr>
        <p:txBody>
          <a:bodyPr wrap="square" lIns="0" tIns="0" rIns="0" bIns="0" rtlCol="0" anchor="ctr"/>
          <a:lstStyle/>
          <a:p>
            <a:pPr algn="ctr" indent="0" marL="0">
              <a:buNone/>
            </a:pPr>
            <a:r>
              <a:rPr lang="en-US" sz="1000" b="1" dirty="0">
                <a:solidFill>
                  <a:srgbClr val="FFFFFF">
                    <a:alpha val="70000"/>
                  </a:srgbClr>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2002536" y="1389888"/>
            <a:ext cx="1600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 Context</a:t>
            </a:r>
            <a:endParaRPr lang="en-US" sz="1400" dirty="0"/>
          </a:p>
        </p:txBody>
      </p:sp>
      <p:sp>
        <p:nvSpPr>
          <p:cNvPr id="14" name="Text 12"/>
          <p:cNvSpPr/>
          <p:nvPr/>
        </p:nvSpPr>
        <p:spPr>
          <a:xfrm>
            <a:off x="2093976" y="1783080"/>
            <a:ext cx="1417320" cy="27432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Describe your tables, columns, relationships, and existing measures. Without it, AI will hallucinate column names. The more schema context, the more accurate the output.</a:t>
            </a:r>
            <a:endParaRPr lang="en-US" sz="1000" dirty="0"/>
          </a:p>
        </p:txBody>
      </p:sp>
      <p:sp>
        <p:nvSpPr>
          <p:cNvPr id="15" name="Shape 13"/>
          <p:cNvSpPr/>
          <p:nvPr/>
        </p:nvSpPr>
        <p:spPr>
          <a:xfrm>
            <a:off x="3712464" y="1115568"/>
            <a:ext cx="1600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6" name="Shape 14"/>
          <p:cNvSpPr/>
          <p:nvPr/>
        </p:nvSpPr>
        <p:spPr>
          <a:xfrm>
            <a:off x="3712464" y="1115568"/>
            <a:ext cx="1600200" cy="594360"/>
          </a:xfrm>
          <a:prstGeom prst="rect">
            <a:avLst/>
          </a:prstGeom>
          <a:solidFill>
            <a:srgbClr val="028090"/>
          </a:solidFill>
          <a:ln w="12700">
            <a:solidFill>
              <a:srgbClr val="028090"/>
            </a:solidFill>
            <a:prstDash val="solid"/>
          </a:ln>
        </p:spPr>
      </p:sp>
      <p:sp>
        <p:nvSpPr>
          <p:cNvPr id="17" name="Text 15"/>
          <p:cNvSpPr/>
          <p:nvPr/>
        </p:nvSpPr>
        <p:spPr>
          <a:xfrm>
            <a:off x="3712464" y="1115568"/>
            <a:ext cx="1600200" cy="292608"/>
          </a:xfrm>
          <a:prstGeom prst="rect">
            <a:avLst/>
          </a:prstGeom>
          <a:noFill/>
          <a:ln/>
        </p:spPr>
        <p:txBody>
          <a:bodyPr wrap="square" lIns="0" tIns="0" rIns="0" bIns="0" rtlCol="0" anchor="ctr"/>
          <a:lstStyle/>
          <a:p>
            <a:pPr algn="ctr" indent="0" marL="0">
              <a:buNone/>
            </a:pPr>
            <a:r>
              <a:rPr lang="en-US" sz="1000" b="1" dirty="0">
                <a:solidFill>
                  <a:srgbClr val="FFFFFF">
                    <a:alpha val="70000"/>
                  </a:srgbClr>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3712464" y="1389888"/>
            <a:ext cx="1600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p>
        </p:txBody>
      </p:sp>
      <p:sp>
        <p:nvSpPr>
          <p:cNvPr id="19" name="Text 17"/>
          <p:cNvSpPr/>
          <p:nvPr/>
        </p:nvSpPr>
        <p:spPr>
          <a:xfrm>
            <a:off x="3803904" y="1783080"/>
            <a:ext cx="1417320" cy="27432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Be specific about what “done” looks like. "Write a DAX measure for YoY revenue growth as %, handling the case where prior year is zero."</a:t>
            </a:r>
            <a:endParaRPr lang="en-US" sz="1000" dirty="0"/>
          </a:p>
        </p:txBody>
      </p:sp>
      <p:sp>
        <p:nvSpPr>
          <p:cNvPr id="20" name="Shape 18"/>
          <p:cNvSpPr/>
          <p:nvPr/>
        </p:nvSpPr>
        <p:spPr>
          <a:xfrm>
            <a:off x="5422392" y="1115568"/>
            <a:ext cx="1600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21" name="Shape 19"/>
          <p:cNvSpPr/>
          <p:nvPr/>
        </p:nvSpPr>
        <p:spPr>
          <a:xfrm>
            <a:off x="5422392" y="1115568"/>
            <a:ext cx="1600200" cy="594360"/>
          </a:xfrm>
          <a:prstGeom prst="rect">
            <a:avLst/>
          </a:prstGeom>
          <a:solidFill>
            <a:srgbClr val="065A82"/>
          </a:solidFill>
          <a:ln w="12700">
            <a:solidFill>
              <a:srgbClr val="065A82"/>
            </a:solidFill>
            <a:prstDash val="solid"/>
          </a:ln>
        </p:spPr>
      </p:sp>
      <p:sp>
        <p:nvSpPr>
          <p:cNvPr id="22" name="Text 20"/>
          <p:cNvSpPr/>
          <p:nvPr/>
        </p:nvSpPr>
        <p:spPr>
          <a:xfrm>
            <a:off x="5422392" y="1115568"/>
            <a:ext cx="1600200" cy="292608"/>
          </a:xfrm>
          <a:prstGeom prst="rect">
            <a:avLst/>
          </a:prstGeom>
          <a:noFill/>
          <a:ln/>
        </p:spPr>
        <p:txBody>
          <a:bodyPr wrap="square" lIns="0" tIns="0" rIns="0" bIns="0" rtlCol="0" anchor="ctr"/>
          <a:lstStyle/>
          <a:p>
            <a:pPr algn="ctr" indent="0" marL="0">
              <a:buNone/>
            </a:pPr>
            <a:r>
              <a:rPr lang="en-US" sz="1000" b="1" dirty="0">
                <a:solidFill>
                  <a:srgbClr val="FFFFFF">
                    <a:alpha val="70000"/>
                  </a:srgbClr>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5422392" y="1389888"/>
            <a:ext cx="1600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Constraints</a:t>
            </a:r>
            <a:endParaRPr lang="en-US" sz="1400" dirty="0"/>
          </a:p>
        </p:txBody>
      </p:sp>
      <p:sp>
        <p:nvSpPr>
          <p:cNvPr id="24" name="Text 22"/>
          <p:cNvSpPr/>
          <p:nvPr/>
        </p:nvSpPr>
        <p:spPr>
          <a:xfrm>
            <a:off x="5513832" y="1783080"/>
            <a:ext cx="1417320" cy="27432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"Use only Sales and Date tables." "Follow our naming convention." Constraints prevent technically correct but organisationally wrong outputs.</a:t>
            </a:r>
            <a:endParaRPr lang="en-US" sz="1000" dirty="0"/>
          </a:p>
        </p:txBody>
      </p:sp>
      <p:sp>
        <p:nvSpPr>
          <p:cNvPr id="25" name="Shape 23"/>
          <p:cNvSpPr/>
          <p:nvPr/>
        </p:nvSpPr>
        <p:spPr>
          <a:xfrm>
            <a:off x="7132320" y="1115568"/>
            <a:ext cx="1600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26" name="Shape 24"/>
          <p:cNvSpPr/>
          <p:nvPr/>
        </p:nvSpPr>
        <p:spPr>
          <a:xfrm>
            <a:off x="7132320" y="1115568"/>
            <a:ext cx="1600200" cy="594360"/>
          </a:xfrm>
          <a:prstGeom prst="rect">
            <a:avLst/>
          </a:prstGeom>
          <a:solidFill>
            <a:srgbClr val="1C7293"/>
          </a:solidFill>
          <a:ln w="12700">
            <a:solidFill>
              <a:srgbClr val="1C7293"/>
            </a:solidFill>
            <a:prstDash val="solid"/>
          </a:ln>
        </p:spPr>
      </p:sp>
      <p:sp>
        <p:nvSpPr>
          <p:cNvPr id="27" name="Text 25"/>
          <p:cNvSpPr/>
          <p:nvPr/>
        </p:nvSpPr>
        <p:spPr>
          <a:xfrm>
            <a:off x="7132320" y="1115568"/>
            <a:ext cx="1600200" cy="292608"/>
          </a:xfrm>
          <a:prstGeom prst="rect">
            <a:avLst/>
          </a:prstGeom>
          <a:noFill/>
          <a:ln/>
        </p:spPr>
        <p:txBody>
          <a:bodyPr wrap="square" lIns="0" tIns="0" rIns="0" bIns="0" rtlCol="0" anchor="ctr"/>
          <a:lstStyle/>
          <a:p>
            <a:pPr algn="ctr" indent="0" marL="0">
              <a:buNone/>
            </a:pPr>
            <a:r>
              <a:rPr lang="en-US" sz="1000" b="1" dirty="0">
                <a:solidFill>
                  <a:srgbClr val="FFFFFF">
                    <a:alpha val="70000"/>
                  </a:srgbClr>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7132320" y="1389888"/>
            <a:ext cx="1600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Format</a:t>
            </a:r>
            <a:endParaRPr lang="en-US" sz="1400" dirty="0"/>
          </a:p>
        </p:txBody>
      </p:sp>
      <p:sp>
        <p:nvSpPr>
          <p:cNvPr id="29" name="Text 27"/>
          <p:cNvSpPr/>
          <p:nvPr/>
        </p:nvSpPr>
        <p:spPr>
          <a:xfrm>
            <a:off x="7223760" y="1783080"/>
            <a:ext cx="1417320" cy="274320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"Return DAX only with a one-line comment" vs "full explanation of each function." Match the format to your workflow — paste-ready vs tutorial.</a:t>
            </a:r>
            <a:endParaRPr lang="en-US" sz="1000" dirty="0"/>
          </a:p>
        </p:txBody>
      </p:sp>
      <p:sp>
        <p:nvSpPr>
          <p:cNvPr id="30" name="Shape 28"/>
          <p:cNvSpPr/>
          <p:nvPr/>
        </p:nvSpPr>
        <p:spPr>
          <a:xfrm>
            <a:off x="0" y="4818888"/>
            <a:ext cx="9144000" cy="324612"/>
          </a:xfrm>
          <a:prstGeom prst="rect">
            <a:avLst/>
          </a:prstGeom>
          <a:solidFill>
            <a:srgbClr val="028090"/>
          </a:solidFill>
          <a:ln w="12700">
            <a:solidFill>
              <a:srgbClr val="028090"/>
            </a:solidFill>
            <a:prstDash val="solid"/>
          </a:ln>
        </p:spPr>
      </p:sp>
      <p:sp>
        <p:nvSpPr>
          <p:cNvPr id="31" name="Text 29"/>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BI prompting is mostly about context. The better you describe your model, the better the output.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Prompting for DAX Generation</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Highest-value and highest-risk prompting use case — when it fails, it produces measures that look correct but return wrong numbers</a:t>
            </a:r>
            <a:endParaRPr lang="en-US" sz="1200" dirty="0"/>
          </a:p>
        </p:txBody>
      </p:sp>
      <p:sp>
        <p:nvSpPr>
          <p:cNvPr id="5" name="Shape 3"/>
          <p:cNvSpPr/>
          <p:nvPr/>
        </p:nvSpPr>
        <p:spPr>
          <a:xfrm>
            <a:off x="365760" y="1115568"/>
            <a:ext cx="5029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115568"/>
            <a:ext cx="5029200" cy="384048"/>
          </a:xfrm>
          <a:prstGeom prst="rect">
            <a:avLst/>
          </a:prstGeom>
          <a:solidFill>
            <a:srgbClr val="028090"/>
          </a:solidFill>
          <a:ln w="12700">
            <a:solidFill>
              <a:srgbClr val="028090"/>
            </a:solidFill>
            <a:prstDash val="solid"/>
          </a:ln>
        </p:spPr>
      </p:sp>
      <p:sp>
        <p:nvSpPr>
          <p:cNvPr id="7" name="Text 5"/>
          <p:cNvSpPr/>
          <p:nvPr/>
        </p:nvSpPr>
        <p:spPr>
          <a:xfrm>
            <a:off x="548640" y="1115568"/>
            <a:ext cx="466344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Patterns That Work</a:t>
            </a:r>
            <a:endParaRPr lang="en-US" sz="1300" dirty="0"/>
          </a:p>
        </p:txBody>
      </p:sp>
      <p:sp>
        <p:nvSpPr>
          <p:cNvPr id="8" name="Text 6"/>
          <p:cNvSpPr/>
          <p:nvPr/>
        </p:nvSpPr>
        <p:spPr>
          <a:xfrm>
            <a:off x="548640" y="1591056"/>
            <a:ext cx="466344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Describe in plain language first</a:t>
            </a:r>
            <a:endParaRPr lang="en-US" sz="1100" dirty="0"/>
          </a:p>
        </p:txBody>
      </p:sp>
      <p:sp>
        <p:nvSpPr>
          <p:cNvPr id="9" name="Text 7"/>
          <p:cNvSpPr/>
          <p:nvPr/>
        </p:nvSpPr>
        <p:spPr>
          <a:xfrm>
            <a:off x="548640" y="1847088"/>
            <a:ext cx="4663440" cy="41148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"I need the % of total revenue by product category where the total is the grand total regardless of filter context" — then ask for DAX.</a:t>
            </a:r>
            <a:endParaRPr lang="en-US" sz="1000" dirty="0"/>
          </a:p>
        </p:txBody>
      </p:sp>
      <p:sp>
        <p:nvSpPr>
          <p:cNvPr id="10" name="Text 8"/>
          <p:cNvSpPr/>
          <p:nvPr/>
        </p:nvSpPr>
        <p:spPr>
          <a:xfrm>
            <a:off x="548640" y="2295144"/>
            <a:ext cx="466344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Provide sample data + expected output</a:t>
            </a:r>
            <a:endParaRPr lang="en-US" sz="1100" dirty="0"/>
          </a:p>
        </p:txBody>
      </p:sp>
      <p:sp>
        <p:nvSpPr>
          <p:cNvPr id="11" name="Text 9"/>
          <p:cNvSpPr/>
          <p:nvPr/>
        </p:nvSpPr>
        <p:spPr>
          <a:xfrm>
            <a:off x="548640" y="2551176"/>
            <a:ext cx="4663440" cy="41148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"Given these three rows [example], the measure should return [expected result]."</a:t>
            </a:r>
            <a:endParaRPr lang="en-US" sz="1000" dirty="0"/>
          </a:p>
        </p:txBody>
      </p:sp>
      <p:sp>
        <p:nvSpPr>
          <p:cNvPr id="12" name="Text 10"/>
          <p:cNvSpPr/>
          <p:nvPr/>
        </p:nvSpPr>
        <p:spPr>
          <a:xfrm>
            <a:off x="548640" y="2999232"/>
            <a:ext cx="466344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Specify patterns to use or avoid</a:t>
            </a:r>
            <a:endParaRPr lang="en-US" sz="1100" dirty="0"/>
          </a:p>
        </p:txBody>
      </p:sp>
      <p:sp>
        <p:nvSpPr>
          <p:cNvPr id="13" name="Text 11"/>
          <p:cNvSpPr/>
          <p:nvPr/>
        </p:nvSpPr>
        <p:spPr>
          <a:xfrm>
            <a:off x="548640" y="3255264"/>
            <a:ext cx="4663440" cy="41148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"Use DIVIDE instead of /, prefer CALCULATETABLE over FILTER for performance."</a:t>
            </a:r>
            <a:endParaRPr lang="en-US" sz="1000" dirty="0"/>
          </a:p>
        </p:txBody>
      </p:sp>
      <p:sp>
        <p:nvSpPr>
          <p:cNvPr id="14" name="Text 12"/>
          <p:cNvSpPr/>
          <p:nvPr/>
        </p:nvSpPr>
        <p:spPr>
          <a:xfrm>
            <a:off x="548640" y="3703320"/>
            <a:ext cx="466344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Break complex measures into steps</a:t>
            </a:r>
            <a:endParaRPr lang="en-US" sz="1100" dirty="0"/>
          </a:p>
        </p:txBody>
      </p:sp>
      <p:sp>
        <p:nvSpPr>
          <p:cNvPr id="15" name="Text 13"/>
          <p:cNvSpPr/>
          <p:nvPr/>
        </p:nvSpPr>
        <p:spPr>
          <a:xfrm>
            <a:off x="548640" y="3959352"/>
            <a:ext cx="4663440" cy="411480"/>
          </a:xfrm>
          <a:prstGeom prst="rect">
            <a:avLst/>
          </a:prstGeom>
          <a:noFill/>
          <a:ln/>
        </p:spPr>
        <p:txBody>
          <a:bodyPr wrap="square" lIns="0" tIns="0" rIns="0" bIns="0" rtlCol="0" anchor="t"/>
          <a:lstStyle/>
          <a:p>
            <a:pPr algn="l" indent="0" marL="0">
              <a:buNone/>
            </a:pPr>
            <a:r>
              <a:rPr lang="en-US" sz="1000" dirty="0">
                <a:solidFill>
                  <a:srgbClr val="2C4A5E"/>
                </a:solidFill>
                <a:latin typeface="Calibri" pitchFamily="34" charset="0"/>
                <a:ea typeface="Calibri" pitchFamily="34" charset="-122"/>
                <a:cs typeface="Calibri" pitchFamily="34" charset="-120"/>
              </a:rPr>
              <a:t>"First, write the base measure. Then, write the time intelligence wrapper around it."</a:t>
            </a:r>
            <a:endParaRPr lang="en-US" sz="1000" dirty="0"/>
          </a:p>
        </p:txBody>
      </p:sp>
      <p:sp>
        <p:nvSpPr>
          <p:cNvPr id="16" name="Shape 14"/>
          <p:cNvSpPr/>
          <p:nvPr/>
        </p:nvSpPr>
        <p:spPr>
          <a:xfrm>
            <a:off x="5623560" y="1115568"/>
            <a:ext cx="3154680" cy="2194560"/>
          </a:xfrm>
          <a:prstGeom prst="rect">
            <a:avLst/>
          </a:prstGeom>
          <a:solidFill>
            <a:srgbClr val="065A82"/>
          </a:solidFill>
          <a:ln w="12700">
            <a:solidFill>
              <a:srgbClr val="065A82"/>
            </a:solidFill>
            <a:prstDash val="solid"/>
          </a:ln>
        </p:spPr>
      </p:sp>
      <p:pic>
        <p:nvPicPr>
          <p:cNvPr id="17" name="Image 0" descr="preencoded.png">    </p:cNvPr>
          <p:cNvPicPr>
            <a:picLocks noChangeAspect="1"/>
          </p:cNvPicPr>
          <p:nvPr/>
        </p:nvPicPr>
        <p:blipFill>
          <a:blip r:embed="rId1"/>
          <a:stretch>
            <a:fillRect/>
          </a:stretch>
        </p:blipFill>
        <p:spPr>
          <a:xfrm>
            <a:off x="5806440" y="1261872"/>
            <a:ext cx="457200" cy="457200"/>
          </a:xfrm>
          <a:prstGeom prst="rect">
            <a:avLst/>
          </a:prstGeom>
        </p:spPr>
      </p:pic>
      <p:sp>
        <p:nvSpPr>
          <p:cNvPr id="18" name="Text 15"/>
          <p:cNvSpPr/>
          <p:nvPr/>
        </p:nvSpPr>
        <p:spPr>
          <a:xfrm>
            <a:off x="6355080" y="1261872"/>
            <a:ext cx="228600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Validation Habit</a:t>
            </a:r>
            <a:endParaRPr lang="en-US" sz="1400" dirty="0"/>
          </a:p>
        </p:txBody>
      </p:sp>
      <p:sp>
        <p:nvSpPr>
          <p:cNvPr id="19" name="Text 16"/>
          <p:cNvSpPr/>
          <p:nvPr/>
        </p:nvSpPr>
        <p:spPr>
          <a:xfrm>
            <a:off x="5806440" y="1810512"/>
            <a:ext cx="2834640" cy="1371600"/>
          </a:xfrm>
          <a:prstGeom prst="rect">
            <a:avLst/>
          </a:prstGeom>
          <a:noFill/>
          <a:ln/>
        </p:spPr>
        <p:txBody>
          <a:bodyPr wrap="square" lIns="0" tIns="0" rIns="0" bIns="0" rtlCol="0" anchor="t"/>
          <a:lstStyle/>
          <a:p>
            <a:pPr algn="l" indent="0" marL="0">
              <a:buNone/>
            </a:pPr>
            <a:r>
              <a:rPr lang="en-US" sz="1100" dirty="0">
                <a:solidFill>
                  <a:srgbClr val="C8E4F0"/>
                </a:solidFill>
                <a:latin typeface="Calibri" pitchFamily="34" charset="0"/>
                <a:ea typeface="Calibri" pitchFamily="34" charset="-122"/>
                <a:cs typeface="Calibri" pitchFamily="34" charset="-120"/>
              </a:rPr>
              <a:t>Always ask the AI to explain its DAX logic step by step after generating it.</a:t>
            </a:r>
            <a:endParaRPr lang="en-US" sz="1100" dirty="0"/>
          </a:p>
          <a:p>
            <a:pPr algn="l" indent="0" marL="0">
              <a:buNone/>
            </a:pPr>
            <a:endParaRPr lang="en-US" sz="1100" dirty="0"/>
          </a:p>
          <a:p>
            <a:pPr algn="l" indent="0" marL="0">
              <a:buNone/>
            </a:pPr>
            <a:r>
              <a:rPr lang="en-US" sz="1100" dirty="0">
                <a:solidFill>
                  <a:srgbClr val="C8E4F0"/>
                </a:solidFill>
                <a:latin typeface="Calibri" pitchFamily="34" charset="0"/>
                <a:ea typeface="Calibri" pitchFamily="34" charset="-122"/>
                <a:cs typeface="Calibri" pitchFamily="34" charset="-120"/>
              </a:rPr>
              <a:t>If the explanation doesn't match your intent, the DAX is wrong — even if it looks right.</a:t>
            </a:r>
            <a:endParaRPr lang="en-US" sz="1100" dirty="0"/>
          </a:p>
        </p:txBody>
      </p:sp>
      <p:sp>
        <p:nvSpPr>
          <p:cNvPr id="20" name="Shape 17"/>
          <p:cNvSpPr/>
          <p:nvPr/>
        </p:nvSpPr>
        <p:spPr>
          <a:xfrm>
            <a:off x="5623560" y="3429000"/>
            <a:ext cx="3154680" cy="1207008"/>
          </a:xfrm>
          <a:prstGeom prst="rect">
            <a:avLst/>
          </a:prstGeom>
          <a:solidFill>
            <a:srgbClr val="FEF3C7"/>
          </a:solidFill>
          <a:ln w="12700">
            <a:solidFill>
              <a:srgbClr val="F59E0B"/>
            </a:solidFill>
            <a:prstDash val="solid"/>
          </a:ln>
        </p:spPr>
      </p:sp>
      <p:sp>
        <p:nvSpPr>
          <p:cNvPr id="21" name="Text 18"/>
          <p:cNvSpPr/>
          <p:nvPr/>
        </p:nvSpPr>
        <p:spPr>
          <a:xfrm>
            <a:off x="5806440" y="3493008"/>
            <a:ext cx="2834640" cy="274320"/>
          </a:xfrm>
          <a:prstGeom prst="rect">
            <a:avLst/>
          </a:prstGeom>
          <a:noFill/>
          <a:ln/>
        </p:spPr>
        <p:txBody>
          <a:bodyPr wrap="square" lIns="0" tIns="0" rIns="0" bIns="0" rtlCol="0" anchor="ctr"/>
          <a:lstStyle/>
          <a:p>
            <a:pPr algn="l" indent="0" marL="0">
              <a:buNone/>
            </a:pPr>
            <a:r>
              <a:rPr lang="en-US" sz="1100" b="1" dirty="0">
                <a:solidFill>
                  <a:srgbClr val="92400E"/>
                </a:solidFill>
                <a:latin typeface="Calibri" pitchFamily="34" charset="0"/>
                <a:ea typeface="Calibri" pitchFamily="34" charset="-122"/>
                <a:cs typeface="Calibri" pitchFamily="34" charset="-120"/>
              </a:rPr>
              <a:t>Schema Context Problem</a:t>
            </a:r>
            <a:endParaRPr lang="en-US" sz="1100" dirty="0"/>
          </a:p>
        </p:txBody>
      </p:sp>
      <p:sp>
        <p:nvSpPr>
          <p:cNvPr id="22" name="Text 19"/>
          <p:cNvSpPr/>
          <p:nvPr/>
        </p:nvSpPr>
        <p:spPr>
          <a:xfrm>
            <a:off x="5806440" y="3767328"/>
            <a:ext cx="2834640" cy="804672"/>
          </a:xfrm>
          <a:prstGeom prst="rect">
            <a:avLst/>
          </a:prstGeom>
          <a:noFill/>
          <a:ln/>
        </p:spPr>
        <p:txBody>
          <a:bodyPr wrap="square" lIns="0" tIns="0" rIns="0" bIns="0" rtlCol="0" anchor="t"/>
          <a:lstStyle/>
          <a:p>
            <a:pPr algn="l" indent="0" marL="0">
              <a:buNone/>
            </a:pPr>
            <a:r>
              <a:rPr lang="en-US" sz="950" dirty="0">
                <a:solidFill>
                  <a:srgbClr val="92400E"/>
                </a:solidFill>
                <a:latin typeface="Calibri" pitchFamily="34" charset="0"/>
                <a:ea typeface="Calibri" pitchFamily="34" charset="-122"/>
                <a:cs typeface="Calibri" pitchFamily="34" charset="-120"/>
              </a:rPr>
              <a:t>AI doesn't know your column names unless you tell it. The most common failure: hallucinated column names — the AI invents Sales[Amount] when your column is FactSales[SalesAmount].</a:t>
            </a:r>
            <a:endParaRPr lang="en-US" sz="950" dirty="0"/>
          </a:p>
        </p:txBody>
      </p:sp>
      <p:sp>
        <p:nvSpPr>
          <p:cNvPr id="23" name="Shape 20"/>
          <p:cNvSpPr/>
          <p:nvPr/>
        </p:nvSpPr>
        <p:spPr>
          <a:xfrm>
            <a:off x="0" y="4818888"/>
            <a:ext cx="9144000" cy="324612"/>
          </a:xfrm>
          <a:prstGeom prst="rect">
            <a:avLst/>
          </a:prstGeom>
          <a:solidFill>
            <a:srgbClr val="028090"/>
          </a:solidFill>
          <a:ln w="12700">
            <a:solidFill>
              <a:srgbClr val="028090"/>
            </a:solidFill>
            <a:prstDash val="solid"/>
          </a:ln>
        </p:spPr>
      </p:sp>
      <p:sp>
        <p:nvSpPr>
          <p:cNvPr id="24" name="Text 21"/>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Never trust AI-generated DAX without understanding it. The prompt should make the logic transparent, not just the syntax correct.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Iterative Refinement</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Effective AI-assisted development is conversational — plan for 2-3 rounds on any non-trivial task</a:t>
            </a:r>
            <a:endParaRPr lang="en-US" sz="1200" dirty="0"/>
          </a:p>
        </p:txBody>
      </p:sp>
      <p:sp>
        <p:nvSpPr>
          <p:cNvPr id="5" name="Shape 3"/>
          <p:cNvSpPr/>
          <p:nvPr/>
        </p:nvSpPr>
        <p:spPr>
          <a:xfrm>
            <a:off x="365760" y="1143000"/>
            <a:ext cx="1920240" cy="17373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143000"/>
            <a:ext cx="1920240" cy="475488"/>
          </a:xfrm>
          <a:prstGeom prst="rect">
            <a:avLst/>
          </a:prstGeom>
          <a:solidFill>
            <a:srgbClr val="065A82"/>
          </a:solidFill>
          <a:ln w="12700">
            <a:solidFill>
              <a:srgbClr val="065A82"/>
            </a:solidFill>
            <a:prstDash val="solid"/>
          </a:ln>
        </p:spPr>
      </p:sp>
      <p:sp>
        <p:nvSpPr>
          <p:cNvPr id="7" name="Text 5"/>
          <p:cNvSpPr/>
          <p:nvPr/>
        </p:nvSpPr>
        <p:spPr>
          <a:xfrm>
            <a:off x="438912" y="1143000"/>
            <a:ext cx="41148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96112" y="114300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Generate</a:t>
            </a:r>
            <a:endParaRPr lang="en-US" sz="1400" dirty="0"/>
          </a:p>
        </p:txBody>
      </p:sp>
      <p:sp>
        <p:nvSpPr>
          <p:cNvPr id="9" name="Text 7"/>
          <p:cNvSpPr/>
          <p:nvPr/>
        </p:nvSpPr>
        <p:spPr>
          <a:xfrm>
            <a:off x="502920" y="1691640"/>
            <a:ext cx="1664208" cy="105156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Send your prompt and receive output</a:t>
            </a:r>
            <a:endParaRPr lang="en-US" sz="1050" dirty="0"/>
          </a:p>
        </p:txBody>
      </p:sp>
      <p:pic>
        <p:nvPicPr>
          <p:cNvPr id="10" name="Image 0" descr="preencoded.png">    </p:cNvPr>
          <p:cNvPicPr>
            <a:picLocks noChangeAspect="1"/>
          </p:cNvPicPr>
          <p:nvPr/>
        </p:nvPicPr>
        <p:blipFill>
          <a:blip r:embed="rId1"/>
          <a:stretch>
            <a:fillRect/>
          </a:stretch>
        </p:blipFill>
        <p:spPr>
          <a:xfrm>
            <a:off x="2331720" y="1691640"/>
            <a:ext cx="274320" cy="274320"/>
          </a:xfrm>
          <a:prstGeom prst="rect">
            <a:avLst/>
          </a:prstGeom>
        </p:spPr>
      </p:pic>
      <p:sp>
        <p:nvSpPr>
          <p:cNvPr id="11" name="Shape 8"/>
          <p:cNvSpPr/>
          <p:nvPr/>
        </p:nvSpPr>
        <p:spPr>
          <a:xfrm>
            <a:off x="2450592" y="1143000"/>
            <a:ext cx="1920240" cy="17373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2" name="Shape 9"/>
          <p:cNvSpPr/>
          <p:nvPr/>
        </p:nvSpPr>
        <p:spPr>
          <a:xfrm>
            <a:off x="2450592" y="1143000"/>
            <a:ext cx="1920240" cy="475488"/>
          </a:xfrm>
          <a:prstGeom prst="rect">
            <a:avLst/>
          </a:prstGeom>
          <a:solidFill>
            <a:srgbClr val="1C7293"/>
          </a:solidFill>
          <a:ln w="12700">
            <a:solidFill>
              <a:srgbClr val="1C7293"/>
            </a:solidFill>
            <a:prstDash val="solid"/>
          </a:ln>
        </p:spPr>
      </p:sp>
      <p:sp>
        <p:nvSpPr>
          <p:cNvPr id="13" name="Text 10"/>
          <p:cNvSpPr/>
          <p:nvPr/>
        </p:nvSpPr>
        <p:spPr>
          <a:xfrm>
            <a:off x="2523744" y="1143000"/>
            <a:ext cx="41148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2980944" y="114300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Review</a:t>
            </a:r>
            <a:endParaRPr lang="en-US" sz="1400" dirty="0"/>
          </a:p>
        </p:txBody>
      </p:sp>
      <p:sp>
        <p:nvSpPr>
          <p:cNvPr id="15" name="Text 12"/>
          <p:cNvSpPr/>
          <p:nvPr/>
        </p:nvSpPr>
        <p:spPr>
          <a:xfrm>
            <a:off x="2587752" y="1691640"/>
            <a:ext cx="1664208" cy="105156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Does it match intent? Where is the gap?</a:t>
            </a:r>
            <a:endParaRPr lang="en-US" sz="1050" dirty="0"/>
          </a:p>
        </p:txBody>
      </p:sp>
      <p:pic>
        <p:nvPicPr>
          <p:cNvPr id="16" name="Image 1" descr="preencoded.png">    </p:cNvPr>
          <p:cNvPicPr>
            <a:picLocks noChangeAspect="1"/>
          </p:cNvPicPr>
          <p:nvPr/>
        </p:nvPicPr>
        <p:blipFill>
          <a:blip r:embed="rId2"/>
          <a:stretch>
            <a:fillRect/>
          </a:stretch>
        </p:blipFill>
        <p:spPr>
          <a:xfrm>
            <a:off x="4416552" y="1691640"/>
            <a:ext cx="274320" cy="274320"/>
          </a:xfrm>
          <a:prstGeom prst="rect">
            <a:avLst/>
          </a:prstGeom>
        </p:spPr>
      </p:pic>
      <p:sp>
        <p:nvSpPr>
          <p:cNvPr id="17" name="Shape 13"/>
          <p:cNvSpPr/>
          <p:nvPr/>
        </p:nvSpPr>
        <p:spPr>
          <a:xfrm>
            <a:off x="4535424" y="1143000"/>
            <a:ext cx="1920240" cy="17373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8" name="Shape 14"/>
          <p:cNvSpPr/>
          <p:nvPr/>
        </p:nvSpPr>
        <p:spPr>
          <a:xfrm>
            <a:off x="4535424" y="1143000"/>
            <a:ext cx="1920240" cy="475488"/>
          </a:xfrm>
          <a:prstGeom prst="rect">
            <a:avLst/>
          </a:prstGeom>
          <a:solidFill>
            <a:srgbClr val="028090"/>
          </a:solidFill>
          <a:ln w="12700">
            <a:solidFill>
              <a:srgbClr val="028090"/>
            </a:solidFill>
            <a:prstDash val="solid"/>
          </a:ln>
        </p:spPr>
      </p:sp>
      <p:sp>
        <p:nvSpPr>
          <p:cNvPr id="19" name="Text 15"/>
          <p:cNvSpPr/>
          <p:nvPr/>
        </p:nvSpPr>
        <p:spPr>
          <a:xfrm>
            <a:off x="4608576" y="1143000"/>
            <a:ext cx="41148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6"/>
          <p:cNvSpPr/>
          <p:nvPr/>
        </p:nvSpPr>
        <p:spPr>
          <a:xfrm>
            <a:off x="5065776" y="114300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Refine Prompt</a:t>
            </a:r>
            <a:endParaRPr lang="en-US" sz="1400" dirty="0"/>
          </a:p>
        </p:txBody>
      </p:sp>
      <p:sp>
        <p:nvSpPr>
          <p:cNvPr id="21" name="Text 17"/>
          <p:cNvSpPr/>
          <p:nvPr/>
        </p:nvSpPr>
        <p:spPr>
          <a:xfrm>
            <a:off x="4672584" y="1691640"/>
            <a:ext cx="1664208" cy="105156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Add context or constraints based on what went wrong</a:t>
            </a:r>
            <a:endParaRPr lang="en-US" sz="1050" dirty="0"/>
          </a:p>
        </p:txBody>
      </p:sp>
      <p:pic>
        <p:nvPicPr>
          <p:cNvPr id="22" name="Image 2" descr="preencoded.png">    </p:cNvPr>
          <p:cNvPicPr>
            <a:picLocks noChangeAspect="1"/>
          </p:cNvPicPr>
          <p:nvPr/>
        </p:nvPicPr>
        <p:blipFill>
          <a:blip r:embed="rId3"/>
          <a:stretch>
            <a:fillRect/>
          </a:stretch>
        </p:blipFill>
        <p:spPr>
          <a:xfrm>
            <a:off x="6501384" y="1691640"/>
            <a:ext cx="274320" cy="274320"/>
          </a:xfrm>
          <a:prstGeom prst="rect">
            <a:avLst/>
          </a:prstGeom>
        </p:spPr>
      </p:pic>
      <p:sp>
        <p:nvSpPr>
          <p:cNvPr id="23" name="Shape 18"/>
          <p:cNvSpPr/>
          <p:nvPr/>
        </p:nvSpPr>
        <p:spPr>
          <a:xfrm>
            <a:off x="6620256" y="1143000"/>
            <a:ext cx="1920240" cy="17373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24" name="Shape 19"/>
          <p:cNvSpPr/>
          <p:nvPr/>
        </p:nvSpPr>
        <p:spPr>
          <a:xfrm>
            <a:off x="6620256" y="1143000"/>
            <a:ext cx="1920240" cy="475488"/>
          </a:xfrm>
          <a:prstGeom prst="rect">
            <a:avLst/>
          </a:prstGeom>
          <a:solidFill>
            <a:srgbClr val="02C39A"/>
          </a:solidFill>
          <a:ln w="12700">
            <a:solidFill>
              <a:srgbClr val="02C39A"/>
            </a:solidFill>
            <a:prstDash val="solid"/>
          </a:ln>
        </p:spPr>
      </p:sp>
      <p:sp>
        <p:nvSpPr>
          <p:cNvPr id="25" name="Text 20"/>
          <p:cNvSpPr/>
          <p:nvPr/>
        </p:nvSpPr>
        <p:spPr>
          <a:xfrm>
            <a:off x="6693408" y="1143000"/>
            <a:ext cx="41148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1"/>
          <p:cNvSpPr/>
          <p:nvPr/>
        </p:nvSpPr>
        <p:spPr>
          <a:xfrm>
            <a:off x="7150608" y="114300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Regenerate</a:t>
            </a:r>
            <a:endParaRPr lang="en-US" sz="1400" dirty="0"/>
          </a:p>
        </p:txBody>
      </p:sp>
      <p:sp>
        <p:nvSpPr>
          <p:cNvPr id="27" name="Text 22"/>
          <p:cNvSpPr/>
          <p:nvPr/>
        </p:nvSpPr>
        <p:spPr>
          <a:xfrm>
            <a:off x="6757416" y="1691640"/>
            <a:ext cx="1664208" cy="1051560"/>
          </a:xfrm>
          <a:prstGeom prst="rect">
            <a:avLst/>
          </a:prstGeom>
          <a:noFill/>
          <a:ln/>
        </p:spPr>
        <p:txBody>
          <a:bodyPr wrap="square" lIns="0" tIns="0" rIns="0" bIns="0" rtlCol="0" anchor="t"/>
          <a:lstStyle/>
          <a:p>
            <a:pPr algn="l" indent="0" marL="0">
              <a:buNone/>
            </a:pPr>
            <a:r>
              <a:rPr lang="en-US" sz="1050" dirty="0">
                <a:solidFill>
                  <a:srgbClr val="2C4A5E"/>
                </a:solidFill>
                <a:latin typeface="Calibri" pitchFamily="34" charset="0"/>
                <a:ea typeface="Calibri" pitchFamily="34" charset="-122"/>
                <a:cs typeface="Calibri" pitchFamily="34" charset="-120"/>
              </a:rPr>
              <a:t>New context → better output. Repeat.</a:t>
            </a:r>
            <a:endParaRPr lang="en-US" sz="1050" dirty="0"/>
          </a:p>
        </p:txBody>
      </p:sp>
      <p:sp>
        <p:nvSpPr>
          <p:cNvPr id="28" name="Shape 23"/>
          <p:cNvSpPr/>
          <p:nvPr/>
        </p:nvSpPr>
        <p:spPr>
          <a:xfrm>
            <a:off x="365760" y="3035808"/>
            <a:ext cx="8412480" cy="347472"/>
          </a:xfrm>
          <a:prstGeom prst="rect">
            <a:avLst/>
          </a:prstGeom>
          <a:solidFill>
            <a:srgbClr val="1C7293"/>
          </a:solidFill>
          <a:ln w="12700">
            <a:solidFill>
              <a:srgbClr val="1C7293"/>
            </a:solidFill>
            <a:prstDash val="solid"/>
          </a:ln>
        </p:spPr>
      </p:sp>
      <p:sp>
        <p:nvSpPr>
          <p:cNvPr id="29" name="Text 24"/>
          <p:cNvSpPr/>
          <p:nvPr/>
        </p:nvSpPr>
        <p:spPr>
          <a:xfrm>
            <a:off x="548640" y="3035808"/>
            <a:ext cx="80467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Common Refinement Patterns</a:t>
            </a:r>
            <a:endParaRPr lang="en-US" sz="1200" dirty="0"/>
          </a:p>
        </p:txBody>
      </p:sp>
      <p:sp>
        <p:nvSpPr>
          <p:cNvPr id="30" name="Shape 25"/>
          <p:cNvSpPr/>
          <p:nvPr/>
        </p:nvSpPr>
        <p:spPr>
          <a:xfrm>
            <a:off x="365760" y="3383280"/>
            <a:ext cx="8412480" cy="1298448"/>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8000"/>
              </a:srgbClr>
            </a:outerShdw>
          </a:effectLst>
        </p:spPr>
      </p:sp>
      <p:sp>
        <p:nvSpPr>
          <p:cNvPr id="31" name="Text 26"/>
          <p:cNvSpPr/>
          <p:nvPr/>
        </p:nvSpPr>
        <p:spPr>
          <a:xfrm>
            <a:off x="548640" y="3456432"/>
            <a:ext cx="8046720" cy="1143000"/>
          </a:xfrm>
          <a:prstGeom prst="rect">
            <a:avLst/>
          </a:prstGeom>
          <a:noFill/>
          <a:ln/>
        </p:spPr>
        <p:txBody>
          <a:bodyPr wrap="square" lIns="0" tIns="0" rIns="0" bIns="0" rtlCol="0" anchor="t"/>
          <a:lstStyle/>
          <a:p>
            <a:pPr algn="l" marL="342900" indent="-342900">
              <a:buSzPct val="100000"/>
              <a:buChar char="•"/>
            </a:pPr>
            <a:r>
              <a:rPr lang="en-US" sz="1050" i="1" dirty="0">
                <a:solidFill>
                  <a:srgbClr val="2C4A5E"/>
                </a:solidFill>
                <a:latin typeface="Calibri" pitchFamily="34" charset="0"/>
                <a:ea typeface="Calibri" pitchFamily="34" charset="-122"/>
                <a:cs typeface="Calibri" pitchFamily="34" charset="-120"/>
              </a:rPr>
              <a:t>"The measure handles the basic case but doesn't account for [edge case]. Add handling for when [condition]."</a:t>
            </a:r>
            <a:endParaRPr lang="en-US" sz="1050" dirty="0"/>
          </a:p>
          <a:p>
            <a:pPr algn="l" marL="342900" indent="-342900">
              <a:buSzPct val="100000"/>
              <a:buChar char="•"/>
            </a:pPr>
            <a:r>
              <a:rPr lang="en-US" sz="1050" i="1" dirty="0">
                <a:solidFill>
                  <a:srgbClr val="2C4A5E"/>
                </a:solidFill>
                <a:latin typeface="Calibri" pitchFamily="34" charset="0"/>
                <a:ea typeface="Calibri" pitchFamily="34" charset="-122"/>
                <a:cs typeface="Calibri" pitchFamily="34" charset="-120"/>
              </a:rPr>
              <a:t>"The DAX is correct but uses SUMX where a simple SUM would work. Simplify for readability."</a:t>
            </a:r>
            <a:endParaRPr lang="en-US" sz="1050" dirty="0"/>
          </a:p>
          <a:p>
            <a:pPr algn="l" marL="342900" indent="-342900">
              <a:buSzPct val="100000"/>
              <a:buChar char="•"/>
            </a:pPr>
            <a:r>
              <a:rPr lang="en-US" sz="1050" i="1" dirty="0">
                <a:solidFill>
                  <a:srgbClr val="2C4A5E"/>
                </a:solidFill>
                <a:latin typeface="Calibri" pitchFamily="34" charset="0"/>
                <a:ea typeface="Calibri" pitchFamily="34" charset="-122"/>
                <a:cs typeface="Calibri" pitchFamily="34" charset="-120"/>
              </a:rPr>
              <a:t>"This works for the current month but I need it to dynamically reference the latest complete month in the data."</a:t>
            </a:r>
            <a:endParaRPr lang="en-US" sz="1050" dirty="0"/>
          </a:p>
        </p:txBody>
      </p:sp>
      <p:sp>
        <p:nvSpPr>
          <p:cNvPr id="32" name="Shape 27"/>
          <p:cNvSpPr/>
          <p:nvPr/>
        </p:nvSpPr>
        <p:spPr>
          <a:xfrm>
            <a:off x="0" y="4818888"/>
            <a:ext cx="9144000" cy="324612"/>
          </a:xfrm>
          <a:prstGeom prst="rect">
            <a:avLst/>
          </a:prstGeom>
          <a:solidFill>
            <a:srgbClr val="028090"/>
          </a:solidFill>
          <a:ln w="12700">
            <a:solidFill>
              <a:srgbClr val="028090"/>
            </a:solidFill>
            <a:prstDash val="solid"/>
          </a:ln>
        </p:spPr>
      </p:sp>
      <p:sp>
        <p:nvSpPr>
          <p:cNvPr id="33" name="Text 28"/>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Iteration isn't failure — it's the method. If after 3-4 rounds output isn't converging, restart with a different framing.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Building a Team Prompt Library</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A curated set of proven patterns — not a document dump</a:t>
            </a:r>
            <a:endParaRPr lang="en-US" sz="1200" dirty="0"/>
          </a:p>
        </p:txBody>
      </p:sp>
      <p:sp>
        <p:nvSpPr>
          <p:cNvPr id="5" name="Shape 3"/>
          <p:cNvSpPr/>
          <p:nvPr/>
        </p:nvSpPr>
        <p:spPr>
          <a:xfrm>
            <a:off x="365760" y="1115568"/>
            <a:ext cx="5029200" cy="35204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115568"/>
            <a:ext cx="5029200" cy="384048"/>
          </a:xfrm>
          <a:prstGeom prst="rect">
            <a:avLst/>
          </a:prstGeom>
          <a:solidFill>
            <a:srgbClr val="028090"/>
          </a:solidFill>
          <a:ln w="12700">
            <a:solidFill>
              <a:srgbClr val="028090"/>
            </a:solidFill>
            <a:prstDash val="solid"/>
          </a:ln>
        </p:spPr>
      </p:sp>
      <p:sp>
        <p:nvSpPr>
          <p:cNvPr id="7" name="Text 5"/>
          <p:cNvSpPr/>
          <p:nvPr/>
        </p:nvSpPr>
        <p:spPr>
          <a:xfrm>
            <a:off x="548640" y="1115568"/>
            <a:ext cx="466344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Library Entry Structure</a:t>
            </a:r>
            <a:endParaRPr lang="en-US" sz="1300" dirty="0"/>
          </a:p>
        </p:txBody>
      </p:sp>
      <p:sp>
        <p:nvSpPr>
          <p:cNvPr id="8" name="Shape 6"/>
          <p:cNvSpPr/>
          <p:nvPr/>
        </p:nvSpPr>
        <p:spPr>
          <a:xfrm>
            <a:off x="502920" y="1591056"/>
            <a:ext cx="256032" cy="256032"/>
          </a:xfrm>
          <a:prstGeom prst="rect">
            <a:avLst/>
          </a:prstGeom>
          <a:solidFill>
            <a:srgbClr val="028090"/>
          </a:solidFill>
          <a:ln w="12700">
            <a:solidFill>
              <a:srgbClr val="028090"/>
            </a:solidFill>
            <a:prstDash val="solid"/>
          </a:ln>
        </p:spPr>
      </p:sp>
      <p:sp>
        <p:nvSpPr>
          <p:cNvPr id="9" name="Text 7"/>
          <p:cNvSpPr/>
          <p:nvPr/>
        </p:nvSpPr>
        <p:spPr>
          <a:xfrm>
            <a:off x="868680" y="1591056"/>
            <a:ext cx="228600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Task Description</a:t>
            </a:r>
            <a:endParaRPr lang="en-US" sz="1100" dirty="0"/>
          </a:p>
        </p:txBody>
      </p:sp>
      <p:sp>
        <p:nvSpPr>
          <p:cNvPr id="10" name="Text 8"/>
          <p:cNvSpPr/>
          <p:nvPr/>
        </p:nvSpPr>
        <p:spPr>
          <a:xfrm>
            <a:off x="868680" y="1847088"/>
            <a:ext cx="4343400" cy="29260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When to use this prompt — the scenario it solves</a:t>
            </a:r>
            <a:endParaRPr lang="en-US" sz="950" dirty="0"/>
          </a:p>
        </p:txBody>
      </p:sp>
      <p:sp>
        <p:nvSpPr>
          <p:cNvPr id="11" name="Shape 9"/>
          <p:cNvSpPr/>
          <p:nvPr/>
        </p:nvSpPr>
        <p:spPr>
          <a:xfrm>
            <a:off x="502920" y="2185416"/>
            <a:ext cx="256032" cy="256032"/>
          </a:xfrm>
          <a:prstGeom prst="rect">
            <a:avLst/>
          </a:prstGeom>
          <a:solidFill>
            <a:srgbClr val="028090"/>
          </a:solidFill>
          <a:ln w="12700">
            <a:solidFill>
              <a:srgbClr val="028090"/>
            </a:solidFill>
            <a:prstDash val="solid"/>
          </a:ln>
        </p:spPr>
      </p:sp>
      <p:sp>
        <p:nvSpPr>
          <p:cNvPr id="12" name="Text 10"/>
          <p:cNvSpPr/>
          <p:nvPr/>
        </p:nvSpPr>
        <p:spPr>
          <a:xfrm>
            <a:off x="868680" y="2185416"/>
            <a:ext cx="228600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Prompt Template</a:t>
            </a:r>
            <a:endParaRPr lang="en-US" sz="1100" dirty="0"/>
          </a:p>
        </p:txBody>
      </p:sp>
      <p:sp>
        <p:nvSpPr>
          <p:cNvPr id="13" name="Text 11"/>
          <p:cNvSpPr/>
          <p:nvPr/>
        </p:nvSpPr>
        <p:spPr>
          <a:xfrm>
            <a:off x="868680" y="2441448"/>
            <a:ext cx="4343400" cy="29260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Full prompt with [placeholders] for variable parts (table names, measure names, business logic)</a:t>
            </a:r>
            <a:endParaRPr lang="en-US" sz="950" dirty="0"/>
          </a:p>
        </p:txBody>
      </p:sp>
      <p:sp>
        <p:nvSpPr>
          <p:cNvPr id="14" name="Shape 12"/>
          <p:cNvSpPr/>
          <p:nvPr/>
        </p:nvSpPr>
        <p:spPr>
          <a:xfrm>
            <a:off x="502920" y="2779776"/>
            <a:ext cx="256032" cy="256032"/>
          </a:xfrm>
          <a:prstGeom prst="rect">
            <a:avLst/>
          </a:prstGeom>
          <a:solidFill>
            <a:srgbClr val="028090"/>
          </a:solidFill>
          <a:ln w="12700">
            <a:solidFill>
              <a:srgbClr val="028090"/>
            </a:solidFill>
            <a:prstDash val="solid"/>
          </a:ln>
        </p:spPr>
      </p:sp>
      <p:sp>
        <p:nvSpPr>
          <p:cNvPr id="15" name="Text 13"/>
          <p:cNvSpPr/>
          <p:nvPr/>
        </p:nvSpPr>
        <p:spPr>
          <a:xfrm>
            <a:off x="868680" y="2779776"/>
            <a:ext cx="228600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Filled-In Example</a:t>
            </a:r>
            <a:endParaRPr lang="en-US" sz="1100" dirty="0"/>
          </a:p>
        </p:txBody>
      </p:sp>
      <p:sp>
        <p:nvSpPr>
          <p:cNvPr id="16" name="Text 14"/>
          <p:cNvSpPr/>
          <p:nvPr/>
        </p:nvSpPr>
        <p:spPr>
          <a:xfrm>
            <a:off x="868680" y="3035808"/>
            <a:ext cx="4343400" cy="29260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A complete real-world example showing the template in use</a:t>
            </a:r>
            <a:endParaRPr lang="en-US" sz="950" dirty="0"/>
          </a:p>
        </p:txBody>
      </p:sp>
      <p:sp>
        <p:nvSpPr>
          <p:cNvPr id="17" name="Shape 15"/>
          <p:cNvSpPr/>
          <p:nvPr/>
        </p:nvSpPr>
        <p:spPr>
          <a:xfrm>
            <a:off x="502920" y="3374136"/>
            <a:ext cx="256032" cy="256032"/>
          </a:xfrm>
          <a:prstGeom prst="rect">
            <a:avLst/>
          </a:prstGeom>
          <a:solidFill>
            <a:srgbClr val="028090"/>
          </a:solidFill>
          <a:ln w="12700">
            <a:solidFill>
              <a:srgbClr val="028090"/>
            </a:solidFill>
            <a:prstDash val="solid"/>
          </a:ln>
        </p:spPr>
      </p:sp>
      <p:sp>
        <p:nvSpPr>
          <p:cNvPr id="18" name="Text 16"/>
          <p:cNvSpPr/>
          <p:nvPr/>
        </p:nvSpPr>
        <p:spPr>
          <a:xfrm>
            <a:off x="868680" y="3374136"/>
            <a:ext cx="228600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Expected Output</a:t>
            </a:r>
            <a:endParaRPr lang="en-US" sz="1100" dirty="0"/>
          </a:p>
        </p:txBody>
      </p:sp>
      <p:sp>
        <p:nvSpPr>
          <p:cNvPr id="19" name="Text 17"/>
          <p:cNvSpPr/>
          <p:nvPr/>
        </p:nvSpPr>
        <p:spPr>
          <a:xfrm>
            <a:off x="868680" y="3630168"/>
            <a:ext cx="4343400" cy="29260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What a good response looks like — sets the quality bar</a:t>
            </a:r>
            <a:endParaRPr lang="en-US" sz="950" dirty="0"/>
          </a:p>
        </p:txBody>
      </p:sp>
      <p:sp>
        <p:nvSpPr>
          <p:cNvPr id="20" name="Shape 18"/>
          <p:cNvSpPr/>
          <p:nvPr/>
        </p:nvSpPr>
        <p:spPr>
          <a:xfrm>
            <a:off x="502920" y="3968496"/>
            <a:ext cx="256032" cy="256032"/>
          </a:xfrm>
          <a:prstGeom prst="rect">
            <a:avLst/>
          </a:prstGeom>
          <a:solidFill>
            <a:srgbClr val="028090"/>
          </a:solidFill>
          <a:ln w="12700">
            <a:solidFill>
              <a:srgbClr val="028090"/>
            </a:solidFill>
            <a:prstDash val="solid"/>
          </a:ln>
        </p:spPr>
      </p:sp>
      <p:sp>
        <p:nvSpPr>
          <p:cNvPr id="21" name="Text 19"/>
          <p:cNvSpPr/>
          <p:nvPr/>
        </p:nvSpPr>
        <p:spPr>
          <a:xfrm>
            <a:off x="868680" y="3968496"/>
            <a:ext cx="2286000" cy="256032"/>
          </a:xfrm>
          <a:prstGeom prst="rect">
            <a:avLst/>
          </a:prstGeom>
          <a:noFill/>
          <a:ln/>
        </p:spPr>
        <p:txBody>
          <a:bodyPr wrap="square" lIns="0" tIns="0" rIns="0" bIns="0" rtlCol="0" anchor="ctr"/>
          <a:lstStyle/>
          <a:p>
            <a:pPr algn="l" indent="0" marL="0">
              <a:buNone/>
            </a:pPr>
            <a:r>
              <a:rPr lang="en-US" sz="1100" b="1" dirty="0">
                <a:solidFill>
                  <a:srgbClr val="0D2137"/>
                </a:solidFill>
                <a:latin typeface="Calibri" pitchFamily="34" charset="0"/>
                <a:ea typeface="Calibri" pitchFamily="34" charset="-122"/>
                <a:cs typeface="Calibri" pitchFamily="34" charset="-120"/>
              </a:rPr>
              <a:t>Notes on Modifications</a:t>
            </a:r>
            <a:endParaRPr lang="en-US" sz="1100" dirty="0"/>
          </a:p>
        </p:txBody>
      </p:sp>
      <p:sp>
        <p:nvSpPr>
          <p:cNvPr id="22" name="Text 20"/>
          <p:cNvSpPr/>
          <p:nvPr/>
        </p:nvSpPr>
        <p:spPr>
          <a:xfrm>
            <a:off x="868680" y="4224528"/>
            <a:ext cx="4343400" cy="292608"/>
          </a:xfrm>
          <a:prstGeom prst="rect">
            <a:avLst/>
          </a:prstGeom>
          <a:noFill/>
          <a:ln/>
        </p:spPr>
        <p:txBody>
          <a:bodyPr wrap="square" lIns="0" tIns="0" rIns="0" bIns="0" rtlCol="0" anchor="t"/>
          <a:lstStyle/>
          <a:p>
            <a:pPr algn="l" indent="0" marL="0">
              <a:buNone/>
            </a:pPr>
            <a:r>
              <a:rPr lang="en-US" sz="950" dirty="0">
                <a:solidFill>
                  <a:srgbClr val="2C4A5E"/>
                </a:solidFill>
                <a:latin typeface="Calibri" pitchFamily="34" charset="0"/>
                <a:ea typeface="Calibri" pitchFamily="34" charset="-122"/>
                <a:cs typeface="Calibri" pitchFamily="34" charset="-120"/>
              </a:rPr>
              <a:t>Common variations and how to adapt the template</a:t>
            </a:r>
            <a:endParaRPr lang="en-US" sz="950" dirty="0"/>
          </a:p>
        </p:txBody>
      </p:sp>
      <p:sp>
        <p:nvSpPr>
          <p:cNvPr id="23" name="Shape 21"/>
          <p:cNvSpPr/>
          <p:nvPr/>
        </p:nvSpPr>
        <p:spPr>
          <a:xfrm>
            <a:off x="5577840" y="1115568"/>
            <a:ext cx="3200400" cy="1600200"/>
          </a:xfrm>
          <a:prstGeom prst="rect">
            <a:avLst/>
          </a:prstGeom>
          <a:solidFill>
            <a:srgbClr val="FFFFFF"/>
          </a:solidFill>
          <a:ln w="19050">
            <a:solidFill>
              <a:srgbClr val="02C39A"/>
            </a:solidFill>
            <a:prstDash val="solid"/>
          </a:ln>
          <a:effectLst>
            <a:outerShdw sx="100000" sy="100000" kx="0" ky="0" algn="bl" rotWithShape="0" blurRad="967740000" dist="483870000" dir="486000000000">
              <a:srgbClr val="000000">
                <a:alpha val="900000000"/>
              </a:srgbClr>
            </a:outerShdw>
          </a:effectLst>
        </p:spPr>
      </p:sp>
      <p:sp>
        <p:nvSpPr>
          <p:cNvPr id="24" name="Shape 22"/>
          <p:cNvSpPr/>
          <p:nvPr/>
        </p:nvSpPr>
        <p:spPr>
          <a:xfrm>
            <a:off x="5577840" y="1115568"/>
            <a:ext cx="3200400" cy="347472"/>
          </a:xfrm>
          <a:prstGeom prst="rect">
            <a:avLst/>
          </a:prstGeom>
          <a:solidFill>
            <a:srgbClr val="02C39A"/>
          </a:solidFill>
          <a:ln w="12700">
            <a:solidFill>
              <a:srgbClr val="02C39A"/>
            </a:solidFill>
            <a:prstDash val="solid"/>
          </a:ln>
        </p:spPr>
      </p:sp>
      <p:sp>
        <p:nvSpPr>
          <p:cNvPr id="25" name="Text 23"/>
          <p:cNvSpPr/>
          <p:nvPr/>
        </p:nvSpPr>
        <p:spPr>
          <a:xfrm>
            <a:off x="5760720" y="1115568"/>
            <a:ext cx="2834640" cy="347472"/>
          </a:xfrm>
          <a:prstGeom prst="rect">
            <a:avLst/>
          </a:prstGeom>
          <a:noFill/>
          <a:ln/>
        </p:spPr>
        <p:txBody>
          <a:bodyPr wrap="square" lIns="0" tIns="0" rIns="0" bIns="0" rtlCol="0" anchor="ctr"/>
          <a:lstStyle/>
          <a:p>
            <a:pPr algn="l" indent="0" marL="0">
              <a:buNone/>
            </a:pPr>
            <a:r>
              <a:rPr lang="en-US" sz="1200" b="1" dirty="0">
                <a:solidFill>
                  <a:srgbClr val="0D2137"/>
                </a:solidFill>
                <a:latin typeface="Calibri" pitchFamily="34" charset="0"/>
                <a:ea typeface="Calibri" pitchFamily="34" charset="-122"/>
                <a:cs typeface="Calibri" pitchFamily="34" charset="-120"/>
              </a:rPr>
              <a:t>Save These</a:t>
            </a:r>
            <a:endParaRPr lang="en-US" sz="1200" dirty="0"/>
          </a:p>
        </p:txBody>
      </p:sp>
      <p:sp>
        <p:nvSpPr>
          <p:cNvPr id="26" name="Text 24"/>
          <p:cNvSpPr/>
          <p:nvPr/>
        </p:nvSpPr>
        <p:spPr>
          <a:xfrm>
            <a:off x="5760720" y="1536192"/>
            <a:ext cx="2926080" cy="1097280"/>
          </a:xfrm>
          <a:prstGeom prst="rect">
            <a:avLst/>
          </a:prstGeom>
          <a:noFill/>
          <a:ln/>
        </p:spPr>
        <p:txBody>
          <a:bodyPr wrap="square" lIns="0" tIns="0" rIns="0" bIns="0" rtlCol="0" anchor="t"/>
          <a:lstStyle/>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Recurring tasks (time intelligence, standard layouts)</a:t>
            </a:r>
            <a:endParaRPr lang="en-US" sz="1000" dirty="0"/>
          </a:p>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Patterns with [placeholders] for schema-specific parts</a:t>
            </a:r>
            <a:endParaRPr lang="en-US" sz="1000" dirty="0"/>
          </a:p>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Prompts validated through 2+ successful uses</a:t>
            </a:r>
            <a:endParaRPr lang="en-US" sz="1000" dirty="0"/>
          </a:p>
        </p:txBody>
      </p:sp>
      <p:sp>
        <p:nvSpPr>
          <p:cNvPr id="27" name="Shape 25"/>
          <p:cNvSpPr/>
          <p:nvPr/>
        </p:nvSpPr>
        <p:spPr>
          <a:xfrm>
            <a:off x="5577840" y="2852928"/>
            <a:ext cx="3200400" cy="1783080"/>
          </a:xfrm>
          <a:prstGeom prst="rect">
            <a:avLst/>
          </a:prstGeom>
          <a:solidFill>
            <a:srgbClr val="FFFFFF"/>
          </a:solidFill>
          <a:ln w="19050">
            <a:solidFill>
              <a:srgbClr val="E05252"/>
            </a:solidFill>
            <a:prstDash val="solid"/>
          </a:ln>
          <a:effectLst>
            <a:outerShdw sx="100000" sy="100000" kx="0" ky="0" algn="bl" rotWithShape="0" blurRad="12290298000000" dist="6145149000000" dir="29160000000000000">
              <a:srgbClr val="000000">
                <a:alpha val="90000000000000"/>
              </a:srgbClr>
            </a:outerShdw>
          </a:effectLst>
        </p:spPr>
      </p:sp>
      <p:sp>
        <p:nvSpPr>
          <p:cNvPr id="28" name="Shape 26"/>
          <p:cNvSpPr/>
          <p:nvPr/>
        </p:nvSpPr>
        <p:spPr>
          <a:xfrm>
            <a:off x="5577840" y="2852928"/>
            <a:ext cx="3200400" cy="347472"/>
          </a:xfrm>
          <a:prstGeom prst="rect">
            <a:avLst/>
          </a:prstGeom>
          <a:solidFill>
            <a:srgbClr val="E05252"/>
          </a:solidFill>
          <a:ln w="12700">
            <a:solidFill>
              <a:srgbClr val="E05252"/>
            </a:solidFill>
            <a:prstDash val="solid"/>
          </a:ln>
        </p:spPr>
      </p:sp>
      <p:sp>
        <p:nvSpPr>
          <p:cNvPr id="29" name="Text 27"/>
          <p:cNvSpPr/>
          <p:nvPr/>
        </p:nvSpPr>
        <p:spPr>
          <a:xfrm>
            <a:off x="5760720" y="2852928"/>
            <a:ext cx="283464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Don't Save These</a:t>
            </a:r>
            <a:endParaRPr lang="en-US" sz="1200" dirty="0"/>
          </a:p>
        </p:txBody>
      </p:sp>
      <p:sp>
        <p:nvSpPr>
          <p:cNvPr id="30" name="Text 28"/>
          <p:cNvSpPr/>
          <p:nvPr/>
        </p:nvSpPr>
        <p:spPr>
          <a:xfrm>
            <a:off x="5760720" y="3273552"/>
            <a:ext cx="2926080" cy="1280160"/>
          </a:xfrm>
          <a:prstGeom prst="rect">
            <a:avLst/>
          </a:prstGeom>
          <a:noFill/>
          <a:ln/>
        </p:spPr>
        <p:txBody>
          <a:bodyPr wrap="square" lIns="0" tIns="0" rIns="0" bIns="0" rtlCol="0" anchor="t"/>
          <a:lstStyle/>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One-off prompts for unique tasks</a:t>
            </a:r>
            <a:endParaRPr lang="en-US" sz="1000" dirty="0"/>
          </a:p>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Prompts that only work with one specific model's schema (save the pattern, not the instance)</a:t>
            </a:r>
            <a:endParaRPr lang="en-US" sz="1000" dirty="0"/>
          </a:p>
          <a:p>
            <a:pPr algn="l" marL="342900" indent="-342900">
              <a:buSzPct val="100000"/>
              <a:buChar char="•"/>
            </a:pPr>
            <a:r>
              <a:rPr lang="en-US" sz="1000" dirty="0">
                <a:solidFill>
                  <a:srgbClr val="2C4A5E"/>
                </a:solidFill>
                <a:latin typeface="Calibri" pitchFamily="34" charset="0"/>
                <a:ea typeface="Calibri" pitchFamily="34" charset="-122"/>
                <a:cs typeface="Calibri" pitchFamily="34" charset="-120"/>
              </a:rPr>
              <a:t>Prompts with fewer than 2 validated uses</a:t>
            </a:r>
            <a:endParaRPr lang="en-US" sz="1000" dirty="0"/>
          </a:p>
        </p:txBody>
      </p:sp>
      <p:sp>
        <p:nvSpPr>
          <p:cNvPr id="31" name="Shape 29"/>
          <p:cNvSpPr/>
          <p:nvPr/>
        </p:nvSpPr>
        <p:spPr>
          <a:xfrm>
            <a:off x="0" y="4818888"/>
            <a:ext cx="9144000" cy="324612"/>
          </a:xfrm>
          <a:prstGeom prst="rect">
            <a:avLst/>
          </a:prstGeom>
          <a:solidFill>
            <a:srgbClr val="028090"/>
          </a:solidFill>
          <a:ln w="12700">
            <a:solidFill>
              <a:srgbClr val="028090"/>
            </a:solidFill>
            <a:prstDash val="solid"/>
          </a:ln>
        </p:spPr>
      </p:sp>
      <p:sp>
        <p:nvSpPr>
          <p:cNvPr id="32" name="Text 30"/>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A prompt library is not a document dump. It's a curated set of proven patterns with clear usage instructions.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2C39A"/>
          </a:solidFill>
          <a:ln w="12700">
            <a:solidFill>
              <a:srgbClr val="02C39A"/>
            </a:solidFill>
            <a:prstDash val="solid"/>
          </a:ln>
        </p:spPr>
      </p:sp>
      <p:sp>
        <p:nvSpPr>
          <p:cNvPr id="3" name="Shape 1"/>
          <p:cNvSpPr/>
          <p:nvPr/>
        </p:nvSpPr>
        <p:spPr>
          <a:xfrm>
            <a:off x="2926080" y="0"/>
            <a:ext cx="274320" cy="5143500"/>
          </a:xfrm>
          <a:prstGeom prst="rect">
            <a:avLst/>
          </a:prstGeom>
          <a:solidFill>
            <a:srgbClr val="02C39A"/>
          </a:solidFill>
          <a:ln w="12700">
            <a:solidFill>
              <a:srgbClr val="02C39A"/>
            </a:solidFill>
            <a:prstDash val="solid"/>
          </a:ln>
        </p:spPr>
      </p:sp>
      <p:sp>
        <p:nvSpPr>
          <p:cNvPr id="4" name="Text 2"/>
          <p:cNvSpPr/>
          <p:nvPr/>
        </p:nvSpPr>
        <p:spPr>
          <a:xfrm>
            <a:off x="274320" y="914400"/>
            <a:ext cx="2377440" cy="457200"/>
          </a:xfrm>
          <a:prstGeom prst="rect">
            <a:avLst/>
          </a:prstGeom>
          <a:noFill/>
          <a:ln/>
        </p:spPr>
        <p:txBody>
          <a:bodyPr wrap="square" lIns="0" tIns="0" rIns="0" bIns="0" rtlCol="0" anchor="ctr"/>
          <a:lstStyle/>
          <a:p>
            <a:pPr algn="ctr" indent="0" marL="0">
              <a:buNone/>
            </a:pPr>
            <a:r>
              <a:rPr lang="en-US" sz="1100" b="1" spc="500" kern="0" dirty="0">
                <a:solidFill>
                  <a:srgbClr val="FFFFFF"/>
                </a:solidFill>
                <a:latin typeface="Calibri" pitchFamily="34" charset="0"/>
                <a:ea typeface="Calibri" pitchFamily="34" charset="-122"/>
                <a:cs typeface="Calibri" pitchFamily="34" charset="-120"/>
              </a:rPr>
              <a:t>WEEK</a:t>
            </a:r>
            <a:endParaRPr lang="en-US" sz="1100" dirty="0"/>
          </a:p>
        </p:txBody>
      </p:sp>
      <p:sp>
        <p:nvSpPr>
          <p:cNvPr id="5" name="Text 3"/>
          <p:cNvSpPr/>
          <p:nvPr/>
        </p:nvSpPr>
        <p:spPr>
          <a:xfrm>
            <a:off x="274320" y="1280160"/>
            <a:ext cx="2377440" cy="1463040"/>
          </a:xfrm>
          <a:prstGeom prst="rect">
            <a:avLst/>
          </a:prstGeom>
          <a:noFill/>
          <a:ln/>
        </p:spPr>
        <p:txBody>
          <a:bodyPr wrap="square" lIns="0" tIns="0" rIns="0" bIns="0" rtlCol="0" anchor="ctr"/>
          <a:lstStyle/>
          <a:p>
            <a:pPr algn="ctr" indent="0" marL="0">
              <a:buNone/>
            </a:pPr>
            <a:r>
              <a:rPr lang="en-US" sz="9600" b="1" dirty="0">
                <a:solidFill>
                  <a:srgbClr val="FFFFFF"/>
                </a:solidFill>
                <a:latin typeface="Calibri" pitchFamily="34" charset="0"/>
                <a:ea typeface="Calibri" pitchFamily="34" charset="-122"/>
                <a:cs typeface="Calibri" pitchFamily="34" charset="-120"/>
              </a:rPr>
              <a:t>4</a:t>
            </a:r>
            <a:endParaRPr lang="en-US" sz="9600" dirty="0"/>
          </a:p>
        </p:txBody>
      </p:sp>
      <p:sp>
        <p:nvSpPr>
          <p:cNvPr id="6" name="Text 4"/>
          <p:cNvSpPr/>
          <p:nvPr/>
        </p:nvSpPr>
        <p:spPr>
          <a:xfrm>
            <a:off x="3383280" y="1280160"/>
            <a:ext cx="539496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Developing with MCP Layers</a:t>
            </a:r>
            <a:endParaRPr lang="en-US" sz="2800" dirty="0"/>
          </a:p>
        </p:txBody>
      </p:sp>
      <p:sp>
        <p:nvSpPr>
          <p:cNvPr id="7" name="Text 5"/>
          <p:cNvSpPr/>
          <p:nvPr/>
        </p:nvSpPr>
        <p:spPr>
          <a:xfrm>
            <a:off x="3383280" y="2286000"/>
            <a:ext cx="5394960" cy="548640"/>
          </a:xfrm>
          <a:prstGeom prst="rect">
            <a:avLst/>
          </a:prstGeom>
          <a:noFill/>
          <a:ln/>
        </p:spPr>
        <p:txBody>
          <a:bodyPr wrap="square" lIns="0" tIns="0" rIns="0" bIns="0" rtlCol="0" anchor="ctr"/>
          <a:lstStyle/>
          <a:p>
            <a:pPr algn="l" indent="0" marL="0">
              <a:buNone/>
            </a:pPr>
            <a:r>
              <a:rPr lang="en-US" sz="1400" dirty="0">
                <a:solidFill>
                  <a:srgbClr val="8BAFC2"/>
                </a:solidFill>
                <a:latin typeface="Calibri" pitchFamily="34" charset="0"/>
                <a:ea typeface="Calibri" pitchFamily="34" charset="-122"/>
                <a:cs typeface="Calibri" pitchFamily="34" charset="-120"/>
              </a:rPr>
              <a:t>Applying prompting skills to Model MCP and Report MCP as live development tools</a:t>
            </a:r>
            <a:endParaRPr lang="en-US" sz="1400" dirty="0"/>
          </a:p>
        </p:txBody>
      </p:sp>
      <p:sp>
        <p:nvSpPr>
          <p:cNvPr id="8" name="Shape 6"/>
          <p:cNvSpPr/>
          <p:nvPr/>
        </p:nvSpPr>
        <p:spPr>
          <a:xfrm>
            <a:off x="3383280" y="3017520"/>
            <a:ext cx="4572000" cy="36576"/>
          </a:xfrm>
          <a:prstGeom prst="rect">
            <a:avLst/>
          </a:prstGeom>
          <a:solidFill>
            <a:srgbClr val="02C39A"/>
          </a:solidFill>
          <a:ln w="12700">
            <a:solidFill>
              <a:srgbClr val="02C39A"/>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Model MCP — Working with the Semantic Model</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powerbi-modeling-mcp: the AI can read and write your model directly — no copy-paste, no context gaps</a:t>
            </a:r>
            <a:endParaRPr lang="en-US" sz="1200" dirty="0"/>
          </a:p>
        </p:txBody>
      </p:sp>
      <p:sp>
        <p:nvSpPr>
          <p:cNvPr id="5" name="Shape 3"/>
          <p:cNvSpPr/>
          <p:nvPr/>
        </p:nvSpPr>
        <p:spPr>
          <a:xfrm>
            <a:off x="365760" y="1115568"/>
            <a:ext cx="4206240" cy="192024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115568"/>
            <a:ext cx="4206240" cy="384048"/>
          </a:xfrm>
          <a:prstGeom prst="rect">
            <a:avLst/>
          </a:prstGeom>
          <a:solidFill>
            <a:srgbClr val="065A82"/>
          </a:solidFill>
          <a:ln w="12700">
            <a:solidFill>
              <a:srgbClr val="065A82"/>
            </a:solidFill>
            <a:prstDash val="solid"/>
          </a:ln>
        </p:spPr>
      </p:sp>
      <p:sp>
        <p:nvSpPr>
          <p:cNvPr id="7" name="Text 5"/>
          <p:cNvSpPr/>
          <p:nvPr/>
        </p:nvSpPr>
        <p:spPr>
          <a:xfrm>
            <a:off x="548640" y="1115568"/>
            <a:ext cx="38404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Read Operations</a:t>
            </a:r>
            <a:endParaRPr lang="en-US" sz="1300" dirty="0"/>
          </a:p>
        </p:txBody>
      </p:sp>
      <p:sp>
        <p:nvSpPr>
          <p:cNvPr id="8" name="Text 6"/>
          <p:cNvSpPr/>
          <p:nvPr/>
        </p:nvSpPr>
        <p:spPr>
          <a:xfrm>
            <a:off x="548640" y="1554480"/>
            <a:ext cx="3840480" cy="141732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Query schema — list tables, columns, measures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Run DAX queries against the model</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Inspect relationship configurations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Check metadata completeness (which measures lack descriptions)</a:t>
            </a:r>
            <a:endParaRPr lang="en-US" sz="1050" dirty="0"/>
          </a:p>
        </p:txBody>
      </p:sp>
      <p:sp>
        <p:nvSpPr>
          <p:cNvPr id="9" name="Shape 7"/>
          <p:cNvSpPr/>
          <p:nvPr/>
        </p:nvSpPr>
        <p:spPr>
          <a:xfrm>
            <a:off x="4800600" y="1115568"/>
            <a:ext cx="4206240" cy="1920240"/>
          </a:xfrm>
          <a:prstGeom prst="rect">
            <a:avLst/>
          </a:prstGeom>
          <a:solidFill>
            <a:srgbClr val="FFFFFF"/>
          </a:solidFill>
          <a:ln w="12700">
            <a:solidFill>
              <a:srgbClr val="C8DFE8"/>
            </a:solidFill>
            <a:prstDash val="solid"/>
          </a:ln>
          <a:effectLst>
            <a:outerShdw sx="100000" sy="100000" kx="0" ky="0" algn="bl" rotWithShape="0" blurRad="967740000" dist="483870000" dir="486000000000">
              <a:srgbClr val="000000">
                <a:alpha val="900000000"/>
              </a:srgbClr>
            </a:outerShdw>
          </a:effectLst>
        </p:spPr>
      </p:sp>
      <p:sp>
        <p:nvSpPr>
          <p:cNvPr id="10" name="Shape 8"/>
          <p:cNvSpPr/>
          <p:nvPr/>
        </p:nvSpPr>
        <p:spPr>
          <a:xfrm>
            <a:off x="4800600" y="1115568"/>
            <a:ext cx="4206240" cy="384048"/>
          </a:xfrm>
          <a:prstGeom prst="rect">
            <a:avLst/>
          </a:prstGeom>
          <a:solidFill>
            <a:srgbClr val="1C7293"/>
          </a:solidFill>
          <a:ln w="12700">
            <a:solidFill>
              <a:srgbClr val="1C7293"/>
            </a:solidFill>
            <a:prstDash val="solid"/>
          </a:ln>
        </p:spPr>
      </p:sp>
      <p:sp>
        <p:nvSpPr>
          <p:cNvPr id="11" name="Text 9"/>
          <p:cNvSpPr/>
          <p:nvPr/>
        </p:nvSpPr>
        <p:spPr>
          <a:xfrm>
            <a:off x="4983480" y="1115568"/>
            <a:ext cx="38404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Write Operations</a:t>
            </a:r>
            <a:endParaRPr lang="en-US" sz="1300" dirty="0"/>
          </a:p>
        </p:txBody>
      </p:sp>
      <p:sp>
        <p:nvSpPr>
          <p:cNvPr id="12" name="Text 10"/>
          <p:cNvSpPr/>
          <p:nvPr/>
        </p:nvSpPr>
        <p:spPr>
          <a:xfrm>
            <a:off x="4983480" y="1554480"/>
            <a:ext cx="3840480" cy="141732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Create or modify measures and expressions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Set descriptions and display folders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Manage calculation groups and items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Configure column properties (SummarizeBy, format strings)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Create or modify relationships</a:t>
            </a:r>
            <a:endParaRPr lang="en-US" sz="1050" dirty="0"/>
          </a:p>
        </p:txBody>
      </p:sp>
      <p:sp>
        <p:nvSpPr>
          <p:cNvPr id="13" name="Shape 11"/>
          <p:cNvSpPr/>
          <p:nvPr/>
        </p:nvSpPr>
        <p:spPr>
          <a:xfrm>
            <a:off x="365760" y="3154680"/>
            <a:ext cx="8412480" cy="347472"/>
          </a:xfrm>
          <a:prstGeom prst="rect">
            <a:avLst/>
          </a:prstGeom>
          <a:solidFill>
            <a:srgbClr val="065A82"/>
          </a:solidFill>
          <a:ln w="12700">
            <a:solidFill>
              <a:srgbClr val="065A82"/>
            </a:solidFill>
            <a:prstDash val="solid"/>
          </a:ln>
        </p:spPr>
      </p:sp>
      <p:sp>
        <p:nvSpPr>
          <p:cNvPr id="14" name="Text 12"/>
          <p:cNvSpPr/>
          <p:nvPr/>
        </p:nvSpPr>
        <p:spPr>
          <a:xfrm>
            <a:off x="548640" y="3154680"/>
            <a:ext cx="804672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Practical Workflow Example</a:t>
            </a:r>
            <a:endParaRPr lang="en-US" sz="1200" dirty="0"/>
          </a:p>
        </p:txBody>
      </p:sp>
      <p:sp>
        <p:nvSpPr>
          <p:cNvPr id="15" name="Shape 13"/>
          <p:cNvSpPr/>
          <p:nvPr/>
        </p:nvSpPr>
        <p:spPr>
          <a:xfrm>
            <a:off x="365760" y="3502152"/>
            <a:ext cx="8412480" cy="1188720"/>
          </a:xfrm>
          <a:prstGeom prst="rect">
            <a:avLst/>
          </a:prstGeom>
          <a:solidFill>
            <a:srgbClr val="FFFFFF"/>
          </a:solidFill>
          <a:ln w="12700">
            <a:solidFill>
              <a:srgbClr val="C8DFE8"/>
            </a:solidFill>
            <a:prstDash val="solid"/>
          </a:ln>
          <a:effectLst>
            <a:outerShdw sx="100000" sy="100000" kx="0" ky="0" algn="bl" rotWithShape="0" blurRad="12290298000000" dist="6145149000000" dir="29160000000000000">
              <a:srgbClr val="000000">
                <a:alpha val="90000000000000"/>
              </a:srgbClr>
            </a:outerShdw>
          </a:effectLst>
        </p:spPr>
      </p:sp>
      <p:sp>
        <p:nvSpPr>
          <p:cNvPr id="16" name="Shape 14"/>
          <p:cNvSpPr/>
          <p:nvPr/>
        </p:nvSpPr>
        <p:spPr>
          <a:xfrm>
            <a:off x="640080" y="3611880"/>
            <a:ext cx="274320" cy="274320"/>
          </a:xfrm>
          <a:prstGeom prst="rect">
            <a:avLst/>
          </a:prstGeom>
          <a:solidFill>
            <a:srgbClr val="065A82"/>
          </a:solidFill>
          <a:ln w="12700">
            <a:solidFill>
              <a:srgbClr val="065A82"/>
            </a:solidFill>
            <a:prstDash val="solid"/>
          </a:ln>
        </p:spPr>
      </p:sp>
      <p:sp>
        <p:nvSpPr>
          <p:cNvPr id="17" name="Text 15"/>
          <p:cNvSpPr/>
          <p:nvPr/>
        </p:nvSpPr>
        <p:spPr>
          <a:xfrm>
            <a:off x="640080" y="3611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16"/>
          <p:cNvSpPr/>
          <p:nvPr/>
        </p:nvSpPr>
        <p:spPr>
          <a:xfrm>
            <a:off x="1005840" y="3611880"/>
            <a:ext cx="2194560" cy="320040"/>
          </a:xfrm>
          <a:prstGeom prst="rect">
            <a:avLst/>
          </a:prstGeom>
          <a:noFill/>
          <a:ln/>
        </p:spPr>
        <p:txBody>
          <a:bodyPr wrap="square" lIns="0" tIns="0" rIns="0" bIns="0" rtlCol="0" anchor="ctr"/>
          <a:lstStyle/>
          <a:p>
            <a:pPr algn="l" indent="0" marL="0">
              <a:buNone/>
            </a:pPr>
            <a:r>
              <a:rPr lang="en-US" sz="950" b="1" dirty="0">
                <a:solidFill>
                  <a:srgbClr val="0D2137"/>
                </a:solidFill>
                <a:latin typeface="Calibri" pitchFamily="34" charset="0"/>
                <a:ea typeface="Calibri" pitchFamily="34" charset="-122"/>
                <a:cs typeface="Calibri" pitchFamily="34" charset="-120"/>
              </a:rPr>
              <a:t>"Show me all measures without descriptions"</a:t>
            </a:r>
            <a:endParaRPr lang="en-US" sz="950" dirty="0"/>
          </a:p>
        </p:txBody>
      </p:sp>
      <p:sp>
        <p:nvSpPr>
          <p:cNvPr id="19" name="Text 17"/>
          <p:cNvSpPr/>
          <p:nvPr/>
        </p:nvSpPr>
        <p:spPr>
          <a:xfrm>
            <a:off x="1005840" y="3931920"/>
            <a:ext cx="2194560" cy="274320"/>
          </a:xfrm>
          <a:prstGeom prst="rect">
            <a:avLst/>
          </a:prstGeom>
          <a:noFill/>
          <a:ln/>
        </p:spPr>
        <p:txBody>
          <a:bodyPr wrap="square" lIns="0" tIns="0" rIns="0" bIns="0" rtlCol="0" anchor="t"/>
          <a:lstStyle/>
          <a:p>
            <a:pPr algn="l" indent="0" marL="0">
              <a:buNone/>
            </a:pPr>
            <a:r>
              <a:rPr lang="en-US" sz="900" dirty="0">
                <a:solidFill>
                  <a:srgbClr val="6A8DA0"/>
                </a:solidFill>
                <a:latin typeface="Calibri" pitchFamily="34" charset="0"/>
                <a:ea typeface="Calibri" pitchFamily="34" charset="-122"/>
                <a:cs typeface="Calibri" pitchFamily="34" charset="-120"/>
              </a:rPr>
              <a:t>Model MCP lists them</a:t>
            </a:r>
            <a:endParaRPr lang="en-US" sz="900" dirty="0"/>
          </a:p>
        </p:txBody>
      </p:sp>
      <p:sp>
        <p:nvSpPr>
          <p:cNvPr id="20" name="Shape 18"/>
          <p:cNvSpPr/>
          <p:nvPr/>
        </p:nvSpPr>
        <p:spPr>
          <a:xfrm>
            <a:off x="3383280" y="3611880"/>
            <a:ext cx="274320" cy="274320"/>
          </a:xfrm>
          <a:prstGeom prst="rect">
            <a:avLst/>
          </a:prstGeom>
          <a:solidFill>
            <a:srgbClr val="065A82"/>
          </a:solidFill>
          <a:ln w="12700">
            <a:solidFill>
              <a:srgbClr val="065A82"/>
            </a:solidFill>
            <a:prstDash val="solid"/>
          </a:ln>
        </p:spPr>
      </p:sp>
      <p:sp>
        <p:nvSpPr>
          <p:cNvPr id="21" name="Text 19"/>
          <p:cNvSpPr/>
          <p:nvPr/>
        </p:nvSpPr>
        <p:spPr>
          <a:xfrm>
            <a:off x="3383280" y="3611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2" name="Text 20"/>
          <p:cNvSpPr/>
          <p:nvPr/>
        </p:nvSpPr>
        <p:spPr>
          <a:xfrm>
            <a:off x="3749040" y="3611880"/>
            <a:ext cx="2194560" cy="320040"/>
          </a:xfrm>
          <a:prstGeom prst="rect">
            <a:avLst/>
          </a:prstGeom>
          <a:noFill/>
          <a:ln/>
        </p:spPr>
        <p:txBody>
          <a:bodyPr wrap="square" lIns="0" tIns="0" rIns="0" bIns="0" rtlCol="0" anchor="ctr"/>
          <a:lstStyle/>
          <a:p>
            <a:pPr algn="l" indent="0" marL="0">
              <a:buNone/>
            </a:pPr>
            <a:r>
              <a:rPr lang="en-US" sz="950" b="1" dirty="0">
                <a:solidFill>
                  <a:srgbClr val="0D2137"/>
                </a:solidFill>
                <a:latin typeface="Calibri" pitchFamily="34" charset="0"/>
                <a:ea typeface="Calibri" pitchFamily="34" charset="-122"/>
                <a:cs typeface="Calibri" pitchFamily="34" charset="-120"/>
              </a:rPr>
              <a:t>"Generate descriptions based on their DAX expressions"</a:t>
            </a:r>
            <a:endParaRPr lang="en-US" sz="950" dirty="0"/>
          </a:p>
        </p:txBody>
      </p:sp>
      <p:sp>
        <p:nvSpPr>
          <p:cNvPr id="23" name="Text 21"/>
          <p:cNvSpPr/>
          <p:nvPr/>
        </p:nvSpPr>
        <p:spPr>
          <a:xfrm>
            <a:off x="3749040" y="3931920"/>
            <a:ext cx="2194560" cy="274320"/>
          </a:xfrm>
          <a:prstGeom prst="rect">
            <a:avLst/>
          </a:prstGeom>
          <a:noFill/>
          <a:ln/>
        </p:spPr>
        <p:txBody>
          <a:bodyPr wrap="square" lIns="0" tIns="0" rIns="0" bIns="0" rtlCol="0" anchor="t"/>
          <a:lstStyle/>
          <a:p>
            <a:pPr algn="l" indent="0" marL="0">
              <a:buNone/>
            </a:pPr>
            <a:r>
              <a:rPr lang="en-US" sz="900" dirty="0">
                <a:solidFill>
                  <a:srgbClr val="6A8DA0"/>
                </a:solidFill>
                <a:latin typeface="Calibri" pitchFamily="34" charset="0"/>
                <a:ea typeface="Calibri" pitchFamily="34" charset="-122"/>
                <a:cs typeface="Calibri" pitchFamily="34" charset="-120"/>
              </a:rPr>
              <a:t>AI analyses each expression</a:t>
            </a:r>
            <a:endParaRPr lang="en-US" sz="900" dirty="0"/>
          </a:p>
        </p:txBody>
      </p:sp>
      <p:sp>
        <p:nvSpPr>
          <p:cNvPr id="24" name="Shape 22"/>
          <p:cNvSpPr/>
          <p:nvPr/>
        </p:nvSpPr>
        <p:spPr>
          <a:xfrm>
            <a:off x="6126480" y="3611880"/>
            <a:ext cx="274320" cy="274320"/>
          </a:xfrm>
          <a:prstGeom prst="rect">
            <a:avLst/>
          </a:prstGeom>
          <a:solidFill>
            <a:srgbClr val="065A82"/>
          </a:solidFill>
          <a:ln w="12700">
            <a:solidFill>
              <a:srgbClr val="065A82"/>
            </a:solidFill>
            <a:prstDash val="solid"/>
          </a:ln>
        </p:spPr>
      </p:sp>
      <p:sp>
        <p:nvSpPr>
          <p:cNvPr id="25" name="Text 23"/>
          <p:cNvSpPr/>
          <p:nvPr/>
        </p:nvSpPr>
        <p:spPr>
          <a:xfrm>
            <a:off x="6126480" y="3611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6" name="Text 24"/>
          <p:cNvSpPr/>
          <p:nvPr/>
        </p:nvSpPr>
        <p:spPr>
          <a:xfrm>
            <a:off x="6492240" y="3611880"/>
            <a:ext cx="2194560" cy="320040"/>
          </a:xfrm>
          <a:prstGeom prst="rect">
            <a:avLst/>
          </a:prstGeom>
          <a:noFill/>
          <a:ln/>
        </p:spPr>
        <p:txBody>
          <a:bodyPr wrap="square" lIns="0" tIns="0" rIns="0" bIns="0" rtlCol="0" anchor="ctr"/>
          <a:lstStyle/>
          <a:p>
            <a:pPr algn="l" indent="0" marL="0">
              <a:buNone/>
            </a:pPr>
            <a:r>
              <a:rPr lang="en-US" sz="950" b="1" dirty="0">
                <a:solidFill>
                  <a:srgbClr val="0D2137"/>
                </a:solidFill>
                <a:latin typeface="Calibri" pitchFamily="34" charset="0"/>
                <a:ea typeface="Calibri" pitchFamily="34" charset="-122"/>
                <a:cs typeface="Calibri" pitchFamily="34" charset="-120"/>
              </a:rPr>
              <a:t>Model MCP writes descriptions to each measure</a:t>
            </a:r>
            <a:endParaRPr lang="en-US" sz="950" dirty="0"/>
          </a:p>
        </p:txBody>
      </p:sp>
      <p:sp>
        <p:nvSpPr>
          <p:cNvPr id="27" name="Text 25"/>
          <p:cNvSpPr/>
          <p:nvPr/>
        </p:nvSpPr>
        <p:spPr>
          <a:xfrm>
            <a:off x="6492240" y="3931920"/>
            <a:ext cx="2194560" cy="274320"/>
          </a:xfrm>
          <a:prstGeom prst="rect">
            <a:avLst/>
          </a:prstGeom>
          <a:noFill/>
          <a:ln/>
        </p:spPr>
        <p:txBody>
          <a:bodyPr wrap="square" lIns="0" tIns="0" rIns="0" bIns="0" rtlCol="0" anchor="t"/>
          <a:lstStyle/>
          <a:p>
            <a:pPr algn="l" indent="0" marL="0">
              <a:buNone/>
            </a:pPr>
            <a:r>
              <a:rPr lang="en-US" sz="900" dirty="0">
                <a:solidFill>
                  <a:srgbClr val="6A8DA0"/>
                </a:solidFill>
                <a:latin typeface="Calibri" pitchFamily="34" charset="0"/>
                <a:ea typeface="Calibri" pitchFamily="34" charset="-122"/>
                <a:cs typeface="Calibri" pitchFamily="34" charset="-120"/>
              </a:rPr>
              <a:t>Directly in the model — no copy-paste</a:t>
            </a:r>
            <a:endParaRPr lang="en-US" sz="900" dirty="0"/>
          </a:p>
        </p:txBody>
      </p:sp>
      <p:sp>
        <p:nvSpPr>
          <p:cNvPr id="28" name="Shape 26"/>
          <p:cNvSpPr/>
          <p:nvPr/>
        </p:nvSpPr>
        <p:spPr>
          <a:xfrm>
            <a:off x="0" y="4818888"/>
            <a:ext cx="9144000" cy="324612"/>
          </a:xfrm>
          <a:prstGeom prst="rect">
            <a:avLst/>
          </a:prstGeom>
          <a:solidFill>
            <a:srgbClr val="065A82"/>
          </a:solidFill>
          <a:ln w="12700">
            <a:solidFill>
              <a:srgbClr val="065A82"/>
            </a:solidFill>
            <a:prstDash val="solid"/>
          </a:ln>
        </p:spPr>
      </p:sp>
      <p:sp>
        <p:nvSpPr>
          <p:cNvPr id="29" name="Text 27"/>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Model MCP eliminates the copy-paste gap between AI output and your model. That makes review discipline matter more, not less.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Report MCP — Working with Visuals &amp; Layout</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powerbi-report-mcp: read page structure and visual configurations, create, modify, and arrange visuals</a:t>
            </a:r>
            <a:endParaRPr lang="en-US" sz="1200" dirty="0"/>
          </a:p>
        </p:txBody>
      </p:sp>
      <p:sp>
        <p:nvSpPr>
          <p:cNvPr id="5" name="Shape 3"/>
          <p:cNvSpPr/>
          <p:nvPr/>
        </p:nvSpPr>
        <p:spPr>
          <a:xfrm>
            <a:off x="365760" y="1115568"/>
            <a:ext cx="4206240" cy="19659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115568"/>
            <a:ext cx="4206240" cy="384048"/>
          </a:xfrm>
          <a:prstGeom prst="rect">
            <a:avLst/>
          </a:prstGeom>
          <a:solidFill>
            <a:srgbClr val="065A82"/>
          </a:solidFill>
          <a:ln w="12700">
            <a:solidFill>
              <a:srgbClr val="065A82"/>
            </a:solidFill>
            <a:prstDash val="solid"/>
          </a:ln>
        </p:spPr>
      </p:sp>
      <p:sp>
        <p:nvSpPr>
          <p:cNvPr id="7" name="Text 5"/>
          <p:cNvSpPr/>
          <p:nvPr/>
        </p:nvSpPr>
        <p:spPr>
          <a:xfrm>
            <a:off x="548640" y="1115568"/>
            <a:ext cx="38404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Read Operations</a:t>
            </a:r>
            <a:endParaRPr lang="en-US" sz="1300" dirty="0"/>
          </a:p>
        </p:txBody>
      </p:sp>
      <p:sp>
        <p:nvSpPr>
          <p:cNvPr id="8" name="Text 6"/>
          <p:cNvSpPr/>
          <p:nvPr/>
        </p:nvSpPr>
        <p:spPr>
          <a:xfrm>
            <a:off x="548640" y="1554480"/>
            <a:ext cx="3840480" cy="146304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List pages and their visual configurations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Get visual definitions (type, bindings, formatting)</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List filters, bookmarks, and applied theme</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Inspect report-level settings</a:t>
            </a:r>
            <a:endParaRPr lang="en-US" sz="1050" dirty="0"/>
          </a:p>
        </p:txBody>
      </p:sp>
      <p:sp>
        <p:nvSpPr>
          <p:cNvPr id="9" name="Shape 7"/>
          <p:cNvSpPr/>
          <p:nvPr/>
        </p:nvSpPr>
        <p:spPr>
          <a:xfrm>
            <a:off x="4800600" y="1115568"/>
            <a:ext cx="4206240" cy="1965960"/>
          </a:xfrm>
          <a:prstGeom prst="rect">
            <a:avLst/>
          </a:prstGeom>
          <a:solidFill>
            <a:srgbClr val="FFFFFF"/>
          </a:solidFill>
          <a:ln w="12700">
            <a:solidFill>
              <a:srgbClr val="C8DFE8"/>
            </a:solidFill>
            <a:prstDash val="solid"/>
          </a:ln>
          <a:effectLst>
            <a:outerShdw sx="100000" sy="100000" kx="0" ky="0" algn="bl" rotWithShape="0" blurRad="967740000" dist="483870000" dir="486000000000">
              <a:srgbClr val="000000">
                <a:alpha val="900000000"/>
              </a:srgbClr>
            </a:outerShdw>
          </a:effectLst>
        </p:spPr>
      </p:sp>
      <p:sp>
        <p:nvSpPr>
          <p:cNvPr id="10" name="Shape 8"/>
          <p:cNvSpPr/>
          <p:nvPr/>
        </p:nvSpPr>
        <p:spPr>
          <a:xfrm>
            <a:off x="4800600" y="1115568"/>
            <a:ext cx="4206240" cy="384048"/>
          </a:xfrm>
          <a:prstGeom prst="rect">
            <a:avLst/>
          </a:prstGeom>
          <a:solidFill>
            <a:srgbClr val="1C7293"/>
          </a:solidFill>
          <a:ln w="12700">
            <a:solidFill>
              <a:srgbClr val="1C7293"/>
            </a:solidFill>
            <a:prstDash val="solid"/>
          </a:ln>
        </p:spPr>
      </p:sp>
      <p:sp>
        <p:nvSpPr>
          <p:cNvPr id="11" name="Text 9"/>
          <p:cNvSpPr/>
          <p:nvPr/>
        </p:nvSpPr>
        <p:spPr>
          <a:xfrm>
            <a:off x="4983480" y="1115568"/>
            <a:ext cx="38404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Write Operations</a:t>
            </a:r>
            <a:endParaRPr lang="en-US" sz="1300" dirty="0"/>
          </a:p>
        </p:txBody>
      </p:sp>
      <p:sp>
        <p:nvSpPr>
          <p:cNvPr id="12" name="Text 10"/>
          <p:cNvSpPr/>
          <p:nvPr/>
        </p:nvSpPr>
        <p:spPr>
          <a:xfrm>
            <a:off x="4983480" y="1554480"/>
            <a:ext cx="3840480" cy="146304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Add visuals (type, data bindings, position, size)</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Change visual types and apply formatting</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Manage filters and set themes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Create and manage bookmarks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Duplicate pages and visuals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Arrange and position layout elements</a:t>
            </a:r>
            <a:endParaRPr lang="en-US" sz="1050" dirty="0"/>
          </a:p>
        </p:txBody>
      </p:sp>
      <p:sp>
        <p:nvSpPr>
          <p:cNvPr id="13" name="Shape 11"/>
          <p:cNvSpPr/>
          <p:nvPr/>
        </p:nvSpPr>
        <p:spPr>
          <a:xfrm>
            <a:off x="365760" y="3200400"/>
            <a:ext cx="5120640" cy="1481328"/>
          </a:xfrm>
          <a:prstGeom prst="rect">
            <a:avLst/>
          </a:prstGeom>
          <a:solidFill>
            <a:srgbClr val="065A82"/>
          </a:solidFill>
          <a:ln w="12700">
            <a:solidFill>
              <a:srgbClr val="065A82"/>
            </a:solidFill>
            <a:prstDash val="solid"/>
          </a:ln>
        </p:spPr>
      </p:sp>
      <p:pic>
        <p:nvPicPr>
          <p:cNvPr id="14" name="Image 0" descr="preencoded.png">    </p:cNvPr>
          <p:cNvPicPr>
            <a:picLocks noChangeAspect="1"/>
          </p:cNvPicPr>
          <p:nvPr/>
        </p:nvPicPr>
        <p:blipFill>
          <a:blip r:embed="rId1"/>
          <a:stretch>
            <a:fillRect/>
          </a:stretch>
        </p:blipFill>
        <p:spPr>
          <a:xfrm>
            <a:off x="502920" y="3337560"/>
            <a:ext cx="502920" cy="502920"/>
          </a:xfrm>
          <a:prstGeom prst="rect">
            <a:avLst/>
          </a:prstGeom>
        </p:spPr>
      </p:pic>
      <p:sp>
        <p:nvSpPr>
          <p:cNvPr id="15" name="Text 12"/>
          <p:cNvSpPr/>
          <p:nvPr/>
        </p:nvSpPr>
        <p:spPr>
          <a:xfrm>
            <a:off x="1115568" y="3273552"/>
            <a:ext cx="41148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Iteration is Natural Here</a:t>
            </a:r>
            <a:endParaRPr lang="en-US" sz="1400" dirty="0"/>
          </a:p>
        </p:txBody>
      </p:sp>
      <p:sp>
        <p:nvSpPr>
          <p:cNvPr id="16" name="Text 13"/>
          <p:cNvSpPr/>
          <p:nvPr/>
        </p:nvSpPr>
        <p:spPr>
          <a:xfrm>
            <a:off x="566928" y="3694176"/>
            <a:ext cx="4754880" cy="868680"/>
          </a:xfrm>
          <a:prstGeom prst="rect">
            <a:avLst/>
          </a:prstGeom>
          <a:noFill/>
          <a:ln/>
        </p:spPr>
        <p:txBody>
          <a:bodyPr wrap="square" lIns="0" tIns="0" rIns="0" bIns="0" rtlCol="0" anchor="t"/>
          <a:lstStyle/>
          <a:p>
            <a:pPr algn="l" indent="0" marL="0">
              <a:buNone/>
            </a:pPr>
            <a:r>
              <a:rPr lang="en-US" sz="1100" dirty="0">
                <a:solidFill>
                  <a:srgbClr val="C8E4F0"/>
                </a:solidFill>
                <a:latin typeface="Calibri" pitchFamily="34" charset="0"/>
                <a:ea typeface="Calibri" pitchFamily="34" charset="-122"/>
                <a:cs typeface="Calibri" pitchFamily="34" charset="-120"/>
              </a:rPr>
              <a:t>Report layout is inherently visual and subjective. Expect multiple rounds:</a:t>
            </a:r>
            <a:endParaRPr lang="en-US" sz="1100" dirty="0"/>
          </a:p>
          <a:p>
            <a:pPr algn="l" indent="0" marL="0">
              <a:buNone/>
            </a:pPr>
            <a:r>
              <a:rPr lang="en-US" sz="1100" dirty="0">
                <a:solidFill>
                  <a:srgbClr val="C8E4F0"/>
                </a:solidFill>
                <a:latin typeface="Calibri" pitchFamily="34" charset="0"/>
                <a:ea typeface="Calibri" pitchFamily="34" charset="-122"/>
                <a:cs typeface="Calibri" pitchFamily="34" charset="-120"/>
              </a:rPr>
              <a:t>"Move the cards closer together" · "Make the chart wider" · "Change the bar chart to a column chart"</a:t>
            </a:r>
            <a:endParaRPr lang="en-US" sz="1100" dirty="0"/>
          </a:p>
        </p:txBody>
      </p:sp>
      <p:sp>
        <p:nvSpPr>
          <p:cNvPr id="17" name="Shape 14"/>
          <p:cNvSpPr/>
          <p:nvPr/>
        </p:nvSpPr>
        <p:spPr>
          <a:xfrm>
            <a:off x="5669280" y="3200400"/>
            <a:ext cx="3108960" cy="1481328"/>
          </a:xfrm>
          <a:prstGeom prst="rect">
            <a:avLst/>
          </a:prstGeom>
          <a:solidFill>
            <a:srgbClr val="F0FDF4"/>
          </a:solidFill>
          <a:ln w="19050">
            <a:solidFill>
              <a:srgbClr val="02C39A"/>
            </a:solidFill>
            <a:prstDash val="solid"/>
          </a:ln>
        </p:spPr>
      </p:sp>
      <p:sp>
        <p:nvSpPr>
          <p:cNvPr id="18" name="Text 15"/>
          <p:cNvSpPr/>
          <p:nvPr/>
        </p:nvSpPr>
        <p:spPr>
          <a:xfrm>
            <a:off x="5852160" y="3273552"/>
            <a:ext cx="2743200" cy="347472"/>
          </a:xfrm>
          <a:prstGeom prst="rect">
            <a:avLst/>
          </a:prstGeom>
          <a:noFill/>
          <a:ln/>
        </p:spPr>
        <p:txBody>
          <a:bodyPr wrap="square" lIns="0" tIns="0" rIns="0" bIns="0" rtlCol="0" anchor="ctr"/>
          <a:lstStyle/>
          <a:p>
            <a:pPr algn="l" indent="0" marL="0">
              <a:buNone/>
            </a:pPr>
            <a:r>
              <a:rPr lang="en-US" sz="1200" b="1" dirty="0">
                <a:solidFill>
                  <a:srgbClr val="065F46"/>
                </a:solidFill>
                <a:latin typeface="Calibri" pitchFamily="34" charset="0"/>
                <a:ea typeface="Calibri" pitchFamily="34" charset="-122"/>
                <a:cs typeface="Calibri" pitchFamily="34" charset="-120"/>
              </a:rPr>
              <a:t>Lower Risk — Start Here</a:t>
            </a:r>
            <a:endParaRPr lang="en-US" sz="1200" dirty="0"/>
          </a:p>
        </p:txBody>
      </p:sp>
      <p:sp>
        <p:nvSpPr>
          <p:cNvPr id="19" name="Text 16"/>
          <p:cNvSpPr/>
          <p:nvPr/>
        </p:nvSpPr>
        <p:spPr>
          <a:xfrm>
            <a:off x="5852160" y="3657600"/>
            <a:ext cx="2788920" cy="960120"/>
          </a:xfrm>
          <a:prstGeom prst="rect">
            <a:avLst/>
          </a:prstGeom>
          <a:noFill/>
          <a:ln/>
        </p:spPr>
        <p:txBody>
          <a:bodyPr wrap="square" lIns="0" tIns="0" rIns="0" bIns="0" rtlCol="0" anchor="t"/>
          <a:lstStyle/>
          <a:p>
            <a:pPr algn="l" indent="0" marL="0">
              <a:buNone/>
            </a:pPr>
            <a:r>
              <a:rPr lang="en-US" sz="1000" dirty="0">
                <a:solidFill>
                  <a:srgbClr val="065F46"/>
                </a:solidFill>
                <a:latin typeface="Calibri" pitchFamily="34" charset="0"/>
                <a:ea typeface="Calibri" pitchFamily="34" charset="-122"/>
                <a:cs typeface="Calibri" pitchFamily="34" charset="-120"/>
              </a:rPr>
              <a:t>Report MCP changes how things look, not what they calculate. It's a great place to build confidence with AI-assisted development before tackling model changes.</a:t>
            </a:r>
            <a:endParaRPr lang="en-US" sz="1000" dirty="0"/>
          </a:p>
        </p:txBody>
      </p:sp>
      <p:sp>
        <p:nvSpPr>
          <p:cNvPr id="20" name="Shape 17"/>
          <p:cNvSpPr/>
          <p:nvPr/>
        </p:nvSpPr>
        <p:spPr>
          <a:xfrm>
            <a:off x="0" y="4818888"/>
            <a:ext cx="9144000" cy="324612"/>
          </a:xfrm>
          <a:prstGeom prst="rect">
            <a:avLst/>
          </a:prstGeom>
          <a:solidFill>
            <a:srgbClr val="065A82"/>
          </a:solidFill>
          <a:ln w="12700">
            <a:solidFill>
              <a:srgbClr val="065A82"/>
            </a:solidFill>
            <a:prstDash val="solid"/>
          </a:ln>
        </p:spPr>
      </p:sp>
      <p:sp>
        <p:nvSpPr>
          <p:cNvPr id="21" name="Text 18"/>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Report MCP is lower risk than Model MCP — you're changing appearance, not calculations. Build confidence here first.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Chaining Both Layers</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The most powerful MCP workflows span both layers — the AI handles the chaining, you describe the end state</a:t>
            </a:r>
            <a:endParaRPr lang="en-US" sz="1200" dirty="0"/>
          </a:p>
        </p:txBody>
      </p:sp>
      <p:sp>
        <p:nvSpPr>
          <p:cNvPr id="5" name="Shape 3"/>
          <p:cNvSpPr/>
          <p:nvPr/>
        </p:nvSpPr>
        <p:spPr>
          <a:xfrm>
            <a:off x="365760" y="1115568"/>
            <a:ext cx="8412480" cy="594360"/>
          </a:xfrm>
          <a:prstGeom prst="rect">
            <a:avLst/>
          </a:prstGeom>
          <a:solidFill>
            <a:srgbClr val="0D2137"/>
          </a:solidFill>
          <a:ln w="12700">
            <a:solidFill>
              <a:srgbClr val="0D2137"/>
            </a:solidFill>
            <a:prstDash val="solid"/>
          </a:ln>
        </p:spPr>
      </p:sp>
      <p:pic>
        <p:nvPicPr>
          <p:cNvPr id="6" name="Image 0" descr="preencoded.png">    </p:cNvPr>
          <p:cNvPicPr>
            <a:picLocks noChangeAspect="1"/>
          </p:cNvPicPr>
          <p:nvPr/>
        </p:nvPicPr>
        <p:blipFill>
          <a:blip r:embed="rId1"/>
          <a:stretch>
            <a:fillRect/>
          </a:stretch>
        </p:blipFill>
        <p:spPr>
          <a:xfrm>
            <a:off x="502920" y="1188720"/>
            <a:ext cx="384048" cy="384048"/>
          </a:xfrm>
          <a:prstGeom prst="rect">
            <a:avLst/>
          </a:prstGeom>
        </p:spPr>
      </p:pic>
      <p:sp>
        <p:nvSpPr>
          <p:cNvPr id="7" name="Text 4"/>
          <p:cNvSpPr/>
          <p:nvPr/>
        </p:nvSpPr>
        <p:spPr>
          <a:xfrm>
            <a:off x="1005840" y="1143000"/>
            <a:ext cx="7635240" cy="530352"/>
          </a:xfrm>
          <a:prstGeom prst="rect">
            <a:avLst/>
          </a:prstGeom>
          <a:noFill/>
          <a:ln/>
        </p:spPr>
        <p:txBody>
          <a:bodyPr wrap="square" lIns="0" tIns="0" rIns="0" bIns="0" rtlCol="0" anchor="ctr"/>
          <a:lstStyle/>
          <a:p>
            <a:pPr algn="l" indent="0" marL="0">
              <a:buNone/>
            </a:pPr>
            <a:r>
              <a:rPr lang="en-US" sz="1100" b="1" dirty="0">
                <a:solidFill>
                  <a:srgbClr val="02C39A"/>
                </a:solidFill>
                <a:latin typeface="Calibri" pitchFamily="34" charset="0"/>
                <a:ea typeface="Calibri" pitchFamily="34" charset="-122"/>
                <a:cs typeface="Calibri" pitchFamily="34" charset="-120"/>
              </a:rPr>
              <a:t>User request:  </a:t>
            </a:r>
            <a:pPr algn="l" indent="0" marL="0">
              <a:buNone/>
            </a:pPr>
            <a:r>
              <a:rPr lang="en-US" sz="1100" dirty="0">
                <a:solidFill>
                  <a:srgbClr val="FFFFFF"/>
                </a:solidFill>
                <a:latin typeface="Calibri" pitchFamily="34" charset="0"/>
                <a:ea typeface="Calibri" pitchFamily="34" charset="-122"/>
                <a:cs typeface="Calibri" pitchFamily="34" charset="-120"/>
              </a:rPr>
              <a:t>"Create a profitability overview page with gross margin %, net margin %, and revenue trends by quarter, with a region slicer."</a:t>
            </a:r>
            <a:endParaRPr lang="en-US" sz="1100" dirty="0"/>
          </a:p>
        </p:txBody>
      </p:sp>
      <p:sp>
        <p:nvSpPr>
          <p:cNvPr id="8" name="Shape 5"/>
          <p:cNvSpPr/>
          <p:nvPr/>
        </p:nvSpPr>
        <p:spPr>
          <a:xfrm>
            <a:off x="365760" y="1874520"/>
            <a:ext cx="1965960" cy="256032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9" name="Shape 6"/>
          <p:cNvSpPr/>
          <p:nvPr/>
        </p:nvSpPr>
        <p:spPr>
          <a:xfrm>
            <a:off x="365760" y="1874520"/>
            <a:ext cx="1965960" cy="347472"/>
          </a:xfrm>
          <a:prstGeom prst="rect">
            <a:avLst/>
          </a:prstGeom>
          <a:solidFill>
            <a:srgbClr val="065A82"/>
          </a:solidFill>
          <a:ln w="12700">
            <a:solidFill>
              <a:srgbClr val="065A82"/>
            </a:solidFill>
            <a:prstDash val="solid"/>
          </a:ln>
        </p:spPr>
      </p:sp>
      <p:sp>
        <p:nvSpPr>
          <p:cNvPr id="10" name="Text 7"/>
          <p:cNvSpPr/>
          <p:nvPr/>
        </p:nvSpPr>
        <p:spPr>
          <a:xfrm>
            <a:off x="365760" y="1874520"/>
            <a:ext cx="1965960" cy="34747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MODEL MCP</a:t>
            </a:r>
            <a:endParaRPr lang="en-US" sz="800" dirty="0"/>
          </a:p>
        </p:txBody>
      </p:sp>
      <p:pic>
        <p:nvPicPr>
          <p:cNvPr id="11" name="Image 1" descr="preencoded.png">    </p:cNvPr>
          <p:cNvPicPr>
            <a:picLocks noChangeAspect="1"/>
          </p:cNvPicPr>
          <p:nvPr/>
        </p:nvPicPr>
        <p:blipFill>
          <a:blip r:embed="rId2"/>
          <a:stretch>
            <a:fillRect/>
          </a:stretch>
        </p:blipFill>
        <p:spPr>
          <a:xfrm>
            <a:off x="1051560" y="2304288"/>
            <a:ext cx="502920" cy="502920"/>
          </a:xfrm>
          <a:prstGeom prst="rect">
            <a:avLst/>
          </a:prstGeom>
        </p:spPr>
      </p:pic>
      <p:sp>
        <p:nvSpPr>
          <p:cNvPr id="12" name="Text 8"/>
          <p:cNvSpPr/>
          <p:nvPr/>
        </p:nvSpPr>
        <p:spPr>
          <a:xfrm>
            <a:off x="457200" y="2880360"/>
            <a:ext cx="1783080" cy="457200"/>
          </a:xfrm>
          <a:prstGeom prst="rect">
            <a:avLst/>
          </a:prstGeom>
          <a:noFill/>
          <a:ln/>
        </p:spPr>
        <p:txBody>
          <a:bodyPr wrap="square" lIns="0" tIns="0" rIns="0" bIns="0"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Reads the semantic model</a:t>
            </a:r>
            <a:endParaRPr lang="en-US" sz="1100" dirty="0"/>
          </a:p>
        </p:txBody>
      </p:sp>
      <p:sp>
        <p:nvSpPr>
          <p:cNvPr id="13" name="Text 9"/>
          <p:cNvSpPr/>
          <p:nvPr/>
        </p:nvSpPr>
        <p:spPr>
          <a:xfrm>
            <a:off x="457200" y="3383280"/>
            <a:ext cx="1783080" cy="960120"/>
          </a:xfrm>
          <a:prstGeom prst="rect">
            <a:avLst/>
          </a:prstGeom>
          <a:noFill/>
          <a:ln/>
        </p:spPr>
        <p:txBody>
          <a:bodyPr wrap="square" lIns="0" tIns="0" rIns="0" bIns="0" rtlCol="0" anchor="t"/>
          <a:lstStyle/>
          <a:p>
            <a:pPr algn="ctr" indent="0" marL="0">
              <a:buNone/>
            </a:pPr>
            <a:r>
              <a:rPr lang="en-US" sz="950" dirty="0">
                <a:solidFill>
                  <a:srgbClr val="2C4A5E"/>
                </a:solidFill>
                <a:latin typeface="Calibri" pitchFamily="34" charset="0"/>
                <a:ea typeface="Calibri" pitchFamily="34" charset="-122"/>
                <a:cs typeface="Calibri" pitchFamily="34" charset="-120"/>
              </a:rPr>
              <a:t>Finds Gross Margin % exists. Net Margin % is missing.</a:t>
            </a:r>
            <a:endParaRPr lang="en-US" sz="950" dirty="0"/>
          </a:p>
        </p:txBody>
      </p:sp>
      <p:pic>
        <p:nvPicPr>
          <p:cNvPr id="14" name="Image 2" descr="preencoded.png">    </p:cNvPr>
          <p:cNvPicPr>
            <a:picLocks noChangeAspect="1"/>
          </p:cNvPicPr>
          <p:nvPr/>
        </p:nvPicPr>
        <p:blipFill>
          <a:blip r:embed="rId3"/>
          <a:stretch>
            <a:fillRect/>
          </a:stretch>
        </p:blipFill>
        <p:spPr>
          <a:xfrm>
            <a:off x="2359152" y="2971800"/>
            <a:ext cx="274320" cy="274320"/>
          </a:xfrm>
          <a:prstGeom prst="rect">
            <a:avLst/>
          </a:prstGeom>
        </p:spPr>
      </p:pic>
      <p:sp>
        <p:nvSpPr>
          <p:cNvPr id="15" name="Shape 10"/>
          <p:cNvSpPr/>
          <p:nvPr/>
        </p:nvSpPr>
        <p:spPr>
          <a:xfrm>
            <a:off x="2514600" y="1874520"/>
            <a:ext cx="1965960" cy="2560320"/>
          </a:xfrm>
          <a:prstGeom prst="rect">
            <a:avLst/>
          </a:prstGeom>
          <a:solidFill>
            <a:srgbClr val="FFFFFF"/>
          </a:solidFill>
          <a:ln w="12700">
            <a:solidFill>
              <a:srgbClr val="C8DFE8"/>
            </a:solidFill>
            <a:prstDash val="solid"/>
          </a:ln>
          <a:effectLst>
            <a:outerShdw sx="100000" sy="100000" kx="0" ky="0" algn="bl" rotWithShape="0" blurRad="967740000" dist="483870000" dir="486000000000">
              <a:srgbClr val="000000">
                <a:alpha val="900000000"/>
              </a:srgbClr>
            </a:outerShdw>
          </a:effectLst>
        </p:spPr>
      </p:sp>
      <p:sp>
        <p:nvSpPr>
          <p:cNvPr id="16" name="Shape 11"/>
          <p:cNvSpPr/>
          <p:nvPr/>
        </p:nvSpPr>
        <p:spPr>
          <a:xfrm>
            <a:off x="2514600" y="1874520"/>
            <a:ext cx="1965960" cy="347472"/>
          </a:xfrm>
          <a:prstGeom prst="rect">
            <a:avLst/>
          </a:prstGeom>
          <a:solidFill>
            <a:srgbClr val="065A82"/>
          </a:solidFill>
          <a:ln w="12700">
            <a:solidFill>
              <a:srgbClr val="065A82"/>
            </a:solidFill>
            <a:prstDash val="solid"/>
          </a:ln>
        </p:spPr>
      </p:sp>
      <p:sp>
        <p:nvSpPr>
          <p:cNvPr id="17" name="Text 12"/>
          <p:cNvSpPr/>
          <p:nvPr/>
        </p:nvSpPr>
        <p:spPr>
          <a:xfrm>
            <a:off x="2514600" y="1874520"/>
            <a:ext cx="1965960" cy="34747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MODEL MCP</a:t>
            </a:r>
            <a:endParaRPr lang="en-US" sz="800" dirty="0"/>
          </a:p>
        </p:txBody>
      </p:sp>
      <p:pic>
        <p:nvPicPr>
          <p:cNvPr id="18" name="Image 3" descr="preencoded.png">    </p:cNvPr>
          <p:cNvPicPr>
            <a:picLocks noChangeAspect="1"/>
          </p:cNvPicPr>
          <p:nvPr/>
        </p:nvPicPr>
        <p:blipFill>
          <a:blip r:embed="rId4"/>
          <a:stretch>
            <a:fillRect/>
          </a:stretch>
        </p:blipFill>
        <p:spPr>
          <a:xfrm>
            <a:off x="3200400" y="2304288"/>
            <a:ext cx="502920" cy="502920"/>
          </a:xfrm>
          <a:prstGeom prst="rect">
            <a:avLst/>
          </a:prstGeom>
        </p:spPr>
      </p:pic>
      <p:sp>
        <p:nvSpPr>
          <p:cNvPr id="19" name="Text 13"/>
          <p:cNvSpPr/>
          <p:nvPr/>
        </p:nvSpPr>
        <p:spPr>
          <a:xfrm>
            <a:off x="2606040" y="2880360"/>
            <a:ext cx="1783080" cy="457200"/>
          </a:xfrm>
          <a:prstGeom prst="rect">
            <a:avLst/>
          </a:prstGeom>
          <a:noFill/>
          <a:ln/>
        </p:spPr>
        <p:txBody>
          <a:bodyPr wrap="square" lIns="0" tIns="0" rIns="0" bIns="0"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Creates missing measure</a:t>
            </a:r>
            <a:endParaRPr lang="en-US" sz="1100" dirty="0"/>
          </a:p>
        </p:txBody>
      </p:sp>
      <p:sp>
        <p:nvSpPr>
          <p:cNvPr id="20" name="Text 14"/>
          <p:cNvSpPr/>
          <p:nvPr/>
        </p:nvSpPr>
        <p:spPr>
          <a:xfrm>
            <a:off x="2606040" y="3383280"/>
            <a:ext cx="1783080" cy="960120"/>
          </a:xfrm>
          <a:prstGeom prst="rect">
            <a:avLst/>
          </a:prstGeom>
          <a:noFill/>
          <a:ln/>
        </p:spPr>
        <p:txBody>
          <a:bodyPr wrap="square" lIns="0" tIns="0" rIns="0" bIns="0" rtlCol="0" anchor="t"/>
          <a:lstStyle/>
          <a:p>
            <a:pPr algn="ctr" indent="0" marL="0">
              <a:buNone/>
            </a:pPr>
            <a:r>
              <a:rPr lang="en-US" sz="950" dirty="0">
                <a:solidFill>
                  <a:srgbClr val="2C4A5E"/>
                </a:solidFill>
                <a:latin typeface="Calibri" pitchFamily="34" charset="0"/>
                <a:ea typeface="Calibri" pitchFamily="34" charset="-122"/>
                <a:cs typeface="Calibri" pitchFamily="34" charset="-120"/>
              </a:rPr>
              <a:t>Net Margin % is created via model MCP with correct DAX.</a:t>
            </a:r>
            <a:endParaRPr lang="en-US" sz="950" dirty="0"/>
          </a:p>
        </p:txBody>
      </p:sp>
      <p:pic>
        <p:nvPicPr>
          <p:cNvPr id="21" name="Image 4" descr="preencoded.png">    </p:cNvPr>
          <p:cNvPicPr>
            <a:picLocks noChangeAspect="1"/>
          </p:cNvPicPr>
          <p:nvPr/>
        </p:nvPicPr>
        <p:blipFill>
          <a:blip r:embed="rId5"/>
          <a:stretch>
            <a:fillRect/>
          </a:stretch>
        </p:blipFill>
        <p:spPr>
          <a:xfrm>
            <a:off x="4507992" y="2971800"/>
            <a:ext cx="274320" cy="274320"/>
          </a:xfrm>
          <a:prstGeom prst="rect">
            <a:avLst/>
          </a:prstGeom>
        </p:spPr>
      </p:pic>
      <p:sp>
        <p:nvSpPr>
          <p:cNvPr id="22" name="Shape 15"/>
          <p:cNvSpPr/>
          <p:nvPr/>
        </p:nvSpPr>
        <p:spPr>
          <a:xfrm>
            <a:off x="4663440" y="1874520"/>
            <a:ext cx="1965960" cy="2560320"/>
          </a:xfrm>
          <a:prstGeom prst="rect">
            <a:avLst/>
          </a:prstGeom>
          <a:solidFill>
            <a:srgbClr val="FFFFFF"/>
          </a:solidFill>
          <a:ln w="12700">
            <a:solidFill>
              <a:srgbClr val="C8DFE8"/>
            </a:solidFill>
            <a:prstDash val="solid"/>
          </a:ln>
          <a:effectLst>
            <a:outerShdw sx="100000" sy="100000" kx="0" ky="0" algn="bl" rotWithShape="0" blurRad="12290298000000" dist="6145149000000" dir="29160000000000000">
              <a:srgbClr val="000000">
                <a:alpha val="90000000000000"/>
              </a:srgbClr>
            </a:outerShdw>
          </a:effectLst>
        </p:spPr>
      </p:sp>
      <p:sp>
        <p:nvSpPr>
          <p:cNvPr id="23" name="Shape 16"/>
          <p:cNvSpPr/>
          <p:nvPr/>
        </p:nvSpPr>
        <p:spPr>
          <a:xfrm>
            <a:off x="4663440" y="1874520"/>
            <a:ext cx="1965960" cy="347472"/>
          </a:xfrm>
          <a:prstGeom prst="rect">
            <a:avLst/>
          </a:prstGeom>
          <a:solidFill>
            <a:srgbClr val="1C7293"/>
          </a:solidFill>
          <a:ln w="12700">
            <a:solidFill>
              <a:srgbClr val="1C7293"/>
            </a:solidFill>
            <a:prstDash val="solid"/>
          </a:ln>
        </p:spPr>
      </p:sp>
      <p:sp>
        <p:nvSpPr>
          <p:cNvPr id="24" name="Text 17"/>
          <p:cNvSpPr/>
          <p:nvPr/>
        </p:nvSpPr>
        <p:spPr>
          <a:xfrm>
            <a:off x="4663440" y="1874520"/>
            <a:ext cx="1965960" cy="34747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 MCP</a:t>
            </a:r>
            <a:endParaRPr lang="en-US" sz="800" dirty="0"/>
          </a:p>
        </p:txBody>
      </p:sp>
      <p:pic>
        <p:nvPicPr>
          <p:cNvPr id="25" name="Image 5" descr="preencoded.png">    </p:cNvPr>
          <p:cNvPicPr>
            <a:picLocks noChangeAspect="1"/>
          </p:cNvPicPr>
          <p:nvPr/>
        </p:nvPicPr>
        <p:blipFill>
          <a:blip r:embed="rId6"/>
          <a:stretch>
            <a:fillRect/>
          </a:stretch>
        </p:blipFill>
        <p:spPr>
          <a:xfrm>
            <a:off x="5349240" y="2304288"/>
            <a:ext cx="502920" cy="502920"/>
          </a:xfrm>
          <a:prstGeom prst="rect">
            <a:avLst/>
          </a:prstGeom>
        </p:spPr>
      </p:pic>
      <p:sp>
        <p:nvSpPr>
          <p:cNvPr id="26" name="Text 18"/>
          <p:cNvSpPr/>
          <p:nvPr/>
        </p:nvSpPr>
        <p:spPr>
          <a:xfrm>
            <a:off x="4754880" y="2880360"/>
            <a:ext cx="1783080" cy="457200"/>
          </a:xfrm>
          <a:prstGeom prst="rect">
            <a:avLst/>
          </a:prstGeom>
          <a:noFill/>
          <a:ln/>
        </p:spPr>
        <p:txBody>
          <a:bodyPr wrap="square" lIns="0" tIns="0" rIns="0" bIns="0"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Creates new report page</a:t>
            </a:r>
            <a:endParaRPr lang="en-US" sz="1100" dirty="0"/>
          </a:p>
        </p:txBody>
      </p:sp>
      <p:sp>
        <p:nvSpPr>
          <p:cNvPr id="27" name="Text 19"/>
          <p:cNvSpPr/>
          <p:nvPr/>
        </p:nvSpPr>
        <p:spPr>
          <a:xfrm>
            <a:off x="4754880" y="3383280"/>
            <a:ext cx="1783080" cy="960120"/>
          </a:xfrm>
          <a:prstGeom prst="rect">
            <a:avLst/>
          </a:prstGeom>
          <a:noFill/>
          <a:ln/>
        </p:spPr>
        <p:txBody>
          <a:bodyPr wrap="square" lIns="0" tIns="0" rIns="0" bIns="0" rtlCol="0" anchor="t"/>
          <a:lstStyle/>
          <a:p>
            <a:pPr algn="ctr" indent="0" marL="0">
              <a:buNone/>
            </a:pPr>
            <a:r>
              <a:rPr lang="en-US" sz="950" dirty="0">
                <a:solidFill>
                  <a:srgbClr val="2C4A5E"/>
                </a:solidFill>
                <a:latin typeface="Calibri" pitchFamily="34" charset="0"/>
                <a:ea typeface="Calibri" pitchFamily="34" charset="-122"/>
                <a:cs typeface="Calibri" pitchFamily="34" charset="-120"/>
              </a:rPr>
              <a:t>New “Profitability Overview” page added to the report.</a:t>
            </a:r>
            <a:endParaRPr lang="en-US" sz="950" dirty="0"/>
          </a:p>
        </p:txBody>
      </p:sp>
      <p:pic>
        <p:nvPicPr>
          <p:cNvPr id="28" name="Image 6" descr="preencoded.png">    </p:cNvPr>
          <p:cNvPicPr>
            <a:picLocks noChangeAspect="1"/>
          </p:cNvPicPr>
          <p:nvPr/>
        </p:nvPicPr>
        <p:blipFill>
          <a:blip r:embed="rId7"/>
          <a:stretch>
            <a:fillRect/>
          </a:stretch>
        </p:blipFill>
        <p:spPr>
          <a:xfrm>
            <a:off x="6656832" y="2971800"/>
            <a:ext cx="274320" cy="274320"/>
          </a:xfrm>
          <a:prstGeom prst="rect">
            <a:avLst/>
          </a:prstGeom>
        </p:spPr>
      </p:pic>
      <p:sp>
        <p:nvSpPr>
          <p:cNvPr id="29" name="Shape 20"/>
          <p:cNvSpPr/>
          <p:nvPr/>
        </p:nvSpPr>
        <p:spPr>
          <a:xfrm>
            <a:off x="6812280" y="1874520"/>
            <a:ext cx="1965960" cy="2560320"/>
          </a:xfrm>
          <a:prstGeom prst="rect">
            <a:avLst/>
          </a:prstGeom>
          <a:solidFill>
            <a:srgbClr val="FFFFFF"/>
          </a:solidFill>
          <a:ln w="12700">
            <a:solidFill>
              <a:srgbClr val="C8DFE8"/>
            </a:solidFill>
            <a:prstDash val="solid"/>
          </a:ln>
          <a:effectLst>
            <a:outerShdw sx="100000" sy="100000" kx="0" ky="0" algn="bl" rotWithShape="0" blurRad="156086784600000000" dist="78043392300000000" dir="1.7496e+21">
              <a:srgbClr val="000000">
                <a:alpha val="9000000000000000000"/>
              </a:srgbClr>
            </a:outerShdw>
          </a:effectLst>
        </p:spPr>
      </p:sp>
      <p:sp>
        <p:nvSpPr>
          <p:cNvPr id="30" name="Shape 21"/>
          <p:cNvSpPr/>
          <p:nvPr/>
        </p:nvSpPr>
        <p:spPr>
          <a:xfrm>
            <a:off x="6812280" y="1874520"/>
            <a:ext cx="1965960" cy="347472"/>
          </a:xfrm>
          <a:prstGeom prst="rect">
            <a:avLst/>
          </a:prstGeom>
          <a:solidFill>
            <a:srgbClr val="1C7293"/>
          </a:solidFill>
          <a:ln w="12700">
            <a:solidFill>
              <a:srgbClr val="1C7293"/>
            </a:solidFill>
            <a:prstDash val="solid"/>
          </a:ln>
        </p:spPr>
      </p:sp>
      <p:sp>
        <p:nvSpPr>
          <p:cNvPr id="31" name="Text 22"/>
          <p:cNvSpPr/>
          <p:nvPr/>
        </p:nvSpPr>
        <p:spPr>
          <a:xfrm>
            <a:off x="6812280" y="1874520"/>
            <a:ext cx="1965960" cy="34747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 MCP</a:t>
            </a:r>
            <a:endParaRPr lang="en-US" sz="800" dirty="0"/>
          </a:p>
        </p:txBody>
      </p:sp>
      <p:pic>
        <p:nvPicPr>
          <p:cNvPr id="32" name="Image 7" descr="preencoded.png">    </p:cNvPr>
          <p:cNvPicPr>
            <a:picLocks noChangeAspect="1"/>
          </p:cNvPicPr>
          <p:nvPr/>
        </p:nvPicPr>
        <p:blipFill>
          <a:blip r:embed="rId8"/>
          <a:stretch>
            <a:fillRect/>
          </a:stretch>
        </p:blipFill>
        <p:spPr>
          <a:xfrm>
            <a:off x="7498080" y="2304288"/>
            <a:ext cx="502920" cy="502920"/>
          </a:xfrm>
          <a:prstGeom prst="rect">
            <a:avLst/>
          </a:prstGeom>
        </p:spPr>
      </p:pic>
      <p:sp>
        <p:nvSpPr>
          <p:cNvPr id="33" name="Text 23"/>
          <p:cNvSpPr/>
          <p:nvPr/>
        </p:nvSpPr>
        <p:spPr>
          <a:xfrm>
            <a:off x="6903720" y="2880360"/>
            <a:ext cx="1783080" cy="457200"/>
          </a:xfrm>
          <a:prstGeom prst="rect">
            <a:avLst/>
          </a:prstGeom>
          <a:noFill/>
          <a:ln/>
        </p:spPr>
        <p:txBody>
          <a:bodyPr wrap="square" lIns="0" tIns="0" rIns="0" bIns="0" rtlCol="0" anchor="ctr"/>
          <a:lstStyle/>
          <a:p>
            <a:pPr algn="ctr" indent="0" marL="0">
              <a:buNone/>
            </a:pPr>
            <a:r>
              <a:rPr lang="en-US" sz="1100" b="1" dirty="0">
                <a:solidFill>
                  <a:srgbClr val="0D2137"/>
                </a:solidFill>
                <a:latin typeface="Calibri" pitchFamily="34" charset="0"/>
                <a:ea typeface="Calibri" pitchFamily="34" charset="-122"/>
                <a:cs typeface="Calibri" pitchFamily="34" charset="-120"/>
              </a:rPr>
              <a:t>Adds and positions visuals</a:t>
            </a:r>
            <a:endParaRPr lang="en-US" sz="1100" dirty="0"/>
          </a:p>
        </p:txBody>
      </p:sp>
      <p:sp>
        <p:nvSpPr>
          <p:cNvPr id="34" name="Text 24"/>
          <p:cNvSpPr/>
          <p:nvPr/>
        </p:nvSpPr>
        <p:spPr>
          <a:xfrm>
            <a:off x="6903720" y="3383280"/>
            <a:ext cx="1783080" cy="960120"/>
          </a:xfrm>
          <a:prstGeom prst="rect">
            <a:avLst/>
          </a:prstGeom>
          <a:noFill/>
          <a:ln/>
        </p:spPr>
        <p:txBody>
          <a:bodyPr wrap="square" lIns="0" tIns="0" rIns="0" bIns="0" rtlCol="0" anchor="t"/>
          <a:lstStyle/>
          <a:p>
            <a:pPr algn="ctr" indent="0" marL="0">
              <a:buNone/>
            </a:pPr>
            <a:r>
              <a:rPr lang="en-US" sz="950" dirty="0">
                <a:solidFill>
                  <a:srgbClr val="2C4A5E"/>
                </a:solidFill>
                <a:latin typeface="Calibri" pitchFamily="34" charset="0"/>
                <a:ea typeface="Calibri" pitchFamily="34" charset="-122"/>
                <a:cs typeface="Calibri" pitchFamily="34" charset="-120"/>
              </a:rPr>
              <a:t>Card visuals for margin %, line chart for revenue by quarter, region slicer — all bound to correct measures.</a:t>
            </a:r>
            <a:endParaRPr lang="en-US" sz="950" dirty="0"/>
          </a:p>
        </p:txBody>
      </p:sp>
      <p:sp>
        <p:nvSpPr>
          <p:cNvPr id="35" name="Shape 25"/>
          <p:cNvSpPr/>
          <p:nvPr/>
        </p:nvSpPr>
        <p:spPr>
          <a:xfrm>
            <a:off x="365760" y="4572000"/>
            <a:ext cx="8412480" cy="201168"/>
          </a:xfrm>
          <a:prstGeom prst="rect">
            <a:avLst/>
          </a:prstGeom>
          <a:solidFill>
            <a:srgbClr val="02C39A"/>
          </a:solidFill>
          <a:ln w="12700">
            <a:solidFill>
              <a:srgbClr val="02C39A"/>
            </a:solidFill>
            <a:prstDash val="solid"/>
          </a:ln>
        </p:spPr>
      </p:sp>
      <p:sp>
        <p:nvSpPr>
          <p:cNvPr id="36" name="Text 26"/>
          <p:cNvSpPr/>
          <p:nvPr/>
        </p:nvSpPr>
        <p:spPr>
          <a:xfrm>
            <a:off x="502920" y="4572000"/>
            <a:ext cx="8138160" cy="201168"/>
          </a:xfrm>
          <a:prstGeom prst="rect">
            <a:avLst/>
          </a:prstGeom>
          <a:noFill/>
          <a:ln/>
        </p:spPr>
        <p:txBody>
          <a:bodyPr wrap="square" lIns="0" tIns="0" rIns="0" bIns="0" rtlCol="0" anchor="ctr"/>
          <a:lstStyle/>
          <a:p>
            <a:pPr algn="l" indent="0" marL="0">
              <a:buNone/>
            </a:pPr>
            <a:r>
              <a:rPr lang="en-US" sz="900" dirty="0">
                <a:solidFill>
                  <a:srgbClr val="0D2137"/>
                </a:solidFill>
                <a:latin typeface="Calibri" pitchFamily="34" charset="0"/>
                <a:ea typeface="Calibri" pitchFamily="34" charset="-122"/>
                <a:cs typeface="Calibri" pitchFamily="34" charset="-120"/>
              </a:rPr>
              <a:t>Context flows automatically: schema read via Model MCP informs the bindings written via Report MCP — no manual specification needed.</a:t>
            </a:r>
            <a:endParaRPr lang="en-US" sz="900" dirty="0"/>
          </a:p>
        </p:txBody>
      </p:sp>
      <p:sp>
        <p:nvSpPr>
          <p:cNvPr id="37" name="Shape 27"/>
          <p:cNvSpPr/>
          <p:nvPr/>
        </p:nvSpPr>
        <p:spPr>
          <a:xfrm>
            <a:off x="0" y="4818888"/>
            <a:ext cx="9144000" cy="324612"/>
          </a:xfrm>
          <a:prstGeom prst="rect">
            <a:avLst/>
          </a:prstGeom>
          <a:solidFill>
            <a:srgbClr val="065A82"/>
          </a:solidFill>
          <a:ln w="12700">
            <a:solidFill>
              <a:srgbClr val="065A82"/>
            </a:solidFill>
            <a:prstDash val="solid"/>
          </a:ln>
        </p:spPr>
      </p:sp>
      <p:sp>
        <p:nvSpPr>
          <p:cNvPr id="38" name="Text 28"/>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Chaining isn't a special mode — it's what happens naturally when you give AI a goal that spans model and report.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0D2137"/>
                </a:solidFill>
                <a:latin typeface="Calibri" pitchFamily="34" charset="0"/>
                <a:ea typeface="Calibri" pitchFamily="34" charset="-122"/>
                <a:cs typeface="Calibri" pitchFamily="34" charset="-120"/>
              </a:rPr>
              <a:t>Picking the Right Tool for the Job</a:t>
            </a:r>
            <a:endParaRPr lang="en-US" sz="3000" dirty="0"/>
          </a:p>
        </p:txBody>
      </p:sp>
      <p:sp>
        <p:nvSpPr>
          <p:cNvPr id="4" name="Text 2"/>
          <p:cNvSpPr/>
          <p:nvPr/>
        </p:nvSpPr>
        <p:spPr>
          <a:xfrm>
            <a:off x="457200" y="777240"/>
            <a:ext cx="8229600" cy="256032"/>
          </a:xfrm>
          <a:prstGeom prst="rect">
            <a:avLst/>
          </a:prstGeom>
          <a:noFill/>
          <a:ln/>
        </p:spPr>
        <p:txBody>
          <a:bodyPr wrap="square" lIns="0" tIns="0" rIns="0" bIns="0" rtlCol="0" anchor="ctr"/>
          <a:lstStyle/>
          <a:p>
            <a:pPr algn="l" indent="0" marL="0">
              <a:buNone/>
            </a:pPr>
            <a:r>
              <a:rPr lang="en-US" sz="1200" dirty="0">
                <a:solidFill>
                  <a:srgbClr val="6A8DA0"/>
                </a:solidFill>
                <a:latin typeface="Calibri" pitchFamily="34" charset="0"/>
                <a:ea typeface="Calibri" pitchFamily="34" charset="-122"/>
                <a:cs typeface="Calibri" pitchFamily="34" charset="-120"/>
              </a:rPr>
              <a:t>MCP, Tabular Editor, and manual development each have a home — the skill is knowing when to switch</a:t>
            </a:r>
            <a:endParaRPr lang="en-US" sz="1200" dirty="0"/>
          </a:p>
        </p:txBody>
      </p:sp>
      <p:sp>
        <p:nvSpPr>
          <p:cNvPr id="5" name="Shape 3"/>
          <p:cNvSpPr/>
          <p:nvPr/>
        </p:nvSpPr>
        <p:spPr>
          <a:xfrm>
            <a:off x="320040" y="1115568"/>
            <a:ext cx="2697480" cy="35661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20040" y="1115568"/>
            <a:ext cx="2697480" cy="566928"/>
          </a:xfrm>
          <a:prstGeom prst="rect">
            <a:avLst/>
          </a:prstGeom>
          <a:solidFill>
            <a:srgbClr val="1C7293"/>
          </a:solidFill>
          <a:ln w="12700">
            <a:solidFill>
              <a:srgbClr val="1C7293"/>
            </a:solidFill>
            <a:prstDash val="solid"/>
          </a:ln>
        </p:spPr>
      </p:sp>
      <p:pic>
        <p:nvPicPr>
          <p:cNvPr id="7" name="Image 0" descr="preencoded.png">    </p:cNvPr>
          <p:cNvPicPr>
            <a:picLocks noChangeAspect="1"/>
          </p:cNvPicPr>
          <p:nvPr/>
        </p:nvPicPr>
        <p:blipFill>
          <a:blip r:embed="rId1"/>
          <a:stretch>
            <a:fillRect/>
          </a:stretch>
        </p:blipFill>
        <p:spPr>
          <a:xfrm>
            <a:off x="429768" y="1170432"/>
            <a:ext cx="411480" cy="411480"/>
          </a:xfrm>
          <a:prstGeom prst="rect">
            <a:avLst/>
          </a:prstGeom>
        </p:spPr>
      </p:pic>
      <p:sp>
        <p:nvSpPr>
          <p:cNvPr id="8" name="Text 5"/>
          <p:cNvSpPr/>
          <p:nvPr/>
        </p:nvSpPr>
        <p:spPr>
          <a:xfrm>
            <a:off x="941832" y="1115568"/>
            <a:ext cx="1965960"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Use MCP When…</a:t>
            </a:r>
            <a:endParaRPr lang="en-US" sz="1200" dirty="0"/>
          </a:p>
        </p:txBody>
      </p:sp>
      <p:sp>
        <p:nvSpPr>
          <p:cNvPr id="9" name="Text 6"/>
          <p:cNvSpPr/>
          <p:nvPr/>
        </p:nvSpPr>
        <p:spPr>
          <a:xfrm>
            <a:off x="502920" y="1755648"/>
            <a:ext cx="2377440" cy="278892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Repetitive task across many objects (add descriptions to 50 measures)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Task benefits from model context (measures that reference existing structure)</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Rapid prototyping of report layouts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Task spans both model and report layers</a:t>
            </a:r>
            <a:endParaRPr lang="en-US" sz="1050" dirty="0"/>
          </a:p>
        </p:txBody>
      </p:sp>
      <p:sp>
        <p:nvSpPr>
          <p:cNvPr id="10" name="Shape 7"/>
          <p:cNvSpPr/>
          <p:nvPr/>
        </p:nvSpPr>
        <p:spPr>
          <a:xfrm>
            <a:off x="3154680" y="1115568"/>
            <a:ext cx="2697480" cy="35661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1" name="Shape 8"/>
          <p:cNvSpPr/>
          <p:nvPr/>
        </p:nvSpPr>
        <p:spPr>
          <a:xfrm>
            <a:off x="3154680" y="1115568"/>
            <a:ext cx="2697480" cy="566928"/>
          </a:xfrm>
          <a:prstGeom prst="rect">
            <a:avLst/>
          </a:prstGeom>
          <a:solidFill>
            <a:srgbClr val="065A82"/>
          </a:solidFill>
          <a:ln w="12700">
            <a:solidFill>
              <a:srgbClr val="065A82"/>
            </a:solidFill>
            <a:prstDash val="solid"/>
          </a:ln>
        </p:spPr>
      </p:sp>
      <p:pic>
        <p:nvPicPr>
          <p:cNvPr id="12" name="Image 1" descr="preencoded.png">    </p:cNvPr>
          <p:cNvPicPr>
            <a:picLocks noChangeAspect="1"/>
          </p:cNvPicPr>
          <p:nvPr/>
        </p:nvPicPr>
        <p:blipFill>
          <a:blip r:embed="rId2"/>
          <a:stretch>
            <a:fillRect/>
          </a:stretch>
        </p:blipFill>
        <p:spPr>
          <a:xfrm>
            <a:off x="3264408" y="1170432"/>
            <a:ext cx="411480" cy="411480"/>
          </a:xfrm>
          <a:prstGeom prst="rect">
            <a:avLst/>
          </a:prstGeom>
        </p:spPr>
      </p:pic>
      <p:sp>
        <p:nvSpPr>
          <p:cNvPr id="13" name="Text 9"/>
          <p:cNvSpPr/>
          <p:nvPr/>
        </p:nvSpPr>
        <p:spPr>
          <a:xfrm>
            <a:off x="3776472" y="1115568"/>
            <a:ext cx="1965960"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Use Tabular Editor When…</a:t>
            </a:r>
            <a:endParaRPr lang="en-US" sz="1200" dirty="0"/>
          </a:p>
        </p:txBody>
      </p:sp>
      <p:sp>
        <p:nvSpPr>
          <p:cNvPr id="14" name="Text 10"/>
          <p:cNvSpPr/>
          <p:nvPr/>
        </p:nvSpPr>
        <p:spPr>
          <a:xfrm>
            <a:off x="3337560" y="1755648"/>
            <a:ext cx="2377440" cy="278892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Batch operations with precise control (BPA rules)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Complex model refactoring (relationship structures, perspectives)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Script repeatability — same C# across multiple models</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Review before saving (TE3 change tracking)</a:t>
            </a:r>
            <a:endParaRPr lang="en-US" sz="1050" dirty="0"/>
          </a:p>
        </p:txBody>
      </p:sp>
      <p:sp>
        <p:nvSpPr>
          <p:cNvPr id="15" name="Shape 11"/>
          <p:cNvSpPr/>
          <p:nvPr/>
        </p:nvSpPr>
        <p:spPr>
          <a:xfrm>
            <a:off x="5989320" y="1115568"/>
            <a:ext cx="2697480" cy="3566160"/>
          </a:xfrm>
          <a:prstGeom prst="rect">
            <a:avLst/>
          </a:prstGeom>
          <a:solidFill>
            <a:srgbClr val="FFFFFF"/>
          </a:solidFill>
          <a:ln w="12700">
            <a:solidFill>
              <a:srgbClr val="C8DFE8"/>
            </a:solidFill>
            <a:prstDash val="solid"/>
          </a:ln>
          <a:effectLst>
            <a:outerShdw sx="100000" sy="100000" kx="0" ky="0" algn="bl" rotWithShape="0" blurRad="76200" dist="38100" dir="8100000">
              <a:srgbClr val="000000">
                <a:alpha val="9000"/>
              </a:srgbClr>
            </a:outerShdw>
          </a:effectLst>
        </p:spPr>
      </p:sp>
      <p:sp>
        <p:nvSpPr>
          <p:cNvPr id="16" name="Shape 12"/>
          <p:cNvSpPr/>
          <p:nvPr/>
        </p:nvSpPr>
        <p:spPr>
          <a:xfrm>
            <a:off x="5989320" y="1115568"/>
            <a:ext cx="2697480" cy="566928"/>
          </a:xfrm>
          <a:prstGeom prst="rect">
            <a:avLst/>
          </a:prstGeom>
          <a:solidFill>
            <a:srgbClr val="028090"/>
          </a:solidFill>
          <a:ln w="12700">
            <a:solidFill>
              <a:srgbClr val="028090"/>
            </a:solidFill>
            <a:prstDash val="solid"/>
          </a:ln>
        </p:spPr>
      </p:sp>
      <p:pic>
        <p:nvPicPr>
          <p:cNvPr id="17" name="Image 2" descr="preencoded.png">    </p:cNvPr>
          <p:cNvPicPr>
            <a:picLocks noChangeAspect="1"/>
          </p:cNvPicPr>
          <p:nvPr/>
        </p:nvPicPr>
        <p:blipFill>
          <a:blip r:embed="rId3"/>
          <a:stretch>
            <a:fillRect/>
          </a:stretch>
        </p:blipFill>
        <p:spPr>
          <a:xfrm>
            <a:off x="6099048" y="1170432"/>
            <a:ext cx="411480" cy="411480"/>
          </a:xfrm>
          <a:prstGeom prst="rect">
            <a:avLst/>
          </a:prstGeom>
        </p:spPr>
      </p:pic>
      <p:sp>
        <p:nvSpPr>
          <p:cNvPr id="18" name="Text 13"/>
          <p:cNvSpPr/>
          <p:nvPr/>
        </p:nvSpPr>
        <p:spPr>
          <a:xfrm>
            <a:off x="6611112" y="1115568"/>
            <a:ext cx="1965960"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Work Manually When…</a:t>
            </a:r>
            <a:endParaRPr lang="en-US" sz="1200" dirty="0"/>
          </a:p>
        </p:txBody>
      </p:sp>
      <p:sp>
        <p:nvSpPr>
          <p:cNvPr id="19" name="Text 14"/>
          <p:cNvSpPr/>
          <p:nvPr/>
        </p:nvSpPr>
        <p:spPr>
          <a:xfrm>
            <a:off x="6172200" y="1755648"/>
            <a:ext cx="2377440" cy="2788920"/>
          </a:xfrm>
          <a:prstGeom prst="rect">
            <a:avLst/>
          </a:prstGeom>
          <a:noFill/>
          <a:ln/>
        </p:spPr>
        <p:txBody>
          <a:bodyPr wrap="square" lIns="0" tIns="0" rIns="0" bIns="0" rtlCol="0" anchor="t"/>
          <a:lstStyle/>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One-off visual adjustment faster to click than describe</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Pixel-perfect layout control is needed</a:t>
            </a:r>
            <a:endParaRPr lang="en-US" sz="1050" dirty="0"/>
          </a:p>
          <a:p>
            <a:pPr algn="l" marL="342900" indent="-342900">
              <a:buSzPct val="100000"/>
              <a:buChar char="•"/>
            </a:pPr>
            <a:r>
              <a:rPr lang="en-US" sz="1050" dirty="0">
                <a:solidFill>
                  <a:srgbClr val="2C4A5E"/>
                </a:solidFill>
                <a:latin typeface="Calibri" pitchFamily="34" charset="0"/>
                <a:ea typeface="Calibri" pitchFamily="34" charset="-122"/>
                <a:cs typeface="Calibri" pitchFamily="34" charset="-120"/>
              </a:rPr>
              <a:t>Exploring design options visually rather than declaratively</a:t>
            </a:r>
            <a:endParaRPr lang="en-US" sz="1050" dirty="0"/>
          </a:p>
        </p:txBody>
      </p:sp>
      <p:sp>
        <p:nvSpPr>
          <p:cNvPr id="20" name="Shape 15"/>
          <p:cNvSpPr/>
          <p:nvPr/>
        </p:nvSpPr>
        <p:spPr>
          <a:xfrm>
            <a:off x="0" y="4818888"/>
            <a:ext cx="9144000" cy="324612"/>
          </a:xfrm>
          <a:prstGeom prst="rect">
            <a:avLst/>
          </a:prstGeom>
          <a:solidFill>
            <a:srgbClr val="065A82"/>
          </a:solidFill>
          <a:ln w="12700">
            <a:solidFill>
              <a:srgbClr val="065A82"/>
            </a:solidFill>
            <a:prstDash val="solid"/>
          </a:ln>
        </p:spPr>
      </p:sp>
      <p:sp>
        <p:nvSpPr>
          <p:cNvPr id="21" name="Text 16"/>
          <p:cNvSpPr/>
          <p:nvPr/>
        </p:nvSpPr>
        <p:spPr>
          <a:xfrm>
            <a:off x="274320" y="4818888"/>
            <a:ext cx="8595360" cy="32461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KEY DISTINCTION   MCP = AI-describable tasks. Manual = visual/spatial tasks. Tabular Editor = governance + batch operations. Use all three.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C39A"/>
          </a:solidFill>
          <a:ln w="12700">
            <a:solidFill>
              <a:srgbClr val="02C39A"/>
            </a:solidFill>
            <a:prstDash val="solid"/>
          </a:ln>
        </p:spPr>
      </p:sp>
      <p:sp>
        <p:nvSpPr>
          <p:cNvPr id="3" name="Shape 1"/>
          <p:cNvSpPr/>
          <p:nvPr/>
        </p:nvSpPr>
        <p:spPr>
          <a:xfrm>
            <a:off x="0" y="0"/>
            <a:ext cx="9144000" cy="73152"/>
          </a:xfrm>
          <a:prstGeom prst="rect">
            <a:avLst/>
          </a:prstGeom>
          <a:solidFill>
            <a:srgbClr val="065A82"/>
          </a:solidFill>
          <a:ln w="12700">
            <a:solidFill>
              <a:srgbClr val="065A82"/>
            </a:solidFill>
            <a:prstDash val="solid"/>
          </a:ln>
        </p:spPr>
      </p:sp>
      <p:sp>
        <p:nvSpPr>
          <p:cNvPr id="4" name="Shape 2"/>
          <p:cNvSpPr/>
          <p:nvPr/>
        </p:nvSpPr>
        <p:spPr>
          <a:xfrm>
            <a:off x="0" y="4892040"/>
            <a:ext cx="9144000" cy="251460"/>
          </a:xfrm>
          <a:prstGeom prst="rect">
            <a:avLst/>
          </a:prstGeom>
          <a:solidFill>
            <a:srgbClr val="065A82"/>
          </a:solidFill>
          <a:ln w="12700">
            <a:solidFill>
              <a:srgbClr val="065A82"/>
            </a:solidFill>
            <a:prstDash val="solid"/>
          </a:ln>
        </p:spPr>
      </p:sp>
      <p:sp>
        <p:nvSpPr>
          <p:cNvPr id="5" name="Text 3"/>
          <p:cNvSpPr/>
          <p:nvPr/>
        </p:nvSpPr>
        <p:spPr>
          <a:xfrm>
            <a:off x="594360" y="640080"/>
            <a:ext cx="7955280" cy="64008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4 Weeks. 4 Shifts in Mindset.</a:t>
            </a:r>
            <a:endParaRPr lang="en-US" sz="3400" dirty="0"/>
          </a:p>
        </p:txBody>
      </p:sp>
      <p:sp>
        <p:nvSpPr>
          <p:cNvPr id="6" name="Shape 4"/>
          <p:cNvSpPr/>
          <p:nvPr/>
        </p:nvSpPr>
        <p:spPr>
          <a:xfrm>
            <a:off x="594360" y="1417320"/>
            <a:ext cx="8046720" cy="658368"/>
          </a:xfrm>
          <a:prstGeom prst="rect">
            <a:avLst/>
          </a:prstGeom>
          <a:solidFill>
            <a:srgbClr val="142030"/>
          </a:solidFill>
          <a:ln w="12700">
            <a:solidFill>
              <a:srgbClr val="1C3A50"/>
            </a:solidFill>
            <a:prstDash val="solid"/>
          </a:ln>
          <a:effectLst>
            <a:outerShdw sx="100000" sy="100000" kx="0" ky="0" algn="bl" rotWithShape="0" blurRad="76200" dist="38100" dir="8100000">
              <a:srgbClr val="000000">
                <a:alpha val="15000"/>
              </a:srgbClr>
            </a:outerShdw>
          </a:effectLst>
        </p:spPr>
      </p:sp>
      <p:sp>
        <p:nvSpPr>
          <p:cNvPr id="7" name="Shape 5"/>
          <p:cNvSpPr/>
          <p:nvPr/>
        </p:nvSpPr>
        <p:spPr>
          <a:xfrm>
            <a:off x="594360" y="1417320"/>
            <a:ext cx="960120" cy="658368"/>
          </a:xfrm>
          <a:prstGeom prst="rect">
            <a:avLst/>
          </a:prstGeom>
          <a:solidFill>
            <a:srgbClr val="02C39A"/>
          </a:solidFill>
          <a:ln w="12700">
            <a:solidFill>
              <a:srgbClr val="02C39A"/>
            </a:solidFill>
            <a:prstDash val="solid"/>
          </a:ln>
        </p:spPr>
      </p:sp>
      <p:sp>
        <p:nvSpPr>
          <p:cNvPr id="8" name="Text 6"/>
          <p:cNvSpPr/>
          <p:nvPr/>
        </p:nvSpPr>
        <p:spPr>
          <a:xfrm>
            <a:off x="594360" y="1417320"/>
            <a:ext cx="960120" cy="658368"/>
          </a:xfrm>
          <a:prstGeom prst="rect">
            <a:avLst/>
          </a:prstGeom>
          <a:noFill/>
          <a:ln/>
        </p:spPr>
        <p:txBody>
          <a:bodyPr wrap="square" lIns="0" tIns="0" rIns="0" bIns="0" rtlCol="0" anchor="ctr"/>
          <a:lstStyle/>
          <a:p>
            <a:pPr algn="ctr" indent="0" marL="0">
              <a:buNone/>
            </a:pPr>
            <a:r>
              <a:rPr lang="en-US" sz="900" b="1" dirty="0">
                <a:solidFill>
                  <a:srgbClr val="0D2137"/>
                </a:solidFill>
                <a:latin typeface="Calibri" pitchFamily="34" charset="0"/>
                <a:ea typeface="Calibri" pitchFamily="34" charset="-122"/>
                <a:cs typeface="Calibri" pitchFamily="34" charset="-120"/>
              </a:rPr>
              <a:t>Week 1</a:t>
            </a:r>
            <a:endParaRPr lang="en-US" sz="900" dirty="0"/>
          </a:p>
        </p:txBody>
      </p:sp>
      <p:sp>
        <p:nvSpPr>
          <p:cNvPr id="9" name="Text 7"/>
          <p:cNvSpPr/>
          <p:nvPr/>
        </p:nvSpPr>
        <p:spPr>
          <a:xfrm>
            <a:off x="1691640" y="1417320"/>
            <a:ext cx="6812280" cy="658368"/>
          </a:xfrm>
          <a:prstGeom prst="rect">
            <a:avLst/>
          </a:prstGeom>
          <a:noFill/>
          <a:ln/>
        </p:spPr>
        <p:txBody>
          <a:bodyPr wrap="square" lIns="0" tIns="0" rIns="0" bIns="0" rtlCol="0" anchor="ctr"/>
          <a:lstStyle/>
          <a:p>
            <a:pPr algn="l" indent="0" marL="0">
              <a:buNone/>
            </a:pPr>
            <a:r>
              <a:rPr lang="en-US" sz="1200" dirty="0">
                <a:solidFill>
                  <a:srgbClr val="C8DFE8"/>
                </a:solidFill>
                <a:latin typeface="Calibri" pitchFamily="34" charset="0"/>
                <a:ea typeface="Calibri" pitchFamily="34" charset="-122"/>
                <a:cs typeface="Calibri" pitchFamily="34" charset="-120"/>
              </a:rPr>
              <a:t>Copilot consumes a good model. MCP helps you build one. They're not competing.</a:t>
            </a:r>
            <a:endParaRPr lang="en-US" sz="1200" dirty="0"/>
          </a:p>
        </p:txBody>
      </p:sp>
      <p:sp>
        <p:nvSpPr>
          <p:cNvPr id="10" name="Shape 8"/>
          <p:cNvSpPr/>
          <p:nvPr/>
        </p:nvSpPr>
        <p:spPr>
          <a:xfrm>
            <a:off x="594360" y="2194560"/>
            <a:ext cx="8046720" cy="658368"/>
          </a:xfrm>
          <a:prstGeom prst="rect">
            <a:avLst/>
          </a:prstGeom>
          <a:solidFill>
            <a:srgbClr val="142030"/>
          </a:solidFill>
          <a:ln w="12700">
            <a:solidFill>
              <a:srgbClr val="1C3A50"/>
            </a:solidFill>
            <a:prstDash val="solid"/>
          </a:ln>
          <a:effectLst>
            <a:outerShdw sx="100000" sy="100000" kx="0" ky="0" algn="bl" rotWithShape="0" blurRad="76200" dist="38100" dir="8100000">
              <a:srgbClr val="000000">
                <a:alpha val="15000"/>
              </a:srgbClr>
            </a:outerShdw>
          </a:effectLst>
        </p:spPr>
      </p:sp>
      <p:sp>
        <p:nvSpPr>
          <p:cNvPr id="11" name="Shape 9"/>
          <p:cNvSpPr/>
          <p:nvPr/>
        </p:nvSpPr>
        <p:spPr>
          <a:xfrm>
            <a:off x="594360" y="2194560"/>
            <a:ext cx="960120" cy="658368"/>
          </a:xfrm>
          <a:prstGeom prst="rect">
            <a:avLst/>
          </a:prstGeom>
          <a:solidFill>
            <a:srgbClr val="02C39A"/>
          </a:solidFill>
          <a:ln w="12700">
            <a:solidFill>
              <a:srgbClr val="02C39A"/>
            </a:solidFill>
            <a:prstDash val="solid"/>
          </a:ln>
        </p:spPr>
      </p:sp>
      <p:sp>
        <p:nvSpPr>
          <p:cNvPr id="12" name="Text 10"/>
          <p:cNvSpPr/>
          <p:nvPr/>
        </p:nvSpPr>
        <p:spPr>
          <a:xfrm>
            <a:off x="594360" y="2194560"/>
            <a:ext cx="960120" cy="658368"/>
          </a:xfrm>
          <a:prstGeom prst="rect">
            <a:avLst/>
          </a:prstGeom>
          <a:noFill/>
          <a:ln/>
        </p:spPr>
        <p:txBody>
          <a:bodyPr wrap="square" lIns="0" tIns="0" rIns="0" bIns="0" rtlCol="0" anchor="ctr"/>
          <a:lstStyle/>
          <a:p>
            <a:pPr algn="ctr" indent="0" marL="0">
              <a:buNone/>
            </a:pPr>
            <a:r>
              <a:rPr lang="en-US" sz="900" b="1" dirty="0">
                <a:solidFill>
                  <a:srgbClr val="0D2137"/>
                </a:solidFill>
                <a:latin typeface="Calibri" pitchFamily="34" charset="0"/>
                <a:ea typeface="Calibri" pitchFamily="34" charset="-122"/>
                <a:cs typeface="Calibri" pitchFamily="34" charset="-120"/>
              </a:rPr>
              <a:t>Week 2</a:t>
            </a:r>
            <a:endParaRPr lang="en-US" sz="900" dirty="0"/>
          </a:p>
        </p:txBody>
      </p:sp>
      <p:sp>
        <p:nvSpPr>
          <p:cNvPr id="13" name="Text 11"/>
          <p:cNvSpPr/>
          <p:nvPr/>
        </p:nvSpPr>
        <p:spPr>
          <a:xfrm>
            <a:off x="1691640" y="2194560"/>
            <a:ext cx="6812280" cy="658368"/>
          </a:xfrm>
          <a:prstGeom prst="rect">
            <a:avLst/>
          </a:prstGeom>
          <a:noFill/>
          <a:ln/>
        </p:spPr>
        <p:txBody>
          <a:bodyPr wrap="square" lIns="0" tIns="0" rIns="0" bIns="0" rtlCol="0" anchor="ctr"/>
          <a:lstStyle/>
          <a:p>
            <a:pPr algn="l" indent="0" marL="0">
              <a:buNone/>
            </a:pPr>
            <a:r>
              <a:rPr lang="en-US" sz="1200" dirty="0">
                <a:solidFill>
                  <a:srgbClr val="C8DFE8"/>
                </a:solidFill>
                <a:latin typeface="Calibri" pitchFamily="34" charset="0"/>
                <a:ea typeface="Calibri" pitchFamily="34" charset="-122"/>
                <a:cs typeface="Calibri" pitchFamily="34" charset="-120"/>
              </a:rPr>
              <a:t>AI readiness is measurable. Descriptions, naming, and properties are the levers.</a:t>
            </a:r>
            <a:endParaRPr lang="en-US" sz="1200" dirty="0"/>
          </a:p>
        </p:txBody>
      </p:sp>
      <p:sp>
        <p:nvSpPr>
          <p:cNvPr id="14" name="Shape 12"/>
          <p:cNvSpPr/>
          <p:nvPr/>
        </p:nvSpPr>
        <p:spPr>
          <a:xfrm>
            <a:off x="594360" y="2971800"/>
            <a:ext cx="8046720" cy="658368"/>
          </a:xfrm>
          <a:prstGeom prst="rect">
            <a:avLst/>
          </a:prstGeom>
          <a:solidFill>
            <a:srgbClr val="142030"/>
          </a:solidFill>
          <a:ln w="12700">
            <a:solidFill>
              <a:srgbClr val="1C3A50"/>
            </a:solidFill>
            <a:prstDash val="solid"/>
          </a:ln>
          <a:effectLst>
            <a:outerShdw sx="100000" sy="100000" kx="0" ky="0" algn="bl" rotWithShape="0" blurRad="76200" dist="38100" dir="8100000">
              <a:srgbClr val="000000">
                <a:alpha val="15000"/>
              </a:srgbClr>
            </a:outerShdw>
          </a:effectLst>
        </p:spPr>
      </p:sp>
      <p:sp>
        <p:nvSpPr>
          <p:cNvPr id="15" name="Shape 13"/>
          <p:cNvSpPr/>
          <p:nvPr/>
        </p:nvSpPr>
        <p:spPr>
          <a:xfrm>
            <a:off x="594360" y="2971800"/>
            <a:ext cx="960120" cy="658368"/>
          </a:xfrm>
          <a:prstGeom prst="rect">
            <a:avLst/>
          </a:prstGeom>
          <a:solidFill>
            <a:srgbClr val="02C39A"/>
          </a:solidFill>
          <a:ln w="12700">
            <a:solidFill>
              <a:srgbClr val="02C39A"/>
            </a:solidFill>
            <a:prstDash val="solid"/>
          </a:ln>
        </p:spPr>
      </p:sp>
      <p:sp>
        <p:nvSpPr>
          <p:cNvPr id="16" name="Text 14"/>
          <p:cNvSpPr/>
          <p:nvPr/>
        </p:nvSpPr>
        <p:spPr>
          <a:xfrm>
            <a:off x="594360" y="2971800"/>
            <a:ext cx="960120" cy="658368"/>
          </a:xfrm>
          <a:prstGeom prst="rect">
            <a:avLst/>
          </a:prstGeom>
          <a:noFill/>
          <a:ln/>
        </p:spPr>
        <p:txBody>
          <a:bodyPr wrap="square" lIns="0" tIns="0" rIns="0" bIns="0" rtlCol="0" anchor="ctr"/>
          <a:lstStyle/>
          <a:p>
            <a:pPr algn="ctr" indent="0" marL="0">
              <a:buNone/>
            </a:pPr>
            <a:r>
              <a:rPr lang="en-US" sz="900" b="1" dirty="0">
                <a:solidFill>
                  <a:srgbClr val="0D2137"/>
                </a:solidFill>
                <a:latin typeface="Calibri" pitchFamily="34" charset="0"/>
                <a:ea typeface="Calibri" pitchFamily="34" charset="-122"/>
                <a:cs typeface="Calibri" pitchFamily="34" charset="-120"/>
              </a:rPr>
              <a:t>Week 3</a:t>
            </a:r>
            <a:endParaRPr lang="en-US" sz="900" dirty="0"/>
          </a:p>
        </p:txBody>
      </p:sp>
      <p:sp>
        <p:nvSpPr>
          <p:cNvPr id="17" name="Text 15"/>
          <p:cNvSpPr/>
          <p:nvPr/>
        </p:nvSpPr>
        <p:spPr>
          <a:xfrm>
            <a:off x="1691640" y="2971800"/>
            <a:ext cx="6812280" cy="658368"/>
          </a:xfrm>
          <a:prstGeom prst="rect">
            <a:avLst/>
          </a:prstGeom>
          <a:noFill/>
          <a:ln/>
        </p:spPr>
        <p:txBody>
          <a:bodyPr wrap="square" lIns="0" tIns="0" rIns="0" bIns="0" rtlCol="0" anchor="ctr"/>
          <a:lstStyle/>
          <a:p>
            <a:pPr algn="l" indent="0" marL="0">
              <a:buNone/>
            </a:pPr>
            <a:r>
              <a:rPr lang="en-US" sz="1200" dirty="0">
                <a:solidFill>
                  <a:srgbClr val="C8DFE8"/>
                </a:solidFill>
                <a:latin typeface="Calibri" pitchFamily="34" charset="0"/>
                <a:ea typeface="Calibri" pitchFamily="34" charset="-122"/>
                <a:cs typeface="Calibri" pitchFamily="34" charset="-120"/>
              </a:rPr>
              <a:t>BI prompting is context. The more schema you provide, the better the output.</a:t>
            </a:r>
            <a:endParaRPr lang="en-US" sz="1200" dirty="0"/>
          </a:p>
        </p:txBody>
      </p:sp>
      <p:sp>
        <p:nvSpPr>
          <p:cNvPr id="18" name="Shape 16"/>
          <p:cNvSpPr/>
          <p:nvPr/>
        </p:nvSpPr>
        <p:spPr>
          <a:xfrm>
            <a:off x="594360" y="3749040"/>
            <a:ext cx="8046720" cy="658368"/>
          </a:xfrm>
          <a:prstGeom prst="rect">
            <a:avLst/>
          </a:prstGeom>
          <a:solidFill>
            <a:srgbClr val="142030"/>
          </a:solidFill>
          <a:ln w="12700">
            <a:solidFill>
              <a:srgbClr val="1C3A50"/>
            </a:solidFill>
            <a:prstDash val="solid"/>
          </a:ln>
          <a:effectLst>
            <a:outerShdw sx="100000" sy="100000" kx="0" ky="0" algn="bl" rotWithShape="0" blurRad="76200" dist="38100" dir="8100000">
              <a:srgbClr val="000000">
                <a:alpha val="15000"/>
              </a:srgbClr>
            </a:outerShdw>
          </a:effectLst>
        </p:spPr>
      </p:sp>
      <p:sp>
        <p:nvSpPr>
          <p:cNvPr id="19" name="Shape 17"/>
          <p:cNvSpPr/>
          <p:nvPr/>
        </p:nvSpPr>
        <p:spPr>
          <a:xfrm>
            <a:off x="594360" y="3749040"/>
            <a:ext cx="960120" cy="658368"/>
          </a:xfrm>
          <a:prstGeom prst="rect">
            <a:avLst/>
          </a:prstGeom>
          <a:solidFill>
            <a:srgbClr val="02C39A"/>
          </a:solidFill>
          <a:ln w="12700">
            <a:solidFill>
              <a:srgbClr val="02C39A"/>
            </a:solidFill>
            <a:prstDash val="solid"/>
          </a:ln>
        </p:spPr>
      </p:sp>
      <p:sp>
        <p:nvSpPr>
          <p:cNvPr id="20" name="Text 18"/>
          <p:cNvSpPr/>
          <p:nvPr/>
        </p:nvSpPr>
        <p:spPr>
          <a:xfrm>
            <a:off x="594360" y="3749040"/>
            <a:ext cx="960120" cy="658368"/>
          </a:xfrm>
          <a:prstGeom prst="rect">
            <a:avLst/>
          </a:prstGeom>
          <a:noFill/>
          <a:ln/>
        </p:spPr>
        <p:txBody>
          <a:bodyPr wrap="square" lIns="0" tIns="0" rIns="0" bIns="0" rtlCol="0" anchor="ctr"/>
          <a:lstStyle/>
          <a:p>
            <a:pPr algn="ctr" indent="0" marL="0">
              <a:buNone/>
            </a:pPr>
            <a:r>
              <a:rPr lang="en-US" sz="900" b="1" dirty="0">
                <a:solidFill>
                  <a:srgbClr val="0D2137"/>
                </a:solidFill>
                <a:latin typeface="Calibri" pitchFamily="34" charset="0"/>
                <a:ea typeface="Calibri" pitchFamily="34" charset="-122"/>
                <a:cs typeface="Calibri" pitchFamily="34" charset="-120"/>
              </a:rPr>
              <a:t>Week 4</a:t>
            </a:r>
            <a:endParaRPr lang="en-US" sz="900" dirty="0"/>
          </a:p>
        </p:txBody>
      </p:sp>
      <p:sp>
        <p:nvSpPr>
          <p:cNvPr id="21" name="Text 19"/>
          <p:cNvSpPr/>
          <p:nvPr/>
        </p:nvSpPr>
        <p:spPr>
          <a:xfrm>
            <a:off x="1691640" y="3749040"/>
            <a:ext cx="6812280" cy="658368"/>
          </a:xfrm>
          <a:prstGeom prst="rect">
            <a:avLst/>
          </a:prstGeom>
          <a:noFill/>
          <a:ln/>
        </p:spPr>
        <p:txBody>
          <a:bodyPr wrap="square" lIns="0" tIns="0" rIns="0" bIns="0" rtlCol="0" anchor="ctr"/>
          <a:lstStyle/>
          <a:p>
            <a:pPr algn="l" indent="0" marL="0">
              <a:buNone/>
            </a:pPr>
            <a:r>
              <a:rPr lang="en-US" sz="1200" dirty="0">
                <a:solidFill>
                  <a:srgbClr val="C8DFE8"/>
                </a:solidFill>
                <a:latin typeface="Calibri" pitchFamily="34" charset="0"/>
                <a:ea typeface="Calibri" pitchFamily="34" charset="-122"/>
                <a:cs typeface="Calibri" pitchFamily="34" charset="-120"/>
              </a:rPr>
              <a:t>MCP closes the loop — AI operates directly on model and report. Review discipline matters more, not less.</a:t>
            </a:r>
            <a:endParaRPr lang="en-US" sz="1200" dirty="0"/>
          </a:p>
        </p:txBody>
      </p:sp>
      <p:sp>
        <p:nvSpPr>
          <p:cNvPr id="22" name="Text 20"/>
          <p:cNvSpPr/>
          <p:nvPr/>
        </p:nvSpPr>
        <p:spPr>
          <a:xfrm>
            <a:off x="594360" y="4892040"/>
            <a:ext cx="8229600" cy="251460"/>
          </a:xfrm>
          <a:prstGeom prst="rect">
            <a:avLst/>
          </a:prstGeom>
          <a:noFill/>
          <a:ln/>
        </p:spPr>
        <p:txBody>
          <a:bodyPr wrap="square" lIns="0" tIns="0" rIns="0" bIns="0" rtlCol="0" anchor="ctr"/>
          <a:lstStyle/>
          <a:p>
            <a:pPr algn="l" indent="0" marL="0">
              <a:buNone/>
            </a:pPr>
            <a:r>
              <a:rPr lang="en-US" sz="900" dirty="0">
                <a:solidFill>
                  <a:srgbClr val="6A8DA0"/>
                </a:solidFill>
                <a:latin typeface="Calibri" pitchFamily="34" charset="0"/>
                <a:ea typeface="Calibri" pitchFamily="34" charset="-122"/>
                <a:cs typeface="Calibri" pitchFamily="34" charset="-120"/>
              </a:rPr>
              <a:t>Power BI AI Workflow — 4-Week Training Programme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AI Workflow — 4-Week Training Programme</dc:title>
  <dc:subject>PptxGenJS Presentation</dc:subject>
  <dc:creator>PptxGenJS</dc:creator>
  <cp:lastModifiedBy>PptxGenJS</cp:lastModifiedBy>
  <cp:revision>1</cp:revision>
  <dcterms:created xsi:type="dcterms:W3CDTF">2026-04-07T06:40:46Z</dcterms:created>
  <dcterms:modified xsi:type="dcterms:W3CDTF">2026-04-07T06:40:46Z</dcterms:modified>
</cp:coreProperties>
</file>